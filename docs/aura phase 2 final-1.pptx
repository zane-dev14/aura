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57" r:id="rId3"/>
    <p:sldId id="259" r:id="rId4"/>
    <p:sldId id="279" r:id="rId5"/>
    <p:sldId id="260" r:id="rId6"/>
    <p:sldId id="261" r:id="rId7"/>
    <p:sldId id="262" r:id="rId8"/>
    <p:sldId id="287" r:id="rId9"/>
    <p:sldId id="264" r:id="rId10"/>
    <p:sldId id="288" r:id="rId11"/>
    <p:sldId id="265" r:id="rId12"/>
    <p:sldId id="266" r:id="rId13"/>
    <p:sldId id="280" r:id="rId14"/>
    <p:sldId id="267" r:id="rId15"/>
    <p:sldId id="281" r:id="rId16"/>
    <p:sldId id="282" r:id="rId17"/>
    <p:sldId id="283" r:id="rId18"/>
    <p:sldId id="268" r:id="rId19"/>
    <p:sldId id="269" r:id="rId20"/>
    <p:sldId id="270" r:id="rId21"/>
    <p:sldId id="271" r:id="rId22"/>
    <p:sldId id="284" r:id="rId23"/>
    <p:sldId id="272" r:id="rId24"/>
    <p:sldId id="273" r:id="rId25"/>
    <p:sldId id="285" r:id="rId26"/>
    <p:sldId id="274" r:id="rId27"/>
    <p:sldId id="275" r:id="rId28"/>
    <p:sldId id="276" r:id="rId29"/>
    <p:sldId id="277" r:id="rId30"/>
    <p:sldId id="286" r:id="rId31"/>
    <p:sldId id="278" r:id="rId32"/>
  </p:sldIdLst>
  <p:sldSz cx="18288000" cy="10287000"/>
  <p:notesSz cx="6858000" cy="9144000"/>
  <p:embeddedFontLst>
    <p:embeddedFont>
      <p:font typeface="Brygada 1918" panose="020B0604020202020204" charset="0"/>
      <p:regular r:id="rId34"/>
      <p:bold r:id="rId35"/>
      <p:italic r:id="rId36"/>
      <p:boldItalic r:id="rId37"/>
    </p:embeddedFont>
    <p:embeddedFont>
      <p:font typeface="Consolas" panose="020B0609020204030204" pitchFamily="49" charset="0"/>
      <p:regular r:id="rId38"/>
      <p:bold r:id="rId39"/>
      <p:italic r:id="rId40"/>
      <p:boldItalic r:id="rId41"/>
    </p:embeddedFont>
    <p:embeddedFont>
      <p:font typeface="Montserrat" panose="00000500000000000000" pitchFamily="2" charset="0"/>
      <p:regular r:id="rId42"/>
      <p:bold r:id="rId43"/>
      <p:italic r:id="rId44"/>
      <p:boldItalic r:id="rId45"/>
    </p:embeddedFont>
    <p:embeddedFont>
      <p:font typeface="Times New Roman Bold" panose="02020803070505020304" pitchFamily="18" charset="0"/>
      <p:regular r:id="rId46"/>
      <p:bold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2810" autoAdjust="0"/>
  </p:normalViewPr>
  <p:slideViewPr>
    <p:cSldViewPr>
      <p:cViewPr varScale="1">
        <p:scale>
          <a:sx n="51" d="100"/>
          <a:sy n="51" d="100"/>
        </p:scale>
        <p:origin x="92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48490-E233-7E99-3EBA-556D98FD4E1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32E611-2791-3565-B55F-47B0632CD42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739DEE1-F5B0-2BF6-9EA0-109781F2BA4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918C512-5A9F-EB5F-9FC1-DB8ABAD2EAA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94CAA11-A378-E56C-C0AC-67C18FDA611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A86111A-EC66-574F-2C53-F9E68D07A07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232770C-4D2F-AF1B-36D5-732C34BE64E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92690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52E52-9A2D-8962-0711-C441E70D608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52126B-2066-3776-0A6F-AFC96F9D7E4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5D4AD69-1AD1-F6F9-9E90-265ED9DA148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8B26B81-0608-447F-F87D-09CAE8B1EE7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37C92EE-4624-9DB2-DEDC-99EEB48B1BD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A76A945-E54A-F8CC-816B-209F39AE7B4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6B54E30-1BDE-61DB-D1AA-0107A8C3373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83308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3F32F-FE5F-0241-0E9C-694F5183233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F15F8C-9D7F-9C4C-8328-6A243178AB5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01100B5-E88E-0343-DDC3-CDDE99431D2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8395242-E935-94F9-219D-1A2BE9D6302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4CF5380-4C71-5364-BF87-E13B78E153E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a:extLst>
              <a:ext uri="{FF2B5EF4-FFF2-40B4-BE49-F238E27FC236}">
                <a16:creationId xmlns:a16="http://schemas.microsoft.com/office/drawing/2014/main" id="{656AC7D3-BBCE-EEA2-A482-14DCD793874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7A698FB-1CE8-4B23-5845-72340CEA637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08310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5D63-00E9-95A5-FC9D-5709885354E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F3BFDA-6A18-8D8C-CE31-F270477D975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5432290-88E3-0265-76C2-059F4CA1DE4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6F89AAE-4FD4-5DAF-E325-1A054C52CA4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1DAC334-5370-312E-BCBF-F1E8085E47A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DF94B9D-0F7A-DAED-CDFA-D416527CA44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1CEA5D0-A7C4-E343-B737-7F208CB5512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58090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D8FB-7BBD-6B06-109E-61B234EAB9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184A1F-CB9E-4A1A-D022-18D12A21311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9B04EAA-9399-AA99-5A85-556E4EBE431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CAD8CDA-1CA4-62E6-E9F9-1E0A1897BF5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C1AC252-20E4-CFC4-75C4-D9F1C9791CD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EABD05E-7348-EE64-8817-D1382D7462C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3FA9B98-1610-0403-9D13-E5F2883A88F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9703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6F58-2146-8830-46DE-8C80C3C5A04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CA18BA-2AED-AB1B-785F-958D664CBA2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5AD2774-D307-3E07-6665-41B89950793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E6DBD4A-DBD4-4E6A-E96F-FF0FE2EC12D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8E0EBA9-A5FB-8EB0-A7F2-10689AADE6B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A70FF7B4-356B-4B05-4AA8-4096BA1AB8D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786524A-C53C-63EB-9F9F-6112959B206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17621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C9D91-4DE3-7456-F2CF-7468724EB7B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85EF4F-F942-1A07-5A51-4617A3C145F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86070BF-86EA-6B07-02E0-0C309832C2B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98D3518-0C51-5E7F-C24F-E4807EAFC65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0227F40-F286-677A-C6DD-F8B90A64FAD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7C94814A-7169-751A-7F35-AD8FE15EEB7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5351FE5-19A1-8B85-2730-AAB027C9FF9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788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71A32-7F2D-8A7B-9098-C0767B8A121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9AAAA7-C42E-14A9-5093-DDD8356AECC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B9D4FBB-F906-AD40-6B7C-5A22671F03F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6188033-FCD4-2C40-5225-7CC5E46DF31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880D5D0-5995-9942-4027-69172ADA479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8B430E7F-2EF6-2C75-3DBE-49370ED8930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B90189F-A3D5-1C29-BCA7-A0B7588FB1E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773571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F0CD-CFD1-AB30-9D03-011CF2BC0CC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EF80005-C4FD-6250-A982-A33274958F4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59DA3FB-4478-6F3E-1158-129866EEE20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320D9A8-BEF4-D017-A420-1FA9C97A89D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840F72C-3BA2-455A-1675-ED6A788EAE1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64A9AA81-0210-5024-63D6-C6236696B0C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C223090-8FD2-1F2D-796E-B1CB13D742E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04849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PROJECT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PROJECT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PROJECT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PROJECT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PROJECT TITLE                                                                                                                                                                            </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a:xfrm>
            <a:off x="315036" y="9829799"/>
            <a:ext cx="2895600" cy="365125"/>
          </a:xfrm>
        </p:spPr>
        <p:txBody>
          <a:bodyPr/>
          <a:lstStyle/>
          <a:p>
            <a:r>
              <a:rPr lang="en-US"/>
              <a:t>PROJECT TITLE                                                                                                                                                                            </a:t>
            </a:r>
            <a:endParaRPr lang="en-US" dirty="0"/>
          </a:p>
        </p:txBody>
      </p:sp>
      <p:sp>
        <p:nvSpPr>
          <p:cNvPr id="5" name="Slide Number Placeholder 4"/>
          <p:cNvSpPr>
            <a:spLocks noGrp="1"/>
          </p:cNvSpPr>
          <p:nvPr>
            <p:ph type="sldNum" sz="quarter" idx="12"/>
          </p:nvPr>
        </p:nvSpPr>
        <p:spPr>
          <a:xfrm>
            <a:off x="15849600" y="9791700"/>
            <a:ext cx="2133600" cy="365125"/>
          </a:xfrm>
        </p:spPr>
        <p:txBody>
          <a:bodyPr/>
          <a:lstStyle>
            <a:lvl1pPr>
              <a:defRPr/>
            </a:lvl1pPr>
          </a:lstStyle>
          <a:p>
            <a:r>
              <a:rPr lang="en-US" dirty="0"/>
              <a:t>1</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838200" y="9715499"/>
            <a:ext cx="2895600" cy="365125"/>
          </a:xfrm>
        </p:spPr>
        <p:txBody>
          <a:bodyPr/>
          <a:lstStyle>
            <a:lvl1pPr>
              <a:defRPr sz="2400">
                <a:solidFill>
                  <a:schemeClr val="tx1"/>
                </a:solidFill>
              </a:defRPr>
            </a:lvl1pPr>
          </a:lstStyle>
          <a:p>
            <a:r>
              <a:rPr lang="en-US"/>
              <a:t>PROJECT TITLE                                                                                                                                                                            </a:t>
            </a:r>
            <a:endParaRPr lang="en-US" dirty="0"/>
          </a:p>
        </p:txBody>
      </p:sp>
      <p:sp>
        <p:nvSpPr>
          <p:cNvPr id="4" name="Slide Number Placeholder 3"/>
          <p:cNvSpPr>
            <a:spLocks noGrp="1"/>
          </p:cNvSpPr>
          <p:nvPr>
            <p:ph type="sldNum" sz="quarter" idx="12"/>
          </p:nvPr>
        </p:nvSpPr>
        <p:spPr>
          <a:xfrm>
            <a:off x="15544800" y="9715500"/>
            <a:ext cx="2133600" cy="365125"/>
          </a:xfrm>
        </p:spPr>
        <p:txBody>
          <a:bodyPr/>
          <a:lstStyle>
            <a:lvl1pPr>
              <a:defRPr sz="2400">
                <a:solidFill>
                  <a:schemeClr val="tx1"/>
                </a:solidFill>
              </a:defRPr>
            </a:lvl1pPr>
          </a:lstStyle>
          <a:p>
            <a:fld id="{B6F15528-21DE-4FAA-801E-634DDDAF4B2B}" type="slidenum">
              <a:rPr lang="en-US" smtClean="0"/>
              <a:pPr/>
              <a:t>‹#›</a:t>
            </a:fld>
            <a:endParaRPr lang="en-US" sz="2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PROJECT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PROJECT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PROJECT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PROJECT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2 master">
  <p:cSld name="Slide 12 master">
    <p:spTree>
      <p:nvGrpSpPr>
        <p:cNvPr id="1" name="Shape 54"/>
        <p:cNvGrpSpPr/>
        <p:nvPr/>
      </p:nvGrpSpPr>
      <p:grpSpPr>
        <a:xfrm>
          <a:off x="0" y="0"/>
          <a:ext cx="0" cy="0"/>
          <a:chOff x="0" y="0"/>
          <a:chExt cx="0" cy="0"/>
        </a:xfrm>
      </p:grpSpPr>
      <p:sp>
        <p:nvSpPr>
          <p:cNvPr id="55" name="Google Shape;55;p13"/>
          <p:cNvSpPr/>
          <p:nvPr/>
        </p:nvSpPr>
        <p:spPr>
          <a:xfrm>
            <a:off x="0" y="0"/>
            <a:ext cx="18288000" cy="10287000"/>
          </a:xfrm>
          <a:prstGeom prst="rect">
            <a:avLst/>
          </a:prstGeom>
          <a:solidFill>
            <a:srgbClr val="421424"/>
          </a:solidFill>
          <a:ln>
            <a:noFill/>
          </a:ln>
        </p:spPr>
        <p:txBody>
          <a:bodyPr spcFirstLastPara="1" wrap="square" lIns="114281" tIns="114281" rIns="114281" bIns="114281" anchor="ctr" anchorCtr="0">
            <a:noAutofit/>
          </a:bodyPr>
          <a:lstStyle/>
          <a:p>
            <a:pPr marL="0" lvl="0" indent="0" algn="l" rtl="0">
              <a:spcBef>
                <a:spcPts val="0"/>
              </a:spcBef>
              <a:spcAft>
                <a:spcPts val="0"/>
              </a:spcAft>
              <a:buNone/>
            </a:pPr>
            <a:endParaRPr sz="2250"/>
          </a:p>
        </p:txBody>
      </p:sp>
      <p:sp>
        <p:nvSpPr>
          <p:cNvPr id="56" name="Google Shape;56;p13"/>
          <p:cNvSpPr/>
          <p:nvPr/>
        </p:nvSpPr>
        <p:spPr>
          <a:xfrm>
            <a:off x="0" y="0"/>
            <a:ext cx="18288000" cy="10287000"/>
          </a:xfrm>
          <a:prstGeom prst="rect">
            <a:avLst/>
          </a:prstGeom>
          <a:solidFill>
            <a:srgbClr val="5C2438"/>
          </a:solidFill>
          <a:ln>
            <a:noFill/>
          </a:ln>
        </p:spPr>
        <p:txBody>
          <a:bodyPr spcFirstLastPara="1" wrap="square" lIns="114281" tIns="114281" rIns="114281" bIns="114281" anchor="ctr" anchorCtr="0">
            <a:noAutofit/>
          </a:bodyPr>
          <a:lstStyle/>
          <a:p>
            <a:pPr marL="0" lvl="0" indent="0" algn="l" rtl="0">
              <a:spcBef>
                <a:spcPts val="0"/>
              </a:spcBef>
              <a:spcAft>
                <a:spcPts val="0"/>
              </a:spcAft>
              <a:buNone/>
            </a:pPr>
            <a:endParaRPr sz="2250"/>
          </a:p>
        </p:txBody>
      </p:sp>
      <p:pic>
        <p:nvPicPr>
          <p:cNvPr id="57" name="Google Shape;57;p13" descr="preencoded.png">
            <a:hlinkClick r:id="rId2"/>
          </p:cNvPr>
          <p:cNvPicPr preferRelativeResize="0"/>
          <p:nvPr/>
        </p:nvPicPr>
        <p:blipFill rotWithShape="1">
          <a:blip r:embed="rId3">
            <a:alphaModFix/>
          </a:blip>
          <a:srcRect/>
          <a:stretch/>
        </p:blipFill>
        <p:spPr>
          <a:xfrm>
            <a:off x="16049020" y="9686925"/>
            <a:ext cx="2153256" cy="514350"/>
          </a:xfrm>
          <a:prstGeom prst="rect">
            <a:avLst/>
          </a:prstGeom>
          <a:noFill/>
          <a:ln>
            <a:noFill/>
          </a:ln>
        </p:spPr>
      </p:pic>
    </p:spTree>
    <p:extLst>
      <p:ext uri="{BB962C8B-B14F-4D97-AF65-F5344CB8AC3E}">
        <p14:creationId xmlns:p14="http://schemas.microsoft.com/office/powerpoint/2010/main" val="554396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PROJECT TITLE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6500239" y="316990"/>
            <a:ext cx="5287217" cy="2331983"/>
            <a:chOff x="0" y="0"/>
            <a:chExt cx="19098893" cy="8423767"/>
          </a:xfrm>
        </p:grpSpPr>
        <p:sp>
          <p:nvSpPr>
            <p:cNvPr id="5" name="Freeform 5" descr="Screenshot 2025-12-08 083519.png"/>
            <p:cNvSpPr/>
            <p:nvPr/>
          </p:nvSpPr>
          <p:spPr>
            <a:xfrm rot="-24000">
              <a:off x="-29171" y="-66564"/>
              <a:ext cx="19157171" cy="8556711"/>
            </a:xfrm>
            <a:custGeom>
              <a:avLst/>
              <a:gdLst/>
              <a:ahLst/>
              <a:cxnLst/>
              <a:rect l="l" t="t" r="r" b="b"/>
              <a:pathLst>
                <a:path w="19157171" h="8556711">
                  <a:moveTo>
                    <a:pt x="58807" y="0"/>
                  </a:moveTo>
                  <a:lnTo>
                    <a:pt x="19157171" y="133334"/>
                  </a:lnTo>
                  <a:lnTo>
                    <a:pt x="19098364" y="8556711"/>
                  </a:lnTo>
                  <a:lnTo>
                    <a:pt x="0" y="8423377"/>
                  </a:lnTo>
                  <a:lnTo>
                    <a:pt x="58807" y="0"/>
                  </a:lnTo>
                  <a:close/>
                </a:path>
              </a:pathLst>
            </a:custGeom>
            <a:blipFill>
              <a:blip r:embed="rId3"/>
              <a:stretch>
                <a:fillRect l="-1820" t="-1010" r="-1234"/>
              </a:stretch>
            </a:blipFill>
          </p:spPr>
        </p:sp>
      </p:grpSp>
      <p:sp>
        <p:nvSpPr>
          <p:cNvPr id="6" name="TextBox 6"/>
          <p:cNvSpPr txBox="1"/>
          <p:nvPr/>
        </p:nvSpPr>
        <p:spPr>
          <a:xfrm>
            <a:off x="9982200" y="6112158"/>
            <a:ext cx="8172222" cy="3308598"/>
          </a:xfrm>
          <a:prstGeom prst="rect">
            <a:avLst/>
          </a:prstGeom>
        </p:spPr>
        <p:txBody>
          <a:bodyPr wrap="square" lIns="0" tIns="0" rIns="0" bIns="0" rtlCol="0" anchor="t">
            <a:spAutoFit/>
          </a:bodyPr>
          <a:lstStyle/>
          <a:p>
            <a:pPr>
              <a:lnSpc>
                <a:spcPts val="4320"/>
              </a:lnSpc>
            </a:pPr>
            <a:r>
              <a:rPr lang="en-US" sz="3600" b="1" dirty="0">
                <a:solidFill>
                  <a:srgbClr val="222222"/>
                </a:solidFill>
                <a:latin typeface="Times New Roman Bold"/>
                <a:ea typeface="Times New Roman Bold"/>
                <a:cs typeface="Times New Roman Bold"/>
                <a:sym typeface="Times New Roman Bold"/>
              </a:rPr>
              <a:t>Team Members:</a:t>
            </a:r>
          </a:p>
          <a:p>
            <a:pPr algn="ctr">
              <a:lnSpc>
                <a:spcPts val="4320"/>
              </a:lnSpc>
            </a:pPr>
            <a:r>
              <a:rPr lang="en-US" sz="3600" b="1" dirty="0">
                <a:solidFill>
                  <a:srgbClr val="222222"/>
                </a:solidFill>
                <a:latin typeface="Times New Roman Bold"/>
                <a:ea typeface="Times New Roman Bold"/>
                <a:cs typeface="Times New Roman Bold"/>
                <a:sym typeface="Times New Roman Bold"/>
              </a:rPr>
              <a:t>    	Vaishnav S Nair MUT22CS146</a:t>
            </a:r>
          </a:p>
          <a:p>
            <a:pPr algn="ctr">
              <a:lnSpc>
                <a:spcPts val="4320"/>
              </a:lnSpc>
            </a:pPr>
            <a:r>
              <a:rPr lang="en-US" sz="3600" b="1" dirty="0">
                <a:solidFill>
                  <a:srgbClr val="222222"/>
                </a:solidFill>
                <a:latin typeface="Times New Roman Bold"/>
                <a:ea typeface="Times New Roman Bold"/>
                <a:cs typeface="Times New Roman Bold"/>
                <a:sym typeface="Times New Roman Bold"/>
              </a:rPr>
              <a:t>	  Eric Thomas MUT22CS056 	</a:t>
            </a:r>
          </a:p>
          <a:p>
            <a:pPr algn="ctr">
              <a:lnSpc>
                <a:spcPts val="4320"/>
              </a:lnSpc>
            </a:pPr>
            <a:r>
              <a:rPr lang="en-US" sz="3600" b="1" dirty="0">
                <a:solidFill>
                  <a:srgbClr val="222222"/>
                </a:solidFill>
                <a:latin typeface="Times New Roman Bold"/>
                <a:ea typeface="Times New Roman Bold"/>
                <a:cs typeface="Times New Roman Bold"/>
                <a:sym typeface="Times New Roman Bold"/>
              </a:rPr>
              <a:t>	  Pranav R Mallia MUT22CS116</a:t>
            </a:r>
          </a:p>
          <a:p>
            <a:pPr algn="ctr">
              <a:lnSpc>
                <a:spcPts val="4320"/>
              </a:lnSpc>
            </a:pPr>
            <a:r>
              <a:rPr lang="en-US" sz="3600" b="1" dirty="0">
                <a:solidFill>
                  <a:srgbClr val="222222"/>
                </a:solidFill>
                <a:latin typeface="Times New Roman Bold"/>
                <a:ea typeface="Times New Roman Bold"/>
                <a:cs typeface="Times New Roman Bold"/>
                <a:sym typeface="Times New Roman Bold"/>
              </a:rPr>
              <a:t>	      Navaneet Krishna MUT22CS104 	</a:t>
            </a:r>
          </a:p>
        </p:txBody>
      </p:sp>
      <p:grpSp>
        <p:nvGrpSpPr>
          <p:cNvPr id="7" name="Group 7"/>
          <p:cNvGrpSpPr/>
          <p:nvPr/>
        </p:nvGrpSpPr>
        <p:grpSpPr>
          <a:xfrm>
            <a:off x="0" y="3234531"/>
            <a:ext cx="22889608" cy="1983216"/>
            <a:chOff x="0" y="-38100"/>
            <a:chExt cx="30519477" cy="2644288"/>
          </a:xfrm>
        </p:grpSpPr>
        <p:sp>
          <p:nvSpPr>
            <p:cNvPr id="8" name="Freeform 8"/>
            <p:cNvSpPr/>
            <p:nvPr/>
          </p:nvSpPr>
          <p:spPr>
            <a:xfrm>
              <a:off x="6135477" y="281793"/>
              <a:ext cx="24384000" cy="2324395"/>
            </a:xfrm>
            <a:custGeom>
              <a:avLst/>
              <a:gdLst/>
              <a:ahLst/>
              <a:cxnLst/>
              <a:rect l="l" t="t" r="r" b="b"/>
              <a:pathLst>
                <a:path w="24384000" h="2324395">
                  <a:moveTo>
                    <a:pt x="0" y="0"/>
                  </a:moveTo>
                  <a:lnTo>
                    <a:pt x="24384000" y="0"/>
                  </a:lnTo>
                  <a:lnTo>
                    <a:pt x="24384000" y="2324395"/>
                  </a:lnTo>
                  <a:lnTo>
                    <a:pt x="0" y="2324395"/>
                  </a:lnTo>
                  <a:close/>
                </a:path>
              </a:pathLst>
            </a:custGeom>
            <a:blipFill>
              <a:blip r:embed="rId4">
                <a:alphaModFix amt="0"/>
              </a:blip>
              <a:stretch>
                <a:fillRect t="-154407" b="-154407"/>
              </a:stretch>
            </a:blipFill>
          </p:spPr>
        </p:sp>
        <p:sp>
          <p:nvSpPr>
            <p:cNvPr id="9" name="TextBox 9"/>
            <p:cNvSpPr txBox="1"/>
            <p:nvPr/>
          </p:nvSpPr>
          <p:spPr>
            <a:xfrm>
              <a:off x="0" y="-38100"/>
              <a:ext cx="24384000" cy="2362500"/>
            </a:xfrm>
            <a:prstGeom prst="rect">
              <a:avLst/>
            </a:prstGeom>
          </p:spPr>
          <p:txBody>
            <a:bodyPr lIns="0" tIns="0" rIns="0" bIns="0" rtlCol="0" anchor="ctr"/>
            <a:lstStyle/>
            <a:p>
              <a:pPr algn="ctr">
                <a:lnSpc>
                  <a:spcPts val="7200"/>
                </a:lnSpc>
              </a:pPr>
              <a:r>
                <a:rPr lang="en-US" sz="6000" b="1" u="sng" dirty="0">
                  <a:latin typeface="Brygada 1918"/>
                  <a:ea typeface="Brygada 1918"/>
                  <a:cs typeface="Brygada 1918"/>
                  <a:sym typeface="Brygada 1918"/>
                </a:rPr>
                <a:t>Autonomous Upscaling Reinforcement Agents</a:t>
              </a:r>
              <a:endParaRPr lang="en-US" sz="6000" b="1" u="sng" dirty="0">
                <a:latin typeface="Times New Roman Bold"/>
                <a:ea typeface="Times New Roman Bold"/>
                <a:cs typeface="Times New Roman Bold"/>
                <a:sym typeface="Times New Roman Bold"/>
              </a:endParaRPr>
            </a:p>
          </p:txBody>
        </p:sp>
      </p:grpSp>
      <p:sp>
        <p:nvSpPr>
          <p:cNvPr id="10" name="TextBox 10"/>
          <p:cNvSpPr txBox="1"/>
          <p:nvPr/>
        </p:nvSpPr>
        <p:spPr>
          <a:xfrm>
            <a:off x="1560243" y="2788702"/>
            <a:ext cx="15167210" cy="466725"/>
          </a:xfrm>
          <a:prstGeom prst="rect">
            <a:avLst/>
          </a:prstGeom>
        </p:spPr>
        <p:txBody>
          <a:bodyPr lIns="0" tIns="0" rIns="0" bIns="0" rtlCol="0" anchor="t">
            <a:spAutoFit/>
          </a:bodyPr>
          <a:lstStyle/>
          <a:p>
            <a:pPr algn="ctr">
              <a:lnSpc>
                <a:spcPts val="3528"/>
              </a:lnSpc>
              <a:spcBef>
                <a:spcPct val="0"/>
              </a:spcBef>
            </a:pPr>
            <a:r>
              <a:rPr lang="en-US" sz="2940" b="1">
                <a:solidFill>
                  <a:srgbClr val="222222"/>
                </a:solidFill>
                <a:latin typeface="Times New Roman Bold"/>
                <a:ea typeface="Times New Roman Bold"/>
                <a:cs typeface="Times New Roman Bold"/>
                <a:sym typeface="Times New Roman Bold"/>
              </a:rPr>
              <a:t>DEPARTMENT OF COMPUTER SCIENCE AND ENGINEERING</a:t>
            </a:r>
          </a:p>
        </p:txBody>
      </p:sp>
      <p:sp>
        <p:nvSpPr>
          <p:cNvPr id="11" name="TextBox 11"/>
          <p:cNvSpPr txBox="1"/>
          <p:nvPr/>
        </p:nvSpPr>
        <p:spPr>
          <a:xfrm>
            <a:off x="1560243" y="5566182"/>
            <a:ext cx="6147997" cy="2200275"/>
          </a:xfrm>
          <a:prstGeom prst="rect">
            <a:avLst/>
          </a:prstGeom>
        </p:spPr>
        <p:txBody>
          <a:bodyPr lIns="0" tIns="0" rIns="0" bIns="0" rtlCol="0" anchor="t">
            <a:spAutoFit/>
          </a:bodyPr>
          <a:lstStyle/>
          <a:p>
            <a:pPr>
              <a:lnSpc>
                <a:spcPts val="4320"/>
              </a:lnSpc>
            </a:pPr>
            <a:r>
              <a:rPr lang="en-US" sz="3600" b="1" dirty="0">
                <a:solidFill>
                  <a:srgbClr val="222222"/>
                </a:solidFill>
                <a:latin typeface="Times New Roman Bold"/>
                <a:ea typeface="Times New Roman Bold"/>
                <a:cs typeface="Times New Roman Bold"/>
                <a:sym typeface="Times New Roman Bold"/>
              </a:rPr>
              <a:t>Guide : Dr. Sheena Kurian K</a:t>
            </a:r>
          </a:p>
          <a:p>
            <a:pPr algn="l">
              <a:lnSpc>
                <a:spcPts val="4320"/>
              </a:lnSpc>
            </a:pPr>
            <a:endParaRPr lang="en-US" sz="3600" b="1" dirty="0">
              <a:solidFill>
                <a:srgbClr val="222222"/>
              </a:solidFill>
              <a:latin typeface="Times New Roman Bold"/>
              <a:ea typeface="Times New Roman Bold"/>
              <a:cs typeface="Times New Roman Bold"/>
              <a:sym typeface="Times New Roman Bold"/>
            </a:endParaRPr>
          </a:p>
          <a:p>
            <a:pPr algn="l">
              <a:lnSpc>
                <a:spcPts val="4320"/>
              </a:lnSpc>
            </a:pPr>
            <a:r>
              <a:rPr lang="en-US" sz="3600" b="1" dirty="0">
                <a:solidFill>
                  <a:srgbClr val="222222"/>
                </a:solidFill>
                <a:latin typeface="Times New Roman Bold"/>
                <a:ea typeface="Times New Roman Bold"/>
                <a:cs typeface="Times New Roman Bold"/>
                <a:sym typeface="Times New Roman Bold"/>
              </a:rPr>
              <a:t>Date : 31/03/2026</a:t>
            </a:r>
          </a:p>
          <a:p>
            <a:pPr algn="l">
              <a:lnSpc>
                <a:spcPts val="4320"/>
              </a:lnSpc>
            </a:pPr>
            <a:endParaRPr lang="en-US" sz="3600" b="1" dirty="0">
              <a:solidFill>
                <a:srgbClr val="222222"/>
              </a:solidFill>
              <a:latin typeface="Times New Roman Bold"/>
              <a:ea typeface="Times New Roman Bold"/>
              <a:cs typeface="Times New Roman Bold"/>
              <a:sym typeface="Times New Roman Bold"/>
            </a:endParaRPr>
          </a:p>
        </p:txBody>
      </p:sp>
      <p:sp>
        <p:nvSpPr>
          <p:cNvPr id="13" name="Slide Number Placeholder 12">
            <a:extLst>
              <a:ext uri="{FF2B5EF4-FFF2-40B4-BE49-F238E27FC236}">
                <a16:creationId xmlns:a16="http://schemas.microsoft.com/office/drawing/2014/main" id="{1D4331A6-8556-ED67-D252-FBE3F82586C9}"/>
              </a:ext>
            </a:extLst>
          </p:cNvPr>
          <p:cNvSpPr>
            <a:spLocks noGrp="1"/>
          </p:cNvSpPr>
          <p:nvPr>
            <p:ph type="sldNum" sz="quarter" idx="12"/>
          </p:nvPr>
        </p:nvSpPr>
        <p:spPr/>
        <p:txBody>
          <a:bodyPr/>
          <a:lstStyle/>
          <a:p>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500501"/>
            <a:ext cx="18044198"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INTRODUCTION</a:t>
            </a:r>
          </a:p>
        </p:txBody>
      </p:sp>
      <p:grpSp>
        <p:nvGrpSpPr>
          <p:cNvPr id="15" name="Group 4">
            <a:extLst>
              <a:ext uri="{FF2B5EF4-FFF2-40B4-BE49-F238E27FC236}">
                <a16:creationId xmlns:a16="http://schemas.microsoft.com/office/drawing/2014/main" id="{F2D73354-24ED-87FE-0E92-7D5746AD4081}"/>
              </a:ext>
            </a:extLst>
          </p:cNvPr>
          <p:cNvGrpSpPr/>
          <p:nvPr/>
        </p:nvGrpSpPr>
        <p:grpSpPr>
          <a:xfrm>
            <a:off x="0" y="9512246"/>
            <a:ext cx="18288000" cy="787203"/>
            <a:chOff x="0" y="0"/>
            <a:chExt cx="24384000" cy="1049604"/>
          </a:xfrm>
        </p:grpSpPr>
        <p:sp>
          <p:nvSpPr>
            <p:cNvPr id="16" name="Freeform 5">
              <a:extLst>
                <a:ext uri="{FF2B5EF4-FFF2-40B4-BE49-F238E27FC236}">
                  <a16:creationId xmlns:a16="http://schemas.microsoft.com/office/drawing/2014/main" id="{F36B707D-B1E0-D336-2C4B-4955B14F32AD}"/>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sp>
        <p:nvSpPr>
          <p:cNvPr id="17" name="Footer Placeholder 12">
            <a:extLst>
              <a:ext uri="{FF2B5EF4-FFF2-40B4-BE49-F238E27FC236}">
                <a16:creationId xmlns:a16="http://schemas.microsoft.com/office/drawing/2014/main" id="{8D53CF10-9AE0-8DEF-214A-2F11A05C1CB4}"/>
              </a:ext>
            </a:extLst>
          </p:cNvPr>
          <p:cNvSpPr txBox="1">
            <a:spLocks/>
          </p:cNvSpPr>
          <p:nvPr/>
        </p:nvSpPr>
        <p:spPr>
          <a:xfrm>
            <a:off x="-704307" y="8907462"/>
            <a:ext cx="8564899" cy="2346324"/>
          </a:xfrm>
          <a:prstGeom prst="rect">
            <a:avLst/>
          </a:prstGeom>
        </p:spPr>
        <p:txBody>
          <a:bodyPr vert="horz" lIns="91440" tIns="45720" rIns="91440" bIns="45720" rtlCol="0" anchor="ctr"/>
          <a:lstStyle>
            <a:defPPr>
              <a:defRPr lang="en-US"/>
            </a:defPPr>
            <a:lvl1pPr marL="0" algn="ctr"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18" name="Slide Number Placeholder 13">
            <a:extLst>
              <a:ext uri="{FF2B5EF4-FFF2-40B4-BE49-F238E27FC236}">
                <a16:creationId xmlns:a16="http://schemas.microsoft.com/office/drawing/2014/main" id="{AF0E6A41-02BF-1143-C566-BAF788EA8A58}"/>
              </a:ext>
            </a:extLst>
          </p:cNvPr>
          <p:cNvSpPr>
            <a:spLocks noGrp="1"/>
          </p:cNvSpPr>
          <p:nvPr>
            <p:ph type="sldNum" sz="quarter" idx="12"/>
          </p:nvPr>
        </p:nvSpPr>
        <p:spPr>
          <a:xfrm>
            <a:off x="15721184" y="9715499"/>
            <a:ext cx="2133600" cy="365125"/>
          </a:xfrm>
        </p:spPr>
        <p:txBody>
          <a:bodyPr/>
          <a:lstStyle/>
          <a:p>
            <a:fld id="{B6F15528-21DE-4FAA-801E-634DDDAF4B2B}" type="slidenum">
              <a:rPr lang="en-US" smtClean="0"/>
              <a:pPr/>
              <a:t>2</a:t>
            </a:fld>
            <a:endParaRPr lang="en-US" dirty="0"/>
          </a:p>
        </p:txBody>
      </p:sp>
      <p:sp>
        <p:nvSpPr>
          <p:cNvPr id="3" name="TextBox 2">
            <a:extLst>
              <a:ext uri="{FF2B5EF4-FFF2-40B4-BE49-F238E27FC236}">
                <a16:creationId xmlns:a16="http://schemas.microsoft.com/office/drawing/2014/main" id="{05C1AE58-F54F-8D21-4834-87F4E2ECA991}"/>
              </a:ext>
            </a:extLst>
          </p:cNvPr>
          <p:cNvSpPr txBox="1"/>
          <p:nvPr/>
        </p:nvSpPr>
        <p:spPr>
          <a:xfrm>
            <a:off x="868680" y="2342733"/>
            <a:ext cx="15621000" cy="2800767"/>
          </a:xfrm>
          <a:prstGeom prst="rect">
            <a:avLst/>
          </a:prstGeom>
          <a:noFill/>
        </p:spPr>
        <p:txBody>
          <a:bodyPr wrap="square">
            <a:spAutoFit/>
          </a:bodyPr>
          <a:lstStyle/>
          <a:p>
            <a:r>
              <a:rPr lang="en-US" sz="4400" dirty="0">
                <a:latin typeface="Montserrat" panose="00000500000000000000" pitchFamily="2" charset="0"/>
              </a:rPr>
              <a:t>This project introduces a cooperative, multi-agent reinforcement learning system designed to over-come the high costs and poor performance associated with uncoordinated microservice autoscaling.</a:t>
            </a:r>
            <a:endParaRPr lang="en-IN" sz="4400" dirty="0">
              <a:latin typeface="Montserrat"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217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464801"/>
            <a:ext cx="17916401"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PROBLEM STATEMENT</a:t>
            </a:r>
          </a:p>
        </p:txBody>
      </p:sp>
      <p:sp>
        <p:nvSpPr>
          <p:cNvPr id="12" name="Slide Number Placeholder 11">
            <a:extLst>
              <a:ext uri="{FF2B5EF4-FFF2-40B4-BE49-F238E27FC236}">
                <a16:creationId xmlns:a16="http://schemas.microsoft.com/office/drawing/2014/main" id="{0F85A928-7674-8DE0-D943-3395DCC39B85}"/>
              </a:ext>
            </a:extLst>
          </p:cNvPr>
          <p:cNvSpPr>
            <a:spLocks noGrp="1"/>
          </p:cNvSpPr>
          <p:nvPr>
            <p:ph type="sldNum" sz="quarter" idx="12"/>
          </p:nvPr>
        </p:nvSpPr>
        <p:spPr/>
        <p:txBody>
          <a:bodyPr/>
          <a:lstStyle/>
          <a:p>
            <a:fld id="{B6F15528-21DE-4FAA-801E-634DDDAF4B2B}" type="slidenum">
              <a:rPr lang="en-US" sz="2400" smtClean="0">
                <a:solidFill>
                  <a:schemeClr val="tx1"/>
                </a:solidFill>
              </a:rPr>
              <a:pPr/>
              <a:t>3</a:t>
            </a:fld>
            <a:endParaRPr lang="en-US" sz="2400" dirty="0">
              <a:solidFill>
                <a:schemeClr val="tx1"/>
              </a:solidFill>
            </a:endParaRPr>
          </a:p>
        </p:txBody>
      </p:sp>
      <p:sp>
        <p:nvSpPr>
          <p:cNvPr id="13" name="Footer Placeholder 12">
            <a:extLst>
              <a:ext uri="{FF2B5EF4-FFF2-40B4-BE49-F238E27FC236}">
                <a16:creationId xmlns:a16="http://schemas.microsoft.com/office/drawing/2014/main" id="{A4E56BE5-E82A-CB7B-F4FE-0B57CD14FC6F}"/>
              </a:ext>
            </a:extLst>
          </p:cNvPr>
          <p:cNvSpPr>
            <a:spLocks noGrp="1"/>
          </p:cNvSpPr>
          <p:nvPr>
            <p:ph type="ftr" sz="quarter" idx="11"/>
          </p:nvPr>
        </p:nvSpPr>
        <p:spPr>
          <a:xfrm>
            <a:off x="-1295400" y="9794874"/>
            <a:ext cx="9601200" cy="571501"/>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sz="2400" dirty="0">
              <a:solidFill>
                <a:schemeClr val="tx1"/>
              </a:solidFill>
            </a:endParaRPr>
          </a:p>
        </p:txBody>
      </p:sp>
      <p:sp>
        <p:nvSpPr>
          <p:cNvPr id="10" name="TextBox 9">
            <a:extLst>
              <a:ext uri="{FF2B5EF4-FFF2-40B4-BE49-F238E27FC236}">
                <a16:creationId xmlns:a16="http://schemas.microsoft.com/office/drawing/2014/main" id="{A762C36C-DF06-2D43-4CFC-5E2B7AF5B21D}"/>
              </a:ext>
            </a:extLst>
          </p:cNvPr>
          <p:cNvSpPr txBox="1"/>
          <p:nvPr/>
        </p:nvSpPr>
        <p:spPr>
          <a:xfrm>
            <a:off x="868680" y="2342733"/>
            <a:ext cx="15621000" cy="2800767"/>
          </a:xfrm>
          <a:prstGeom prst="rect">
            <a:avLst/>
          </a:prstGeom>
          <a:noFill/>
        </p:spPr>
        <p:txBody>
          <a:bodyPr wrap="square">
            <a:spAutoFit/>
          </a:bodyPr>
          <a:lstStyle/>
          <a:p>
            <a:r>
              <a:rPr lang="en-US" sz="4400" b="0" i="0" u="none" strike="noStrike" cap="none" dirty="0">
                <a:latin typeface="Montserrat"/>
                <a:ea typeface="Montserrat"/>
                <a:cs typeface="Montserrat"/>
                <a:sym typeface="Montserrat"/>
              </a:rPr>
              <a:t>“Traditional cloud auto-scalers operate on a per-service basis using simple metrics, leading to inefficient resource utilization, high operational costs, and poor performance under dynamic loads. "</a:t>
            </a:r>
            <a:endParaRPr lang="en-IN"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91F4E-1BA8-7301-3E1E-309FBABD6DA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869D9C9-8CDA-9B3B-F54B-4ADAE44A26DF}"/>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D5691459-7820-6A6E-9F9F-565C099D8A92}"/>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96D7EB53-BA36-B0AD-5A7B-0513428C34E7}"/>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4937CEE8-FFB2-3A22-07A3-527A2F5A7368}"/>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405C6AC0-DD16-8744-8678-2CBF1C6B94B0}"/>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102A0C58-F033-228D-3CD2-5927525F9F25}"/>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a:extLst>
              <a:ext uri="{FF2B5EF4-FFF2-40B4-BE49-F238E27FC236}">
                <a16:creationId xmlns:a16="http://schemas.microsoft.com/office/drawing/2014/main" id="{9C3A5537-3A8C-BD0E-F0D5-13B20A55CF1A}"/>
              </a:ext>
            </a:extLst>
          </p:cNvPr>
          <p:cNvSpPr txBox="1"/>
          <p:nvPr/>
        </p:nvSpPr>
        <p:spPr>
          <a:xfrm>
            <a:off x="121901" y="464801"/>
            <a:ext cx="17916401"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OBJECTIVES</a:t>
            </a:r>
          </a:p>
        </p:txBody>
      </p:sp>
      <p:sp>
        <p:nvSpPr>
          <p:cNvPr id="12" name="Slide Number Placeholder 11">
            <a:extLst>
              <a:ext uri="{FF2B5EF4-FFF2-40B4-BE49-F238E27FC236}">
                <a16:creationId xmlns:a16="http://schemas.microsoft.com/office/drawing/2014/main" id="{7FD5B901-347F-00F8-BF6B-001EC979932C}"/>
              </a:ext>
            </a:extLst>
          </p:cNvPr>
          <p:cNvSpPr>
            <a:spLocks noGrp="1"/>
          </p:cNvSpPr>
          <p:nvPr>
            <p:ph type="sldNum" sz="quarter" idx="12"/>
          </p:nvPr>
        </p:nvSpPr>
        <p:spPr/>
        <p:txBody>
          <a:bodyPr/>
          <a:lstStyle/>
          <a:p>
            <a:fld id="{B6F15528-21DE-4FAA-801E-634DDDAF4B2B}" type="slidenum">
              <a:rPr lang="en-US" sz="2400" smtClean="0">
                <a:solidFill>
                  <a:schemeClr val="tx1"/>
                </a:solidFill>
              </a:rPr>
              <a:pPr/>
              <a:t>4</a:t>
            </a:fld>
            <a:endParaRPr lang="en-US" sz="2400" dirty="0">
              <a:solidFill>
                <a:schemeClr val="tx1"/>
              </a:solidFill>
            </a:endParaRPr>
          </a:p>
        </p:txBody>
      </p:sp>
      <p:sp>
        <p:nvSpPr>
          <p:cNvPr id="13" name="Footer Placeholder 12">
            <a:extLst>
              <a:ext uri="{FF2B5EF4-FFF2-40B4-BE49-F238E27FC236}">
                <a16:creationId xmlns:a16="http://schemas.microsoft.com/office/drawing/2014/main" id="{26C99364-302C-D598-825F-EB1D5EA052A6}"/>
              </a:ext>
            </a:extLst>
          </p:cNvPr>
          <p:cNvSpPr>
            <a:spLocks noGrp="1"/>
          </p:cNvSpPr>
          <p:nvPr>
            <p:ph type="ftr" sz="quarter" idx="11"/>
          </p:nvPr>
        </p:nvSpPr>
        <p:spPr>
          <a:xfrm>
            <a:off x="0" y="10241281"/>
            <a:ext cx="7924800" cy="45719"/>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a:p>
            <a:r>
              <a:rPr lang="en-US" sz="2400" dirty="0">
                <a:solidFill>
                  <a:schemeClr val="tx1"/>
                </a:solidFill>
              </a:rPr>
              <a:t>                                                                                                                                                                            </a:t>
            </a:r>
          </a:p>
        </p:txBody>
      </p:sp>
      <p:sp>
        <p:nvSpPr>
          <p:cNvPr id="9" name="TextBox 8">
            <a:extLst>
              <a:ext uri="{FF2B5EF4-FFF2-40B4-BE49-F238E27FC236}">
                <a16:creationId xmlns:a16="http://schemas.microsoft.com/office/drawing/2014/main" id="{860F8BCA-A188-9051-DD6D-1296E9387A5D}"/>
              </a:ext>
            </a:extLst>
          </p:cNvPr>
          <p:cNvSpPr txBox="1"/>
          <p:nvPr/>
        </p:nvSpPr>
        <p:spPr>
          <a:xfrm>
            <a:off x="205178" y="1636234"/>
            <a:ext cx="17877644" cy="7971413"/>
          </a:xfrm>
          <a:prstGeom prst="rect">
            <a:avLst/>
          </a:prstGeom>
          <a:noFill/>
        </p:spPr>
        <p:txBody>
          <a:bodyPr wrap="square" rtlCol="0">
            <a:spAutoFit/>
          </a:bodyPr>
          <a:lstStyle/>
          <a:p>
            <a:r>
              <a:rPr lang="en-US" sz="3200">
                <a:latin typeface="Montserrat" panose="00000500000000000000" pitchFamily="2" charset="0"/>
              </a:rPr>
              <a:t>The main 4 goals of the Aura System are the following:</a:t>
            </a:r>
          </a:p>
          <a:p>
            <a:endParaRPr lang="en-US" sz="3200">
              <a:latin typeface="Montserrat" panose="00000500000000000000" pitchFamily="2" charset="0"/>
            </a:endParaRPr>
          </a:p>
          <a:p>
            <a:pPr marL="514350" indent="-514350">
              <a:buAutoNum type="arabicPeriod"/>
            </a:pPr>
            <a:r>
              <a:rPr lang="en-US" sz="3200">
                <a:latin typeface="Montserrat" panose="00000500000000000000" pitchFamily="2" charset="0"/>
              </a:rPr>
              <a:t>Design and engineer a distributed autoscaling architecture with a focus on Multi-Agent Reinforcement Learning (MARL) in which individual microservices are managed by different intelligent agents.</a:t>
            </a:r>
          </a:p>
          <a:p>
            <a:pPr marL="514350" indent="-514350">
              <a:buAutoNum type="arabicPeriod"/>
            </a:pPr>
            <a:endParaRPr lang="en-US" sz="3200">
              <a:latin typeface="Montserrat" panose="00000500000000000000" pitchFamily="2" charset="0"/>
            </a:endParaRPr>
          </a:p>
          <a:p>
            <a:pPr marL="514350" indent="-514350">
              <a:buAutoNum type="arabicPeriod"/>
            </a:pPr>
            <a:r>
              <a:rPr lang="en-US" sz="3200">
                <a:latin typeface="Montserrat" panose="00000500000000000000" pitchFamily="2" charset="0"/>
              </a:rPr>
              <a:t> Design a synergically reward structure that brings together three critical aspects:- operational cost optimization, service quality metrics (including response time and processing capacity),and infrastructure stability.</a:t>
            </a:r>
          </a:p>
          <a:p>
            <a:pPr marL="514350" indent="-514350">
              <a:buAutoNum type="arabicPeriod"/>
            </a:pPr>
            <a:endParaRPr lang="en-US" sz="3200">
              <a:latin typeface="Montserrat" panose="00000500000000000000" pitchFamily="2" charset="0"/>
            </a:endParaRPr>
          </a:p>
          <a:p>
            <a:pPr marL="514350" indent="-514350">
              <a:buAutoNum type="arabicPeriod"/>
            </a:pPr>
            <a:r>
              <a:rPr lang="en-US" sz="3200">
                <a:latin typeface="Montserrat" panose="00000500000000000000" pitchFamily="2" charset="0"/>
              </a:rPr>
              <a:t>Improve agent accuracy and robustness through training with high-fidelity Kubernetes simulation platform before deployment, adhering to the Centralized Training with Decentralized Execution (CTDE) framework.</a:t>
            </a:r>
          </a:p>
          <a:p>
            <a:pPr marL="514350" indent="-514350">
              <a:buAutoNum type="arabicPeriod"/>
            </a:pPr>
            <a:endParaRPr lang="en-US" sz="3200">
              <a:latin typeface="Montserrat" panose="00000500000000000000" pitchFamily="2" charset="0"/>
            </a:endParaRPr>
          </a:p>
          <a:p>
            <a:pPr marL="514350" indent="-514350">
              <a:buAutoNum type="arabicPeriod"/>
            </a:pPr>
            <a:r>
              <a:rPr lang="en-US" sz="3200">
                <a:latin typeface="Montserrat" panose="00000500000000000000" pitchFamily="2" charset="0"/>
              </a:rPr>
              <a:t> Assess and validate AURA’s effectiveness by comparing against Kubernetes’ own Horizontal Pod Autoscaler (HPA) system.</a:t>
            </a:r>
            <a:endParaRPr lang="en-IN" sz="3200" dirty="0">
              <a:latin typeface="Montserrat" panose="00000500000000000000" pitchFamily="2" charset="0"/>
            </a:endParaRPr>
          </a:p>
        </p:txBody>
      </p:sp>
    </p:spTree>
    <p:extLst>
      <p:ext uri="{BB962C8B-B14F-4D97-AF65-F5344CB8AC3E}">
        <p14:creationId xmlns:p14="http://schemas.microsoft.com/office/powerpoint/2010/main" val="765259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53664" y="401804"/>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30480" y="-3313"/>
            <a:ext cx="17916401" cy="1044397"/>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EXISTING SYSTEMS</a:t>
            </a:r>
          </a:p>
        </p:txBody>
      </p:sp>
      <p:sp>
        <p:nvSpPr>
          <p:cNvPr id="12" name="Slide Number Placeholder 11">
            <a:extLst>
              <a:ext uri="{FF2B5EF4-FFF2-40B4-BE49-F238E27FC236}">
                <a16:creationId xmlns:a16="http://schemas.microsoft.com/office/drawing/2014/main" id="{471C95DD-98B0-0BC5-F87C-4C94840D3109}"/>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13" name="Footer Placeholder 12">
            <a:extLst>
              <a:ext uri="{FF2B5EF4-FFF2-40B4-BE49-F238E27FC236}">
                <a16:creationId xmlns:a16="http://schemas.microsoft.com/office/drawing/2014/main" id="{17D19D05-7A4D-F9D6-4116-F233037B8ABA}"/>
              </a:ext>
            </a:extLst>
          </p:cNvPr>
          <p:cNvSpPr>
            <a:spLocks noGrp="1"/>
          </p:cNvSpPr>
          <p:nvPr>
            <p:ph type="ftr" sz="quarter" idx="11"/>
          </p:nvPr>
        </p:nvSpPr>
        <p:spPr>
          <a:xfrm>
            <a:off x="-1524000" y="9942231"/>
            <a:ext cx="10439400" cy="13839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grpSp>
        <p:nvGrpSpPr>
          <p:cNvPr id="58" name="Group 57">
            <a:extLst>
              <a:ext uri="{FF2B5EF4-FFF2-40B4-BE49-F238E27FC236}">
                <a16:creationId xmlns:a16="http://schemas.microsoft.com/office/drawing/2014/main" id="{4779F700-86F9-C792-06AA-9FB8AA4C3B32}"/>
              </a:ext>
            </a:extLst>
          </p:cNvPr>
          <p:cNvGrpSpPr/>
          <p:nvPr/>
        </p:nvGrpSpPr>
        <p:grpSpPr>
          <a:xfrm>
            <a:off x="0" y="-1129169"/>
            <a:ext cx="18592800" cy="10623452"/>
            <a:chOff x="576143" y="315039"/>
            <a:chExt cx="13478113" cy="7332822"/>
          </a:xfrm>
        </p:grpSpPr>
        <p:sp>
          <p:nvSpPr>
            <p:cNvPr id="59" name="Google Shape;159;p28">
              <a:extLst>
                <a:ext uri="{FF2B5EF4-FFF2-40B4-BE49-F238E27FC236}">
                  <a16:creationId xmlns:a16="http://schemas.microsoft.com/office/drawing/2014/main" id="{E5A0F3B6-6C25-744B-D744-B49E8B676D71}"/>
                </a:ext>
              </a:extLst>
            </p:cNvPr>
            <p:cNvSpPr/>
            <p:nvPr/>
          </p:nvSpPr>
          <p:spPr>
            <a:xfrm>
              <a:off x="583763" y="315039"/>
              <a:ext cx="9438203" cy="548640"/>
            </a:xfrm>
            <a:prstGeom prst="rect">
              <a:avLst/>
            </a:prstGeom>
            <a:noFill/>
            <a:ln>
              <a:noFill/>
            </a:ln>
          </p:spPr>
          <p:txBody>
            <a:bodyPr spcFirstLastPara="1" wrap="square" lIns="0" tIns="0" rIns="0" bIns="0" anchor="t" anchorCtr="0">
              <a:noAutofit/>
            </a:bodyPr>
            <a:lstStyle/>
            <a:p>
              <a:pPr marL="0" marR="0" lvl="0" indent="0" algn="l" rtl="0">
                <a:lnSpc>
                  <a:spcPct val="124637"/>
                </a:lnSpc>
                <a:spcBef>
                  <a:spcPts val="0"/>
                </a:spcBef>
                <a:spcAft>
                  <a:spcPts val="0"/>
                </a:spcAft>
                <a:buClr>
                  <a:srgbClr val="FFB393"/>
                </a:buClr>
                <a:buSzPts val="3450"/>
                <a:buFont typeface="Brygada 1918"/>
                <a:buNone/>
              </a:pPr>
              <a:endParaRPr sz="1600" b="0" i="0" u="none" strike="noStrike" cap="none" dirty="0">
                <a:solidFill>
                  <a:schemeClr val="tx1"/>
                </a:solidFill>
              </a:endParaRPr>
            </a:p>
          </p:txBody>
        </p:sp>
        <p:sp>
          <p:nvSpPr>
            <p:cNvPr id="60" name="Google Shape;160;p28">
              <a:extLst>
                <a:ext uri="{FF2B5EF4-FFF2-40B4-BE49-F238E27FC236}">
                  <a16:creationId xmlns:a16="http://schemas.microsoft.com/office/drawing/2014/main" id="{63AD9EFF-839A-6230-F557-E34C5E48D91B}"/>
                </a:ext>
              </a:extLst>
            </p:cNvPr>
            <p:cNvSpPr/>
            <p:nvPr/>
          </p:nvSpPr>
          <p:spPr>
            <a:xfrm>
              <a:off x="576143" y="1717596"/>
              <a:ext cx="13478113" cy="5930265"/>
            </a:xfrm>
            <a:prstGeom prst="roundRect">
              <a:avLst>
                <a:gd name="adj" fmla="val 416"/>
              </a:avLst>
            </a:prstGeom>
            <a:noFill/>
            <a:ln w="9525" cap="flat" cmpd="sng">
              <a:solidFill>
                <a:srgbClr val="FFFFFF">
                  <a:alpha val="23921"/>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solidFill>
                  <a:schemeClr val="tx1"/>
                </a:solidFill>
              </a:endParaRPr>
            </a:p>
          </p:txBody>
        </p:sp>
        <p:sp>
          <p:nvSpPr>
            <p:cNvPr id="61" name="Google Shape;161;p28">
              <a:extLst>
                <a:ext uri="{FF2B5EF4-FFF2-40B4-BE49-F238E27FC236}">
                  <a16:creationId xmlns:a16="http://schemas.microsoft.com/office/drawing/2014/main" id="{FA8DCB0B-BF66-5BA0-1144-0CE2728FA271}"/>
                </a:ext>
              </a:extLst>
            </p:cNvPr>
            <p:cNvSpPr/>
            <p:nvPr/>
          </p:nvSpPr>
          <p:spPr>
            <a:xfrm>
              <a:off x="583763" y="1725216"/>
              <a:ext cx="13462873" cy="476012"/>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62" name="Google Shape;162;p28">
              <a:extLst>
                <a:ext uri="{FF2B5EF4-FFF2-40B4-BE49-F238E27FC236}">
                  <a16:creationId xmlns:a16="http://schemas.microsoft.com/office/drawing/2014/main" id="{3D500D12-1FE1-13D8-BC29-AFCDBCAA77BA}"/>
                </a:ext>
              </a:extLst>
            </p:cNvPr>
            <p:cNvSpPr/>
            <p:nvPr/>
          </p:nvSpPr>
          <p:spPr>
            <a:xfrm>
              <a:off x="748665" y="1831538"/>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dirty="0">
                  <a:solidFill>
                    <a:schemeClr val="tx1"/>
                  </a:solidFill>
                  <a:latin typeface="Montserrat"/>
                  <a:ea typeface="Montserrat"/>
                  <a:cs typeface="Montserrat"/>
                  <a:sym typeface="Montserrat"/>
                </a:rPr>
                <a:t>Existing Work</a:t>
              </a:r>
              <a:endParaRPr sz="1600" b="0" i="0" u="none" strike="noStrike" cap="none" dirty="0">
                <a:solidFill>
                  <a:schemeClr val="tx1"/>
                </a:solidFill>
              </a:endParaRPr>
            </a:p>
          </p:txBody>
        </p:sp>
        <p:sp>
          <p:nvSpPr>
            <p:cNvPr id="63" name="Google Shape;163;p28">
              <a:extLst>
                <a:ext uri="{FF2B5EF4-FFF2-40B4-BE49-F238E27FC236}">
                  <a16:creationId xmlns:a16="http://schemas.microsoft.com/office/drawing/2014/main" id="{860A71F4-BEDE-6098-E9C5-13261A97C7F1}"/>
                </a:ext>
              </a:extLst>
            </p:cNvPr>
            <p:cNvSpPr/>
            <p:nvPr/>
          </p:nvSpPr>
          <p:spPr>
            <a:xfrm>
              <a:off x="3444954" y="1831538"/>
              <a:ext cx="235577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Methodology</a:t>
              </a:r>
              <a:endParaRPr sz="1600" b="0" i="0" u="none" strike="noStrike" cap="none">
                <a:solidFill>
                  <a:schemeClr val="tx1"/>
                </a:solidFill>
              </a:endParaRPr>
            </a:p>
          </p:txBody>
        </p:sp>
        <p:sp>
          <p:nvSpPr>
            <p:cNvPr id="64" name="Google Shape;164;p28">
              <a:extLst>
                <a:ext uri="{FF2B5EF4-FFF2-40B4-BE49-F238E27FC236}">
                  <a16:creationId xmlns:a16="http://schemas.microsoft.com/office/drawing/2014/main" id="{92BEDC05-65E7-11AB-1364-2097A78D2349}"/>
                </a:ext>
              </a:extLst>
            </p:cNvPr>
            <p:cNvSpPr/>
            <p:nvPr/>
          </p:nvSpPr>
          <p:spPr>
            <a:xfrm>
              <a:off x="6137434" y="1831538"/>
              <a:ext cx="437519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Advantages / Contribution</a:t>
              </a:r>
              <a:endParaRPr sz="1600" b="0" i="0" u="none" strike="noStrike" cap="none">
                <a:solidFill>
                  <a:schemeClr val="tx1"/>
                </a:solidFill>
              </a:endParaRPr>
            </a:p>
          </p:txBody>
        </p:sp>
        <p:sp>
          <p:nvSpPr>
            <p:cNvPr id="65" name="Google Shape;165;p28">
              <a:extLst>
                <a:ext uri="{FF2B5EF4-FFF2-40B4-BE49-F238E27FC236}">
                  <a16:creationId xmlns:a16="http://schemas.microsoft.com/office/drawing/2014/main" id="{FDD84BE3-69AE-93BD-8CF4-6ADC208F7FC3}"/>
                </a:ext>
              </a:extLst>
            </p:cNvPr>
            <p:cNvSpPr/>
            <p:nvPr/>
          </p:nvSpPr>
          <p:spPr>
            <a:xfrm>
              <a:off x="10849332" y="1831538"/>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Firm</a:t>
              </a:r>
              <a:endParaRPr sz="1600" b="0" i="0" u="none" strike="noStrike" cap="none">
                <a:solidFill>
                  <a:schemeClr val="tx1"/>
                </a:solidFill>
              </a:endParaRPr>
            </a:p>
          </p:txBody>
        </p:sp>
        <p:sp>
          <p:nvSpPr>
            <p:cNvPr id="66" name="Google Shape;166;p28">
              <a:extLst>
                <a:ext uri="{FF2B5EF4-FFF2-40B4-BE49-F238E27FC236}">
                  <a16:creationId xmlns:a16="http://schemas.microsoft.com/office/drawing/2014/main" id="{21EA582D-617B-6FC4-A643-888CF16A4EC6}"/>
                </a:ext>
              </a:extLst>
            </p:cNvPr>
            <p:cNvSpPr/>
            <p:nvPr/>
          </p:nvSpPr>
          <p:spPr>
            <a:xfrm>
              <a:off x="583763" y="2201228"/>
              <a:ext cx="13462873" cy="739378"/>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67" name="Google Shape;167;p28">
              <a:extLst>
                <a:ext uri="{FF2B5EF4-FFF2-40B4-BE49-F238E27FC236}">
                  <a16:creationId xmlns:a16="http://schemas.microsoft.com/office/drawing/2014/main" id="{707F05B4-2665-5479-4DB4-A8011F38CAA3}"/>
                </a:ext>
              </a:extLst>
            </p:cNvPr>
            <p:cNvSpPr/>
            <p:nvPr/>
          </p:nvSpPr>
          <p:spPr>
            <a:xfrm>
              <a:off x="748665" y="2307550"/>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Mao et al., 2016</a:t>
              </a:r>
              <a:endParaRPr sz="1600" b="0" i="0" u="none" strike="noStrike" cap="none">
                <a:solidFill>
                  <a:schemeClr val="tx1"/>
                </a:solidFill>
              </a:endParaRPr>
            </a:p>
          </p:txBody>
        </p:sp>
        <p:sp>
          <p:nvSpPr>
            <p:cNvPr id="68" name="Google Shape;168;p28">
              <a:extLst>
                <a:ext uri="{FF2B5EF4-FFF2-40B4-BE49-F238E27FC236}">
                  <a16:creationId xmlns:a16="http://schemas.microsoft.com/office/drawing/2014/main" id="{19C62561-73C6-FD76-832D-C739C86F0267}"/>
                </a:ext>
              </a:extLst>
            </p:cNvPr>
            <p:cNvSpPr/>
            <p:nvPr/>
          </p:nvSpPr>
          <p:spPr>
            <a:xfrm>
              <a:off x="3444954" y="2307550"/>
              <a:ext cx="2355771"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Deep Reinforcement Learning (DRL)</a:t>
              </a:r>
              <a:endParaRPr sz="1600" b="0" i="0" u="none" strike="noStrike" cap="none" dirty="0">
                <a:solidFill>
                  <a:schemeClr val="tx1"/>
                </a:solidFill>
              </a:endParaRPr>
            </a:p>
          </p:txBody>
        </p:sp>
        <p:sp>
          <p:nvSpPr>
            <p:cNvPr id="69" name="Google Shape;169;p28">
              <a:extLst>
                <a:ext uri="{FF2B5EF4-FFF2-40B4-BE49-F238E27FC236}">
                  <a16:creationId xmlns:a16="http://schemas.microsoft.com/office/drawing/2014/main" id="{5FA2E9B7-31D7-C602-1E8C-10180FCBAB68}"/>
                </a:ext>
              </a:extLst>
            </p:cNvPr>
            <p:cNvSpPr/>
            <p:nvPr/>
          </p:nvSpPr>
          <p:spPr>
            <a:xfrm>
              <a:off x="6137434" y="2307550"/>
              <a:ext cx="4375190"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Pioneer work showing DRL can outperform threshold-based rules for VM allocation.</a:t>
              </a:r>
              <a:endParaRPr sz="1600" b="0" i="0" u="none" strike="noStrike" cap="none" dirty="0">
                <a:solidFill>
                  <a:schemeClr val="tx1"/>
                </a:solidFill>
              </a:endParaRPr>
            </a:p>
          </p:txBody>
        </p:sp>
        <p:sp>
          <p:nvSpPr>
            <p:cNvPr id="70" name="Google Shape;170;p28">
              <a:extLst>
                <a:ext uri="{FF2B5EF4-FFF2-40B4-BE49-F238E27FC236}">
                  <a16:creationId xmlns:a16="http://schemas.microsoft.com/office/drawing/2014/main" id="{C6F5E325-F922-05E4-BF6D-807F9CB9AAB0}"/>
                </a:ext>
              </a:extLst>
            </p:cNvPr>
            <p:cNvSpPr/>
            <p:nvPr/>
          </p:nvSpPr>
          <p:spPr>
            <a:xfrm>
              <a:off x="10849332" y="2307550"/>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AWARE</a:t>
              </a:r>
              <a:endParaRPr sz="1600" b="0" i="0" u="none" strike="noStrike" cap="none">
                <a:solidFill>
                  <a:schemeClr val="tx1"/>
                </a:solidFill>
              </a:endParaRPr>
            </a:p>
          </p:txBody>
        </p:sp>
        <p:sp>
          <p:nvSpPr>
            <p:cNvPr id="71" name="Google Shape;171;p28">
              <a:extLst>
                <a:ext uri="{FF2B5EF4-FFF2-40B4-BE49-F238E27FC236}">
                  <a16:creationId xmlns:a16="http://schemas.microsoft.com/office/drawing/2014/main" id="{BC494C3A-3807-B56D-8609-449837BA8B27}"/>
                </a:ext>
              </a:extLst>
            </p:cNvPr>
            <p:cNvSpPr/>
            <p:nvPr/>
          </p:nvSpPr>
          <p:spPr>
            <a:xfrm>
              <a:off x="583763" y="2940606"/>
              <a:ext cx="13462873" cy="739378"/>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solidFill>
                  <a:schemeClr val="tx1"/>
                </a:solidFill>
              </a:endParaRPr>
            </a:p>
          </p:txBody>
        </p:sp>
        <p:sp>
          <p:nvSpPr>
            <p:cNvPr id="72" name="Google Shape;172;p28">
              <a:extLst>
                <a:ext uri="{FF2B5EF4-FFF2-40B4-BE49-F238E27FC236}">
                  <a16:creationId xmlns:a16="http://schemas.microsoft.com/office/drawing/2014/main" id="{1525B62B-4F6E-B3F4-7530-326FFA30BCEA}"/>
                </a:ext>
              </a:extLst>
            </p:cNvPr>
            <p:cNvSpPr/>
            <p:nvPr/>
          </p:nvSpPr>
          <p:spPr>
            <a:xfrm>
              <a:off x="748665" y="3046928"/>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Wang et al., 2018</a:t>
              </a:r>
              <a:endParaRPr sz="1600" b="0" i="0" u="none" strike="noStrike" cap="none">
                <a:solidFill>
                  <a:schemeClr val="tx1"/>
                </a:solidFill>
              </a:endParaRPr>
            </a:p>
          </p:txBody>
        </p:sp>
        <p:sp>
          <p:nvSpPr>
            <p:cNvPr id="73" name="Google Shape;173;p28">
              <a:extLst>
                <a:ext uri="{FF2B5EF4-FFF2-40B4-BE49-F238E27FC236}">
                  <a16:creationId xmlns:a16="http://schemas.microsoft.com/office/drawing/2014/main" id="{400C7C59-B2F0-C3B5-CC51-8EACDC49E8C3}"/>
                </a:ext>
              </a:extLst>
            </p:cNvPr>
            <p:cNvSpPr/>
            <p:nvPr/>
          </p:nvSpPr>
          <p:spPr>
            <a:xfrm>
              <a:off x="3444954" y="3046928"/>
              <a:ext cx="2355771"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DRL with Workload Prediction</a:t>
              </a:r>
              <a:endParaRPr sz="1600" b="0" i="0" u="none" strike="noStrike" cap="none" dirty="0">
                <a:solidFill>
                  <a:schemeClr val="tx1"/>
                </a:solidFill>
              </a:endParaRPr>
            </a:p>
          </p:txBody>
        </p:sp>
        <p:sp>
          <p:nvSpPr>
            <p:cNvPr id="74" name="Google Shape;174;p28">
              <a:extLst>
                <a:ext uri="{FF2B5EF4-FFF2-40B4-BE49-F238E27FC236}">
                  <a16:creationId xmlns:a16="http://schemas.microsoft.com/office/drawing/2014/main" id="{5401EC75-F657-E55E-10E9-15499D9499C2}"/>
                </a:ext>
              </a:extLst>
            </p:cNvPr>
            <p:cNvSpPr/>
            <p:nvPr/>
          </p:nvSpPr>
          <p:spPr>
            <a:xfrm>
              <a:off x="6137434" y="3046928"/>
              <a:ext cx="4375190"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Combines an LSTM for predicting future workload with DRL for proactive scaling decisions.</a:t>
              </a:r>
              <a:endParaRPr sz="1600" b="0" i="0" u="none" strike="noStrike" cap="none" dirty="0">
                <a:solidFill>
                  <a:schemeClr val="tx1"/>
                </a:solidFill>
              </a:endParaRPr>
            </a:p>
          </p:txBody>
        </p:sp>
        <p:sp>
          <p:nvSpPr>
            <p:cNvPr id="75" name="Google Shape;175;p28">
              <a:extLst>
                <a:ext uri="{FF2B5EF4-FFF2-40B4-BE49-F238E27FC236}">
                  <a16:creationId xmlns:a16="http://schemas.microsoft.com/office/drawing/2014/main" id="{47447206-A30D-CB1D-BFE0-B7DEE5E9E2D9}"/>
                </a:ext>
              </a:extLst>
            </p:cNvPr>
            <p:cNvSpPr/>
            <p:nvPr/>
          </p:nvSpPr>
          <p:spPr>
            <a:xfrm>
              <a:off x="10849332" y="3046928"/>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AWARE</a:t>
              </a:r>
              <a:endParaRPr sz="1600" b="0" i="0" u="none" strike="noStrike" cap="none">
                <a:solidFill>
                  <a:schemeClr val="tx1"/>
                </a:solidFill>
              </a:endParaRPr>
            </a:p>
          </p:txBody>
        </p:sp>
        <p:sp>
          <p:nvSpPr>
            <p:cNvPr id="76" name="Google Shape;176;p28">
              <a:extLst>
                <a:ext uri="{FF2B5EF4-FFF2-40B4-BE49-F238E27FC236}">
                  <a16:creationId xmlns:a16="http://schemas.microsoft.com/office/drawing/2014/main" id="{9B66BEF7-158C-89CD-3234-994EAD8D94BE}"/>
                </a:ext>
              </a:extLst>
            </p:cNvPr>
            <p:cNvSpPr/>
            <p:nvPr/>
          </p:nvSpPr>
          <p:spPr>
            <a:xfrm>
              <a:off x="583763" y="3679984"/>
              <a:ext cx="13462873" cy="1002744"/>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77" name="Google Shape;177;p28">
              <a:extLst>
                <a:ext uri="{FF2B5EF4-FFF2-40B4-BE49-F238E27FC236}">
                  <a16:creationId xmlns:a16="http://schemas.microsoft.com/office/drawing/2014/main" id="{4E85E5D9-13F4-0B25-D77A-6637F3BF0B97}"/>
                </a:ext>
              </a:extLst>
            </p:cNvPr>
            <p:cNvSpPr/>
            <p:nvPr/>
          </p:nvSpPr>
          <p:spPr>
            <a:xfrm>
              <a:off x="748665" y="3786307"/>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Malla et al., 2020</a:t>
              </a:r>
              <a:endParaRPr sz="1600" b="0" i="0" u="none" strike="noStrike" cap="none">
                <a:solidFill>
                  <a:schemeClr val="tx1"/>
                </a:solidFill>
              </a:endParaRPr>
            </a:p>
          </p:txBody>
        </p:sp>
        <p:sp>
          <p:nvSpPr>
            <p:cNvPr id="78" name="Google Shape;178;p28">
              <a:extLst>
                <a:ext uri="{FF2B5EF4-FFF2-40B4-BE49-F238E27FC236}">
                  <a16:creationId xmlns:a16="http://schemas.microsoft.com/office/drawing/2014/main" id="{32FD9217-25EF-F2E5-2E57-AED58A1013AB}"/>
                </a:ext>
              </a:extLst>
            </p:cNvPr>
            <p:cNvSpPr/>
            <p:nvPr/>
          </p:nvSpPr>
          <p:spPr>
            <a:xfrm>
              <a:off x="3444954" y="3786307"/>
              <a:ext cx="235577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Hierarchical RL</a:t>
              </a:r>
              <a:endParaRPr sz="1600" b="0" i="0" u="none" strike="noStrike" cap="none" dirty="0">
                <a:solidFill>
                  <a:schemeClr val="tx1"/>
                </a:solidFill>
              </a:endParaRPr>
            </a:p>
          </p:txBody>
        </p:sp>
        <p:sp>
          <p:nvSpPr>
            <p:cNvPr id="79" name="Google Shape;179;p28">
              <a:extLst>
                <a:ext uri="{FF2B5EF4-FFF2-40B4-BE49-F238E27FC236}">
                  <a16:creationId xmlns:a16="http://schemas.microsoft.com/office/drawing/2014/main" id="{887519B8-DF12-F5F3-D9EB-9C3C95241179}"/>
                </a:ext>
              </a:extLst>
            </p:cNvPr>
            <p:cNvSpPr/>
            <p:nvPr/>
          </p:nvSpPr>
          <p:spPr>
            <a:xfrm>
              <a:off x="6137434" y="3786307"/>
              <a:ext cx="4375190" cy="79009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Uses a two-level RL system to manage both function placement and instance counts in serverless.</a:t>
              </a:r>
              <a:endParaRPr sz="1600" b="0" i="0" u="none" strike="noStrike" cap="none">
                <a:solidFill>
                  <a:schemeClr val="tx1"/>
                </a:solidFill>
              </a:endParaRPr>
            </a:p>
          </p:txBody>
        </p:sp>
        <p:sp>
          <p:nvSpPr>
            <p:cNvPr id="80" name="Google Shape;180;p28">
              <a:extLst>
                <a:ext uri="{FF2B5EF4-FFF2-40B4-BE49-F238E27FC236}">
                  <a16:creationId xmlns:a16="http://schemas.microsoft.com/office/drawing/2014/main" id="{C80F84FE-7CB5-0383-0EA2-00C0087C526C}"/>
                </a:ext>
              </a:extLst>
            </p:cNvPr>
            <p:cNvSpPr/>
            <p:nvPr/>
          </p:nvSpPr>
          <p:spPr>
            <a:xfrm>
              <a:off x="10849332" y="3786307"/>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FIFER</a:t>
              </a:r>
              <a:endParaRPr sz="1600" b="0" i="0" u="none" strike="noStrike" cap="none">
                <a:solidFill>
                  <a:schemeClr val="tx1"/>
                </a:solidFill>
              </a:endParaRPr>
            </a:p>
          </p:txBody>
        </p:sp>
        <p:sp>
          <p:nvSpPr>
            <p:cNvPr id="81" name="Google Shape;181;p28">
              <a:extLst>
                <a:ext uri="{FF2B5EF4-FFF2-40B4-BE49-F238E27FC236}">
                  <a16:creationId xmlns:a16="http://schemas.microsoft.com/office/drawing/2014/main" id="{284E098B-652F-F59E-3DDD-7ECF6C90EBEE}"/>
                </a:ext>
              </a:extLst>
            </p:cNvPr>
            <p:cNvSpPr/>
            <p:nvPr/>
          </p:nvSpPr>
          <p:spPr>
            <a:xfrm>
              <a:off x="583763" y="4682728"/>
              <a:ext cx="13462873" cy="739378"/>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solidFill>
                  <a:schemeClr val="tx1"/>
                </a:solidFill>
              </a:endParaRPr>
            </a:p>
          </p:txBody>
        </p:sp>
        <p:sp>
          <p:nvSpPr>
            <p:cNvPr id="82" name="Google Shape;182;p28">
              <a:extLst>
                <a:ext uri="{FF2B5EF4-FFF2-40B4-BE49-F238E27FC236}">
                  <a16:creationId xmlns:a16="http://schemas.microsoft.com/office/drawing/2014/main" id="{AA34030B-FE3A-FBBA-8626-45F232961CAB}"/>
                </a:ext>
              </a:extLst>
            </p:cNvPr>
            <p:cNvSpPr/>
            <p:nvPr/>
          </p:nvSpPr>
          <p:spPr>
            <a:xfrm>
              <a:off x="748665" y="4789051"/>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Giménez et al., 2022</a:t>
              </a:r>
              <a:endParaRPr sz="1600" b="0" i="0" u="none" strike="noStrike" cap="none">
                <a:solidFill>
                  <a:schemeClr val="tx1"/>
                </a:solidFill>
              </a:endParaRPr>
            </a:p>
          </p:txBody>
        </p:sp>
        <p:sp>
          <p:nvSpPr>
            <p:cNvPr id="83" name="Google Shape;183;p28">
              <a:extLst>
                <a:ext uri="{FF2B5EF4-FFF2-40B4-BE49-F238E27FC236}">
                  <a16:creationId xmlns:a16="http://schemas.microsoft.com/office/drawing/2014/main" id="{353BA1D8-E215-7729-CD49-05B4856E5EEC}"/>
                </a:ext>
              </a:extLst>
            </p:cNvPr>
            <p:cNvSpPr/>
            <p:nvPr/>
          </p:nvSpPr>
          <p:spPr>
            <a:xfrm>
              <a:off x="3444954" y="4789051"/>
              <a:ext cx="235577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Q-Learning + Prediction</a:t>
              </a:r>
              <a:endParaRPr sz="1600" b="0" i="0" u="none" strike="noStrike" cap="none" dirty="0">
                <a:solidFill>
                  <a:schemeClr val="tx1"/>
                </a:solidFill>
              </a:endParaRPr>
            </a:p>
          </p:txBody>
        </p:sp>
        <p:sp>
          <p:nvSpPr>
            <p:cNvPr id="84" name="Google Shape;184;p28">
              <a:extLst>
                <a:ext uri="{FF2B5EF4-FFF2-40B4-BE49-F238E27FC236}">
                  <a16:creationId xmlns:a16="http://schemas.microsoft.com/office/drawing/2014/main" id="{B4DE20A7-5F43-A70C-6377-A89141906E73}"/>
                </a:ext>
              </a:extLst>
            </p:cNvPr>
            <p:cNvSpPr/>
            <p:nvPr/>
          </p:nvSpPr>
          <p:spPr>
            <a:xfrm>
              <a:off x="6137434" y="4789051"/>
              <a:ext cx="4375190"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Enhances Kubernetes HPA with Q-learning and workload prediction for web apps.</a:t>
              </a:r>
              <a:endParaRPr sz="1600" b="0" i="0" u="none" strike="noStrike" cap="none">
                <a:solidFill>
                  <a:schemeClr val="tx1"/>
                </a:solidFill>
              </a:endParaRPr>
            </a:p>
          </p:txBody>
        </p:sp>
        <p:sp>
          <p:nvSpPr>
            <p:cNvPr id="85" name="Google Shape;185;p28">
              <a:extLst>
                <a:ext uri="{FF2B5EF4-FFF2-40B4-BE49-F238E27FC236}">
                  <a16:creationId xmlns:a16="http://schemas.microsoft.com/office/drawing/2014/main" id="{C3262AB0-5E12-FFB9-4992-81864E0005D8}"/>
                </a:ext>
              </a:extLst>
            </p:cNvPr>
            <p:cNvSpPr/>
            <p:nvPr/>
          </p:nvSpPr>
          <p:spPr>
            <a:xfrm>
              <a:off x="10849332" y="4789051"/>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SPE-HPA</a:t>
              </a:r>
              <a:endParaRPr sz="1600" b="0" i="0" u="none" strike="noStrike" cap="none">
                <a:solidFill>
                  <a:schemeClr val="tx1"/>
                </a:solidFill>
              </a:endParaRPr>
            </a:p>
          </p:txBody>
        </p:sp>
        <p:sp>
          <p:nvSpPr>
            <p:cNvPr id="86" name="Google Shape;186;p28">
              <a:extLst>
                <a:ext uri="{FF2B5EF4-FFF2-40B4-BE49-F238E27FC236}">
                  <a16:creationId xmlns:a16="http://schemas.microsoft.com/office/drawing/2014/main" id="{DB7D957B-2F13-93E1-C702-0B63695FBDAC}"/>
                </a:ext>
              </a:extLst>
            </p:cNvPr>
            <p:cNvSpPr/>
            <p:nvPr/>
          </p:nvSpPr>
          <p:spPr>
            <a:xfrm>
              <a:off x="583763" y="5422106"/>
              <a:ext cx="13462873" cy="739378"/>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87" name="Google Shape;187;p28">
              <a:extLst>
                <a:ext uri="{FF2B5EF4-FFF2-40B4-BE49-F238E27FC236}">
                  <a16:creationId xmlns:a16="http://schemas.microsoft.com/office/drawing/2014/main" id="{8FCBEA5A-0218-5C6E-072F-93DBF475B0FB}"/>
                </a:ext>
              </a:extLst>
            </p:cNvPr>
            <p:cNvSpPr/>
            <p:nvPr/>
          </p:nvSpPr>
          <p:spPr>
            <a:xfrm>
              <a:off x="748665" y="5528429"/>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Yan et al., 2020</a:t>
              </a:r>
              <a:endParaRPr sz="1600" b="0" i="0" u="none" strike="noStrike" cap="none">
                <a:solidFill>
                  <a:schemeClr val="tx1"/>
                </a:solidFill>
              </a:endParaRPr>
            </a:p>
          </p:txBody>
        </p:sp>
        <p:sp>
          <p:nvSpPr>
            <p:cNvPr id="88" name="Google Shape;188;p28">
              <a:extLst>
                <a:ext uri="{FF2B5EF4-FFF2-40B4-BE49-F238E27FC236}">
                  <a16:creationId xmlns:a16="http://schemas.microsoft.com/office/drawing/2014/main" id="{3943A5A9-74F9-2BF6-6BAF-5D7C62DEA72A}"/>
                </a:ext>
              </a:extLst>
            </p:cNvPr>
            <p:cNvSpPr/>
            <p:nvPr/>
          </p:nvSpPr>
          <p:spPr>
            <a:xfrm>
              <a:off x="3444954" y="5528429"/>
              <a:ext cx="235577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Transfer Learning + DRL</a:t>
              </a:r>
              <a:endParaRPr sz="1600" b="0" i="0" u="none" strike="noStrike" cap="none" dirty="0">
                <a:solidFill>
                  <a:schemeClr val="tx1"/>
                </a:solidFill>
              </a:endParaRPr>
            </a:p>
          </p:txBody>
        </p:sp>
        <p:sp>
          <p:nvSpPr>
            <p:cNvPr id="89" name="Google Shape;189;p28">
              <a:extLst>
                <a:ext uri="{FF2B5EF4-FFF2-40B4-BE49-F238E27FC236}">
                  <a16:creationId xmlns:a16="http://schemas.microsoft.com/office/drawing/2014/main" id="{ACF61395-8B06-0CD3-7A5E-7BA342165E9A}"/>
                </a:ext>
              </a:extLst>
            </p:cNvPr>
            <p:cNvSpPr/>
            <p:nvPr/>
          </p:nvSpPr>
          <p:spPr>
            <a:xfrm>
              <a:off x="6137434" y="5528429"/>
              <a:ext cx="4375190"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Pre-trains a DRL model on various workloads so it can adapt to new apps quickly.</a:t>
              </a:r>
              <a:endParaRPr sz="1600" b="0" i="0" u="none" strike="noStrike" cap="none" dirty="0">
                <a:solidFill>
                  <a:schemeClr val="tx1"/>
                </a:solidFill>
              </a:endParaRPr>
            </a:p>
          </p:txBody>
        </p:sp>
        <p:sp>
          <p:nvSpPr>
            <p:cNvPr id="90" name="Google Shape;190;p28">
              <a:extLst>
                <a:ext uri="{FF2B5EF4-FFF2-40B4-BE49-F238E27FC236}">
                  <a16:creationId xmlns:a16="http://schemas.microsoft.com/office/drawing/2014/main" id="{8E6B7BD6-EEDD-C546-BD1A-58EF0899B1E2}"/>
                </a:ext>
              </a:extLst>
            </p:cNvPr>
            <p:cNvSpPr/>
            <p:nvPr/>
          </p:nvSpPr>
          <p:spPr>
            <a:xfrm>
              <a:off x="10849332" y="5528429"/>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DeepScale</a:t>
              </a:r>
              <a:endParaRPr sz="1600" b="0" i="0" u="none" strike="noStrike" cap="none">
                <a:solidFill>
                  <a:schemeClr val="tx1"/>
                </a:solidFill>
              </a:endParaRPr>
            </a:p>
          </p:txBody>
        </p:sp>
        <p:sp>
          <p:nvSpPr>
            <p:cNvPr id="91" name="Google Shape;191;p28">
              <a:extLst>
                <a:ext uri="{FF2B5EF4-FFF2-40B4-BE49-F238E27FC236}">
                  <a16:creationId xmlns:a16="http://schemas.microsoft.com/office/drawing/2014/main" id="{1089A5F8-01CB-90B0-EE8D-95FDC4C3DDD8}"/>
                </a:ext>
              </a:extLst>
            </p:cNvPr>
            <p:cNvSpPr/>
            <p:nvPr/>
          </p:nvSpPr>
          <p:spPr>
            <a:xfrm>
              <a:off x="583763" y="6161484"/>
              <a:ext cx="13462873" cy="739378"/>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solidFill>
                  <a:schemeClr val="tx1"/>
                </a:solidFill>
              </a:endParaRPr>
            </a:p>
          </p:txBody>
        </p:sp>
        <p:sp>
          <p:nvSpPr>
            <p:cNvPr id="92" name="Google Shape;192;p28">
              <a:extLst>
                <a:ext uri="{FF2B5EF4-FFF2-40B4-BE49-F238E27FC236}">
                  <a16:creationId xmlns:a16="http://schemas.microsoft.com/office/drawing/2014/main" id="{2B36C798-B349-2911-A7D8-F20885D53F93}"/>
                </a:ext>
              </a:extLst>
            </p:cNvPr>
            <p:cNvSpPr/>
            <p:nvPr/>
          </p:nvSpPr>
          <p:spPr>
            <a:xfrm>
              <a:off x="748665" y="6267807"/>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Zhang et al., 2021</a:t>
              </a:r>
              <a:endParaRPr sz="1600" b="0" i="0" u="none" strike="noStrike" cap="none">
                <a:solidFill>
                  <a:schemeClr val="tx1"/>
                </a:solidFill>
              </a:endParaRPr>
            </a:p>
          </p:txBody>
        </p:sp>
        <p:sp>
          <p:nvSpPr>
            <p:cNvPr id="93" name="Google Shape;193;p28">
              <a:extLst>
                <a:ext uri="{FF2B5EF4-FFF2-40B4-BE49-F238E27FC236}">
                  <a16:creationId xmlns:a16="http://schemas.microsoft.com/office/drawing/2014/main" id="{6A01182D-75C2-3B76-669C-99C2924F1647}"/>
                </a:ext>
              </a:extLst>
            </p:cNvPr>
            <p:cNvSpPr/>
            <p:nvPr/>
          </p:nvSpPr>
          <p:spPr>
            <a:xfrm>
              <a:off x="3444954" y="6267807"/>
              <a:ext cx="2355771"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Hybrid RL (Model-based &amp; Free)</a:t>
              </a:r>
              <a:endParaRPr sz="1600" b="0" i="0" u="none" strike="noStrike" cap="none" dirty="0">
                <a:solidFill>
                  <a:schemeClr val="tx1"/>
                </a:solidFill>
              </a:endParaRPr>
            </a:p>
          </p:txBody>
        </p:sp>
        <p:sp>
          <p:nvSpPr>
            <p:cNvPr id="94" name="Google Shape;194;p28">
              <a:extLst>
                <a:ext uri="{FF2B5EF4-FFF2-40B4-BE49-F238E27FC236}">
                  <a16:creationId xmlns:a16="http://schemas.microsoft.com/office/drawing/2014/main" id="{7B363B70-E857-8CBF-37E5-E89BA0C58591}"/>
                </a:ext>
              </a:extLst>
            </p:cNvPr>
            <p:cNvSpPr/>
            <p:nvPr/>
          </p:nvSpPr>
          <p:spPr>
            <a:xfrm>
              <a:off x="6137434" y="6267807"/>
              <a:ext cx="4375190"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Combines learning a system model with direct RL to improve sample efficiency.</a:t>
              </a:r>
              <a:endParaRPr sz="1600" b="0" i="0" u="none" strike="noStrike" cap="none">
                <a:solidFill>
                  <a:schemeClr val="tx1"/>
                </a:solidFill>
              </a:endParaRPr>
            </a:p>
          </p:txBody>
        </p:sp>
        <p:sp>
          <p:nvSpPr>
            <p:cNvPr id="95" name="Google Shape;195;p28">
              <a:extLst>
                <a:ext uri="{FF2B5EF4-FFF2-40B4-BE49-F238E27FC236}">
                  <a16:creationId xmlns:a16="http://schemas.microsoft.com/office/drawing/2014/main" id="{81F4E59D-7E3A-131B-1C47-8BFF89E689FF}"/>
                </a:ext>
              </a:extLst>
            </p:cNvPr>
            <p:cNvSpPr/>
            <p:nvPr/>
          </p:nvSpPr>
          <p:spPr>
            <a:xfrm>
              <a:off x="10849332" y="6267807"/>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H-Scale</a:t>
              </a:r>
              <a:endParaRPr sz="1600" b="0" i="0" u="none" strike="noStrike" cap="none">
                <a:solidFill>
                  <a:schemeClr val="tx1"/>
                </a:solidFill>
              </a:endParaRPr>
            </a:p>
          </p:txBody>
        </p:sp>
        <p:sp>
          <p:nvSpPr>
            <p:cNvPr id="96" name="Google Shape;196;p28">
              <a:extLst>
                <a:ext uri="{FF2B5EF4-FFF2-40B4-BE49-F238E27FC236}">
                  <a16:creationId xmlns:a16="http://schemas.microsoft.com/office/drawing/2014/main" id="{9663A2C1-0801-CF6D-6B3C-67EA2A489E43}"/>
                </a:ext>
              </a:extLst>
            </p:cNvPr>
            <p:cNvSpPr/>
            <p:nvPr/>
          </p:nvSpPr>
          <p:spPr>
            <a:xfrm>
              <a:off x="583763" y="6900863"/>
              <a:ext cx="13462873" cy="739378"/>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solidFill>
                  <a:schemeClr val="tx1"/>
                </a:solidFill>
              </a:endParaRPr>
            </a:p>
          </p:txBody>
        </p:sp>
        <p:sp>
          <p:nvSpPr>
            <p:cNvPr id="97" name="Google Shape;197;p28">
              <a:extLst>
                <a:ext uri="{FF2B5EF4-FFF2-40B4-BE49-F238E27FC236}">
                  <a16:creationId xmlns:a16="http://schemas.microsoft.com/office/drawing/2014/main" id="{87DF68C8-433A-A158-12B6-9B23E203663C}"/>
                </a:ext>
              </a:extLst>
            </p:cNvPr>
            <p:cNvSpPr/>
            <p:nvPr/>
          </p:nvSpPr>
          <p:spPr>
            <a:xfrm>
              <a:off x="748665" y="7007185"/>
              <a:ext cx="2359581"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Boden G. et al., 2023</a:t>
              </a:r>
              <a:endParaRPr sz="1600" b="0" i="0" u="none" strike="noStrike" cap="none">
                <a:solidFill>
                  <a:schemeClr val="tx1"/>
                </a:solidFill>
              </a:endParaRPr>
            </a:p>
          </p:txBody>
        </p:sp>
        <p:sp>
          <p:nvSpPr>
            <p:cNvPr id="98" name="Google Shape;198;p28">
              <a:extLst>
                <a:ext uri="{FF2B5EF4-FFF2-40B4-BE49-F238E27FC236}">
                  <a16:creationId xmlns:a16="http://schemas.microsoft.com/office/drawing/2014/main" id="{4260787E-3333-D581-9C25-B4914EAFF353}"/>
                </a:ext>
              </a:extLst>
            </p:cNvPr>
            <p:cNvSpPr/>
            <p:nvPr/>
          </p:nvSpPr>
          <p:spPr>
            <a:xfrm>
              <a:off x="3444954" y="7007185"/>
              <a:ext cx="2355771"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a:solidFill>
                    <a:schemeClr val="tx1"/>
                  </a:solidFill>
                  <a:latin typeface="Montserrat"/>
                  <a:ea typeface="Montserrat"/>
                  <a:cs typeface="Montserrat"/>
                  <a:sym typeface="Montserrat"/>
                </a:rPr>
                <a:t>Graph Neural Networks + DRL</a:t>
              </a:r>
              <a:endParaRPr sz="1600" b="0" i="0" u="none" strike="noStrike" cap="none">
                <a:solidFill>
                  <a:schemeClr val="tx1"/>
                </a:solidFill>
              </a:endParaRPr>
            </a:p>
          </p:txBody>
        </p:sp>
        <p:sp>
          <p:nvSpPr>
            <p:cNvPr id="99" name="Google Shape;199;p28">
              <a:extLst>
                <a:ext uri="{FF2B5EF4-FFF2-40B4-BE49-F238E27FC236}">
                  <a16:creationId xmlns:a16="http://schemas.microsoft.com/office/drawing/2014/main" id="{A2EDA3F2-6AF5-0B00-44C2-947F16E15A03}"/>
                </a:ext>
              </a:extLst>
            </p:cNvPr>
            <p:cNvSpPr/>
            <p:nvPr/>
          </p:nvSpPr>
          <p:spPr>
            <a:xfrm>
              <a:off x="6137434" y="7007185"/>
              <a:ext cx="4375190" cy="52673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0" i="0" u="none" strike="noStrike" cap="none" dirty="0">
                  <a:solidFill>
                    <a:schemeClr val="tx1"/>
                  </a:solidFill>
                  <a:latin typeface="Montserrat"/>
                  <a:ea typeface="Montserrat"/>
                  <a:cs typeface="Montserrat"/>
                  <a:sym typeface="Montserrat"/>
                </a:rPr>
                <a:t>Models microservice topology as a graph to make more informed scaling decisions.</a:t>
              </a:r>
              <a:endParaRPr sz="1600" b="0" i="0" u="none" strike="noStrike" cap="none" dirty="0">
                <a:solidFill>
                  <a:schemeClr val="tx1"/>
                </a:solidFill>
              </a:endParaRPr>
            </a:p>
          </p:txBody>
        </p:sp>
        <p:sp>
          <p:nvSpPr>
            <p:cNvPr id="100" name="Google Shape;200;p28">
              <a:extLst>
                <a:ext uri="{FF2B5EF4-FFF2-40B4-BE49-F238E27FC236}">
                  <a16:creationId xmlns:a16="http://schemas.microsoft.com/office/drawing/2014/main" id="{D69C6936-89C0-7250-EB46-C369028C1021}"/>
                </a:ext>
              </a:extLst>
            </p:cNvPr>
            <p:cNvSpPr/>
            <p:nvPr/>
          </p:nvSpPr>
          <p:spPr>
            <a:xfrm>
              <a:off x="10849332" y="7007185"/>
              <a:ext cx="3032760" cy="263366"/>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F4CAB8"/>
                </a:buClr>
                <a:buSzPts val="1250"/>
                <a:buFont typeface="Montserrat"/>
                <a:buNone/>
              </a:pPr>
              <a:r>
                <a:rPr lang="en-US" sz="1600" b="1" i="0" u="none" strike="noStrike" cap="none">
                  <a:solidFill>
                    <a:schemeClr val="tx1"/>
                  </a:solidFill>
                  <a:latin typeface="Montserrat"/>
                  <a:ea typeface="Montserrat"/>
                  <a:cs typeface="Montserrat"/>
                  <a:sym typeface="Montserrat"/>
                </a:rPr>
                <a:t>Kube-Knots</a:t>
              </a:r>
              <a:endParaRPr sz="1600" b="0" i="0" u="none" strike="noStrike" cap="none">
                <a:solidFill>
                  <a:schemeClr val="tx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500501"/>
            <a:ext cx="17916401" cy="1044397"/>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OVERVIEW OF THE SYSTEM</a:t>
            </a:r>
          </a:p>
        </p:txBody>
      </p:sp>
      <p:sp>
        <p:nvSpPr>
          <p:cNvPr id="10" name="Slide Number Placeholder 9">
            <a:extLst>
              <a:ext uri="{FF2B5EF4-FFF2-40B4-BE49-F238E27FC236}">
                <a16:creationId xmlns:a16="http://schemas.microsoft.com/office/drawing/2014/main" id="{346AB511-4693-5E8B-0948-96F9E2277EA7}"/>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12" name="Footer Placeholder 11">
            <a:extLst>
              <a:ext uri="{FF2B5EF4-FFF2-40B4-BE49-F238E27FC236}">
                <a16:creationId xmlns:a16="http://schemas.microsoft.com/office/drawing/2014/main" id="{8BA24FAA-420F-E7AE-8A7E-1AEA5D618372}"/>
              </a:ext>
            </a:extLst>
          </p:cNvPr>
          <p:cNvSpPr>
            <a:spLocks noGrp="1"/>
          </p:cNvSpPr>
          <p:nvPr>
            <p:ph type="ftr" sz="quarter" idx="11"/>
          </p:nvPr>
        </p:nvSpPr>
        <p:spPr>
          <a:xfrm>
            <a:off x="-152400" y="10174314"/>
            <a:ext cx="8304551" cy="240862"/>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a:p>
            <a:r>
              <a:rPr lang="en-US" dirty="0"/>
              <a:t>                                                                                                                                                                           </a:t>
            </a:r>
          </a:p>
        </p:txBody>
      </p:sp>
      <p:sp>
        <p:nvSpPr>
          <p:cNvPr id="11" name="TextBox 10">
            <a:extLst>
              <a:ext uri="{FF2B5EF4-FFF2-40B4-BE49-F238E27FC236}">
                <a16:creationId xmlns:a16="http://schemas.microsoft.com/office/drawing/2014/main" id="{D9C9EDCC-AF98-5C32-9868-6A2EF4579E24}"/>
              </a:ext>
            </a:extLst>
          </p:cNvPr>
          <p:cNvSpPr txBox="1"/>
          <p:nvPr/>
        </p:nvSpPr>
        <p:spPr>
          <a:xfrm>
            <a:off x="533400" y="1866900"/>
            <a:ext cx="16916400" cy="7540526"/>
          </a:xfrm>
          <a:prstGeom prst="rect">
            <a:avLst/>
          </a:prstGeom>
          <a:noFill/>
        </p:spPr>
        <p:txBody>
          <a:bodyPr wrap="square" rtlCol="0">
            <a:spAutoFit/>
          </a:bodyPr>
          <a:lstStyle/>
          <a:p>
            <a:r>
              <a:rPr lang="en-US" sz="4400" dirty="0">
                <a:latin typeface="Montserrat" panose="00000500000000000000" pitchFamily="2" charset="0"/>
              </a:rPr>
              <a:t>The core idea behind AURA is to allow each microservice to learn how its scaling decisions influence not only its own performance but also the performance of neighboring microservices within the application graph. Since modern microservice architectures often involve tightly coupled communication chains (e.g., frontend -&gt; API gateway -&gt; authentication -&gt; database), scaling a single service in isolation may result in bottlenecks or cost inefficiencies. AURA addresses this limitation by encouraging </a:t>
            </a:r>
            <a:r>
              <a:rPr lang="en-US" sz="4400" b="1" dirty="0">
                <a:latin typeface="Montserrat" panose="00000500000000000000" pitchFamily="2" charset="0"/>
              </a:rPr>
              <a:t>coordinated scaling policies</a:t>
            </a:r>
            <a:r>
              <a:rPr lang="en-US" sz="4400" dirty="0">
                <a:latin typeface="Montserrat" panose="00000500000000000000" pitchFamily="2" charset="0"/>
              </a:rPr>
              <a:t> derived from shared learning experiences.</a:t>
            </a:r>
            <a:endParaRPr lang="en-IN" sz="4400" dirty="0">
              <a:latin typeface="Montserrat"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91421" y="53321"/>
            <a:ext cx="18105149" cy="1135047"/>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 LITERATURE SURVEY</a:t>
            </a:r>
          </a:p>
        </p:txBody>
      </p:sp>
      <p:sp>
        <p:nvSpPr>
          <p:cNvPr id="10" name="Slide Number Placeholder 9">
            <a:extLst>
              <a:ext uri="{FF2B5EF4-FFF2-40B4-BE49-F238E27FC236}">
                <a16:creationId xmlns:a16="http://schemas.microsoft.com/office/drawing/2014/main" id="{5D92319E-F82F-38BB-DC6D-649154FE4C7D}"/>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12" name="Footer Placeholder 11">
            <a:extLst>
              <a:ext uri="{FF2B5EF4-FFF2-40B4-BE49-F238E27FC236}">
                <a16:creationId xmlns:a16="http://schemas.microsoft.com/office/drawing/2014/main" id="{36050ACE-758D-94B2-720C-8D24C68E1A9E}"/>
              </a:ext>
            </a:extLst>
          </p:cNvPr>
          <p:cNvSpPr>
            <a:spLocks noGrp="1"/>
          </p:cNvSpPr>
          <p:nvPr>
            <p:ph type="ftr" sz="quarter" idx="11"/>
          </p:nvPr>
        </p:nvSpPr>
        <p:spPr>
          <a:xfrm>
            <a:off x="838200" y="9756057"/>
            <a:ext cx="7086600" cy="365125"/>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11" name="Picture 10">
            <a:extLst>
              <a:ext uri="{FF2B5EF4-FFF2-40B4-BE49-F238E27FC236}">
                <a16:creationId xmlns:a16="http://schemas.microsoft.com/office/drawing/2014/main" id="{5C563402-312F-E3C7-1E4B-323152CCCED6}"/>
              </a:ext>
            </a:extLst>
          </p:cNvPr>
          <p:cNvPicPr>
            <a:picLocks noChangeAspect="1"/>
          </p:cNvPicPr>
          <p:nvPr/>
        </p:nvPicPr>
        <p:blipFill>
          <a:blip r:embed="rId4"/>
          <a:stretch>
            <a:fillRect/>
          </a:stretch>
        </p:blipFill>
        <p:spPr>
          <a:xfrm>
            <a:off x="1295395" y="1106015"/>
            <a:ext cx="15697200" cy="80749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EBBA-9034-7E18-037C-B4F07824229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E54476C-910B-5C09-51DB-1DC066EAE7A3}"/>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239DD359-F872-5786-EFF8-FC1926412AB3}"/>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5E41ACC6-64CB-CB05-DCEA-F63789306113}"/>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1F731739-FB0E-E26F-512C-67CAFD5439C8}"/>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BEDA34C7-7F39-8A7B-EC68-06A9D56DDE68}"/>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A38B0060-F8E8-1D61-A1E4-1A0157FF653C}"/>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10" name="Slide Number Placeholder 9">
            <a:extLst>
              <a:ext uri="{FF2B5EF4-FFF2-40B4-BE49-F238E27FC236}">
                <a16:creationId xmlns:a16="http://schemas.microsoft.com/office/drawing/2014/main" id="{9A96C77B-A80B-149E-B704-782858DF8C5F}"/>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12" name="Footer Placeholder 11">
            <a:extLst>
              <a:ext uri="{FF2B5EF4-FFF2-40B4-BE49-F238E27FC236}">
                <a16:creationId xmlns:a16="http://schemas.microsoft.com/office/drawing/2014/main" id="{344F1F18-F5B5-D7A4-42A7-186C2053B304}"/>
              </a:ext>
            </a:extLst>
          </p:cNvPr>
          <p:cNvSpPr>
            <a:spLocks noGrp="1"/>
          </p:cNvSpPr>
          <p:nvPr>
            <p:ph type="ftr" sz="quarter" idx="11"/>
          </p:nvPr>
        </p:nvSpPr>
        <p:spPr>
          <a:xfrm>
            <a:off x="838200" y="9870091"/>
            <a:ext cx="7086600" cy="210533"/>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15" name="Picture 14">
            <a:extLst>
              <a:ext uri="{FF2B5EF4-FFF2-40B4-BE49-F238E27FC236}">
                <a16:creationId xmlns:a16="http://schemas.microsoft.com/office/drawing/2014/main" id="{1461435A-DF59-4D30-C9E7-EB56BAB81E74}"/>
              </a:ext>
            </a:extLst>
          </p:cNvPr>
          <p:cNvPicPr>
            <a:picLocks noChangeAspect="1"/>
          </p:cNvPicPr>
          <p:nvPr/>
        </p:nvPicPr>
        <p:blipFill>
          <a:blip r:embed="rId4"/>
          <a:stretch>
            <a:fillRect/>
          </a:stretch>
        </p:blipFill>
        <p:spPr>
          <a:xfrm>
            <a:off x="2349716" y="416909"/>
            <a:ext cx="13588568" cy="8724899"/>
          </a:xfrm>
          <a:prstGeom prst="rect">
            <a:avLst/>
          </a:prstGeom>
        </p:spPr>
      </p:pic>
    </p:spTree>
    <p:extLst>
      <p:ext uri="{BB962C8B-B14F-4D97-AF65-F5344CB8AC3E}">
        <p14:creationId xmlns:p14="http://schemas.microsoft.com/office/powerpoint/2010/main" val="3055469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330975" y="274091"/>
            <a:ext cx="16515750" cy="1670104"/>
          </a:xfrm>
          <a:prstGeom prst="rect">
            <a:avLst/>
          </a:prstGeom>
        </p:spPr>
        <p:txBody>
          <a:bodyPr lIns="0" tIns="0" rIns="0" bIns="0" rtlCol="0" anchor="t">
            <a:spAutoFit/>
          </a:bodyPr>
          <a:lstStyle/>
          <a:p>
            <a:pPr algn="ctr">
              <a:lnSpc>
                <a:spcPts val="8100"/>
              </a:lnSpc>
            </a:pPr>
            <a:r>
              <a:rPr lang="en-US" sz="6750" b="1" dirty="0">
                <a:solidFill>
                  <a:srgbClr val="000000"/>
                </a:solidFill>
                <a:latin typeface="Times New Roman Bold"/>
                <a:ea typeface="Times New Roman Bold"/>
                <a:cs typeface="Times New Roman Bold"/>
                <a:sym typeface="Times New Roman Bold"/>
              </a:rPr>
              <a:t>INFERENCES FROM LITERATURE SURVEY</a:t>
            </a:r>
          </a:p>
        </p:txBody>
      </p:sp>
      <p:sp>
        <p:nvSpPr>
          <p:cNvPr id="10" name="Slide Number Placeholder 9">
            <a:extLst>
              <a:ext uri="{FF2B5EF4-FFF2-40B4-BE49-F238E27FC236}">
                <a16:creationId xmlns:a16="http://schemas.microsoft.com/office/drawing/2014/main" id="{588FFB9D-1679-22A6-487B-7F3DF6D22562}"/>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12" name="Footer Placeholder 11">
            <a:extLst>
              <a:ext uri="{FF2B5EF4-FFF2-40B4-BE49-F238E27FC236}">
                <a16:creationId xmlns:a16="http://schemas.microsoft.com/office/drawing/2014/main" id="{6DE013DD-3D38-55C4-CA2F-B9AEBC8A3048}"/>
              </a:ext>
            </a:extLst>
          </p:cNvPr>
          <p:cNvSpPr>
            <a:spLocks noGrp="1"/>
          </p:cNvSpPr>
          <p:nvPr>
            <p:ph type="ftr" sz="quarter" idx="11"/>
          </p:nvPr>
        </p:nvSpPr>
        <p:spPr>
          <a:xfrm>
            <a:off x="-346587" y="9794875"/>
            <a:ext cx="8118987" cy="571500"/>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13" name="Rectangle 1">
            <a:extLst>
              <a:ext uri="{FF2B5EF4-FFF2-40B4-BE49-F238E27FC236}">
                <a16:creationId xmlns:a16="http://schemas.microsoft.com/office/drawing/2014/main" id="{58EEA4EF-B484-5D32-75A2-77F01F95ADFE}"/>
              </a:ext>
            </a:extLst>
          </p:cNvPr>
          <p:cNvSpPr>
            <a:spLocks noChangeArrowheads="1"/>
          </p:cNvSpPr>
          <p:nvPr/>
        </p:nvSpPr>
        <p:spPr bwMode="auto">
          <a:xfrm>
            <a:off x="1447800" y="2462715"/>
            <a:ext cx="16658444"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ontserrat" panose="00000500000000000000" pitchFamily="2" charset="0"/>
              </a:rPr>
              <a:t>Gogineni, 2024</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Demonstrates that traditional </a:t>
            </a:r>
            <a:r>
              <a:rPr kumimoji="0" lang="en-US" altLang="en-US" sz="2800" i="0" u="none" strike="noStrike" cap="none" normalizeH="0" baseline="0" dirty="0" err="1">
                <a:ln>
                  <a:noFill/>
                </a:ln>
                <a:solidFill>
                  <a:schemeClr val="tx1"/>
                </a:solidFill>
                <a:effectLst/>
                <a:latin typeface="Montserrat" panose="00000500000000000000" pitchFamily="2" charset="0"/>
              </a:rPr>
              <a:t>autoscalers</a:t>
            </a:r>
            <a:r>
              <a:rPr kumimoji="0" lang="en-US" altLang="en-US" sz="2800" i="0" u="none" strike="noStrike" cap="none" normalizeH="0" baseline="0" dirty="0">
                <a:ln>
                  <a:noFill/>
                </a:ln>
                <a:solidFill>
                  <a:schemeClr val="tx1"/>
                </a:solidFill>
                <a:effectLst/>
                <a:latin typeface="Montserrat" panose="00000500000000000000" pitchFamily="2" charset="0"/>
              </a:rPr>
              <a:t> like HPA suffer from miscoordination, as services scale independently without considering dependencies.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ontserrat" panose="00000500000000000000" pitchFamily="2" charset="0"/>
              </a:rPr>
              <a:t>Tran et al., 2022</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Identifies key research gaps: lack of inter-service coordination and the sim-to-real gap in autoscaling solutions.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ontserrat" panose="00000500000000000000" pitchFamily="2" charset="0"/>
              </a:rPr>
              <a:t>Zhao et al., 2022 (HRL)</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Introduces a hierarchical RL framework with a central critic and local agents for better scalability and coordinated decision-making.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ontserrat" panose="00000500000000000000" pitchFamily="2" charset="0"/>
              </a:rPr>
              <a:t>Boden et al., 2023 (Kube-Knots)</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Uses Graph Neural Networks (GNNs) with DRL to model microservice dependencies and enable topology-aware autoscaling.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ontserrat" panose="00000500000000000000" pitchFamily="2" charset="0"/>
              </a:rPr>
              <a:t>Rashid et al., 2018 (QMIX)</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Proposes value decomposition for multi-agent RL, enabling centralized training and decentralized execution in cooperative systems.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B4F80-B579-297D-32BC-53345397D6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326CCDE-BE11-68C6-0F2D-17C68B89745B}"/>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A5597D67-766B-0F8B-40D8-396A24C809C5}"/>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E697AD32-00DA-CEFB-F495-DDDBA998FBE3}"/>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E7AE94FD-B8F3-F909-4739-7AC74401B4A4}"/>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A89822F5-1977-25BF-599D-AF296B8E00D5}"/>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2C22A14A-27F8-DFB1-A939-60F20F6A3439}"/>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10" name="Slide Number Placeholder 9">
            <a:extLst>
              <a:ext uri="{FF2B5EF4-FFF2-40B4-BE49-F238E27FC236}">
                <a16:creationId xmlns:a16="http://schemas.microsoft.com/office/drawing/2014/main" id="{BE9B00DD-AA29-922C-CCD8-A3F5F2DF6506}"/>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12" name="Footer Placeholder 11">
            <a:extLst>
              <a:ext uri="{FF2B5EF4-FFF2-40B4-BE49-F238E27FC236}">
                <a16:creationId xmlns:a16="http://schemas.microsoft.com/office/drawing/2014/main" id="{78B12B4F-5D75-F3A3-EBA3-DAA35AA4063A}"/>
              </a:ext>
            </a:extLst>
          </p:cNvPr>
          <p:cNvSpPr>
            <a:spLocks noGrp="1"/>
          </p:cNvSpPr>
          <p:nvPr>
            <p:ph type="ftr" sz="quarter" idx="11"/>
          </p:nvPr>
        </p:nvSpPr>
        <p:spPr>
          <a:xfrm>
            <a:off x="-346587" y="9794875"/>
            <a:ext cx="8118987" cy="571500"/>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9" name="Rectangle 1">
            <a:extLst>
              <a:ext uri="{FF2B5EF4-FFF2-40B4-BE49-F238E27FC236}">
                <a16:creationId xmlns:a16="http://schemas.microsoft.com/office/drawing/2014/main" id="{4DB2EA00-7DC8-BBC6-8C40-873365A06075}"/>
              </a:ext>
            </a:extLst>
          </p:cNvPr>
          <p:cNvSpPr>
            <a:spLocks noChangeArrowheads="1"/>
          </p:cNvSpPr>
          <p:nvPr/>
        </p:nvSpPr>
        <p:spPr bwMode="auto">
          <a:xfrm>
            <a:off x="838200" y="1678457"/>
            <a:ext cx="1623060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Montserrat" panose="00000500000000000000" pitchFamily="2" charset="0"/>
              </a:rPr>
              <a:t>6. Qiu et al., 2023 (AWARE)</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Addresses the sim-to-real gap using offline pre-training + online fine-tuning for practical deployment in real systems. </a:t>
            </a:r>
          </a:p>
          <a:p>
            <a:pPr marR="0" lvl="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Montserrat" panose="00000500000000000000" pitchFamily="2" charset="0"/>
              </a:rPr>
              <a:t>7. Xu et al., 2022 (</a:t>
            </a:r>
            <a:r>
              <a:rPr kumimoji="0" lang="en-US" altLang="en-US" sz="2800" b="1" i="0" u="none" strike="noStrike" cap="none" normalizeH="0" baseline="0" dirty="0" err="1">
                <a:ln>
                  <a:noFill/>
                </a:ln>
                <a:solidFill>
                  <a:schemeClr val="tx1"/>
                </a:solidFill>
                <a:effectLst/>
                <a:latin typeface="Montserrat" panose="00000500000000000000" pitchFamily="2" charset="0"/>
              </a:rPr>
              <a:t>CoScal</a:t>
            </a:r>
            <a:r>
              <a:rPr kumimoji="0" lang="en-US" altLang="en-US" sz="2800" b="1" i="0" u="none" strike="noStrike" cap="none" normalizeH="0" baseline="0" dirty="0">
                <a:ln>
                  <a:noFill/>
                </a:ln>
                <a:solidFill>
                  <a:schemeClr val="tx1"/>
                </a:solidFill>
                <a:effectLst/>
                <a:latin typeface="Montserrat" panose="00000500000000000000" pitchFamily="2" charset="0"/>
              </a:rPr>
              <a:t>)</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Introduces multi-dimensional autoscaling (horizontal, vertical, placement) using PPO for improved resource optimization. </a:t>
            </a:r>
          </a:p>
          <a:p>
            <a:pPr marR="0" lvl="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Montserrat" panose="00000500000000000000" pitchFamily="2" charset="0"/>
              </a:rPr>
              <a:t>8. Ghasemi &amp; Ebrahimi, 2024</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Provides foundational understanding of RL concepts like MDPs, Q-learning, and Actor-Critic, supporting advanced approaches. </a:t>
            </a:r>
          </a:p>
          <a:p>
            <a:pPr marR="0" lvl="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Montserrat" panose="00000500000000000000" pitchFamily="2" charset="0"/>
              </a:rPr>
              <a:t>9. Hu et al., 2024 (MSARS)</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Combines meta-learning, RL (TD3), and GCNs to achieve fast adaptation and SLO-aware coordinated autoscaling. </a:t>
            </a:r>
          </a:p>
          <a:p>
            <a:pPr marR="0" lvl="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Montserrat" panose="00000500000000000000" pitchFamily="2" charset="0"/>
              </a:rPr>
              <a:t>10. Lowe et al., 2017 (MADDPG)</a:t>
            </a:r>
            <a:br>
              <a:rPr kumimoji="0" lang="en-US" altLang="en-US" sz="2800" b="0" i="0" u="none" strike="noStrike" cap="none" normalizeH="0" baseline="0" dirty="0">
                <a:ln>
                  <a:noFill/>
                </a:ln>
                <a:solidFill>
                  <a:schemeClr val="tx1"/>
                </a:solidFill>
                <a:effectLst/>
                <a:latin typeface="Montserrat" panose="00000500000000000000" pitchFamily="2" charset="0"/>
              </a:rPr>
            </a:br>
            <a:r>
              <a:rPr kumimoji="0" lang="en-US" altLang="en-US" sz="2800" i="0" u="none" strike="noStrike" cap="none" normalizeH="0" baseline="0" dirty="0">
                <a:ln>
                  <a:noFill/>
                </a:ln>
                <a:solidFill>
                  <a:schemeClr val="tx1"/>
                </a:solidFill>
                <a:effectLst/>
                <a:latin typeface="Montserrat" panose="00000500000000000000" pitchFamily="2" charset="0"/>
              </a:rPr>
              <a:t>Extends actor-critic methods to multi-agent settings using a centralized critic to handle environment non-stationarity</a:t>
            </a:r>
            <a:r>
              <a:rPr kumimoji="0" lang="en-US" altLang="en-US" sz="2800" b="0" i="0" u="none" strike="noStrike" cap="none" normalizeH="0" baseline="0" dirty="0">
                <a:ln>
                  <a:noFill/>
                </a:ln>
                <a:solidFill>
                  <a:schemeClr val="tx1"/>
                </a:solidFill>
                <a:effectLst/>
                <a:latin typeface="Montserrat" panose="00000500000000000000" pitchFamily="2" charset="0"/>
              </a:rPr>
              <a:t>. </a:t>
            </a:r>
          </a:p>
        </p:txBody>
      </p:sp>
    </p:spTree>
    <p:extLst>
      <p:ext uri="{BB962C8B-B14F-4D97-AF65-F5344CB8AC3E}">
        <p14:creationId xmlns:p14="http://schemas.microsoft.com/office/powerpoint/2010/main" val="1187932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15901683" y="547688"/>
            <a:ext cx="1975961" cy="1045845"/>
            <a:chOff x="0" y="0"/>
            <a:chExt cx="2634615" cy="1394460"/>
          </a:xfrm>
        </p:grpSpPr>
        <p:sp>
          <p:nvSpPr>
            <p:cNvPr id="5" name="Freeform 5"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grpSp>
        <p:nvGrpSpPr>
          <p:cNvPr id="6" name="Group 6"/>
          <p:cNvGrpSpPr/>
          <p:nvPr/>
        </p:nvGrpSpPr>
        <p:grpSpPr>
          <a:xfrm>
            <a:off x="0" y="0"/>
            <a:ext cx="18288000" cy="1631252"/>
            <a:chOff x="0" y="0"/>
            <a:chExt cx="24384000" cy="2175002"/>
          </a:xfrm>
        </p:grpSpPr>
        <p:sp>
          <p:nvSpPr>
            <p:cNvPr id="7" name="Freeform 7"/>
            <p:cNvSpPr/>
            <p:nvPr/>
          </p:nvSpPr>
          <p:spPr>
            <a:xfrm>
              <a:off x="0" y="0"/>
              <a:ext cx="24384000" cy="2175000"/>
            </a:xfrm>
            <a:custGeom>
              <a:avLst/>
              <a:gdLst/>
              <a:ahLst/>
              <a:cxnLst/>
              <a:rect l="l" t="t" r="r" b="b"/>
              <a:pathLst>
                <a:path w="24384000" h="2175000">
                  <a:moveTo>
                    <a:pt x="0" y="0"/>
                  </a:moveTo>
                  <a:lnTo>
                    <a:pt x="24384000" y="0"/>
                  </a:lnTo>
                  <a:lnTo>
                    <a:pt x="24384000" y="2175000"/>
                  </a:lnTo>
                  <a:lnTo>
                    <a:pt x="0" y="2175000"/>
                  </a:lnTo>
                  <a:close/>
                </a:path>
              </a:pathLst>
            </a:custGeom>
            <a:blipFill>
              <a:blip r:embed="rId4">
                <a:alphaModFix amt="0"/>
              </a:blip>
              <a:stretch>
                <a:fillRect t="-168447" b="-168447"/>
              </a:stretch>
            </a:blipFill>
          </p:spPr>
        </p:sp>
        <p:sp>
          <p:nvSpPr>
            <p:cNvPr id="8" name="TextBox 8"/>
            <p:cNvSpPr txBox="1"/>
            <p:nvPr/>
          </p:nvSpPr>
          <p:spPr>
            <a:xfrm>
              <a:off x="0" y="47625"/>
              <a:ext cx="24384000" cy="2127377"/>
            </a:xfrm>
            <a:prstGeom prst="rect">
              <a:avLst/>
            </a:prstGeom>
          </p:spPr>
          <p:txBody>
            <a:bodyPr lIns="0" tIns="0" rIns="0" bIns="0" rtlCol="0" anchor="ctr"/>
            <a:lstStyle/>
            <a:p>
              <a:pPr algn="ctr">
                <a:lnSpc>
                  <a:spcPts val="7290"/>
                </a:lnSpc>
              </a:pPr>
              <a:r>
                <a:rPr lang="en-US" sz="6750" b="1" u="sng" dirty="0">
                  <a:solidFill>
                    <a:srgbClr val="000000"/>
                  </a:solidFill>
                  <a:latin typeface="Times New Roman Bold"/>
                  <a:ea typeface="Times New Roman Bold"/>
                  <a:cs typeface="Times New Roman Bold"/>
                  <a:sym typeface="Times New Roman Bold"/>
                </a:rPr>
                <a:t>PROPOSED SYSTEM</a:t>
              </a:r>
            </a:p>
          </p:txBody>
        </p:sp>
      </p:grpSp>
      <p:sp>
        <p:nvSpPr>
          <p:cNvPr id="10" name="Slide Number Placeholder 9">
            <a:extLst>
              <a:ext uri="{FF2B5EF4-FFF2-40B4-BE49-F238E27FC236}">
                <a16:creationId xmlns:a16="http://schemas.microsoft.com/office/drawing/2014/main" id="{6F6D0157-FD7F-8C8F-60D0-D59CB2291A39}"/>
              </a:ext>
            </a:extLst>
          </p:cNvPr>
          <p:cNvSpPr>
            <a:spLocks noGrp="1"/>
          </p:cNvSpPr>
          <p:nvPr>
            <p:ph type="sldNum" sz="quarter" idx="12"/>
          </p:nvPr>
        </p:nvSpPr>
        <p:spPr/>
        <p:txBody>
          <a:bodyPr/>
          <a:lstStyle/>
          <a:p>
            <a:fld id="{B6F15528-21DE-4FAA-801E-634DDDAF4B2B}" type="slidenum">
              <a:rPr lang="en-US" smtClean="0">
                <a:solidFill>
                  <a:schemeClr val="bg1"/>
                </a:solidFill>
              </a:rPr>
              <a:pPr/>
              <a:t>11</a:t>
            </a:fld>
            <a:endParaRPr lang="en-US" dirty="0">
              <a:solidFill>
                <a:schemeClr val="bg1"/>
              </a:solidFill>
            </a:endParaRPr>
          </a:p>
        </p:txBody>
      </p:sp>
      <p:sp>
        <p:nvSpPr>
          <p:cNvPr id="13" name="Footer Placeholder 12">
            <a:extLst>
              <a:ext uri="{FF2B5EF4-FFF2-40B4-BE49-F238E27FC236}">
                <a16:creationId xmlns:a16="http://schemas.microsoft.com/office/drawing/2014/main" id="{8A386AC5-04B7-A7F4-358C-CFB1A8A44A0C}"/>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11" name="Google Shape;207;p29" descr="preencoded.png">
            <a:extLst>
              <a:ext uri="{FF2B5EF4-FFF2-40B4-BE49-F238E27FC236}">
                <a16:creationId xmlns:a16="http://schemas.microsoft.com/office/drawing/2014/main" id="{CCA69864-9377-120B-C40F-7559F33B02F4}"/>
              </a:ext>
            </a:extLst>
          </p:cNvPr>
          <p:cNvPicPr preferRelativeResize="0"/>
          <p:nvPr/>
        </p:nvPicPr>
        <p:blipFill rotWithShape="1">
          <a:blip r:embed="rId5">
            <a:alphaModFix/>
          </a:blip>
          <a:srcRect/>
          <a:stretch/>
        </p:blipFill>
        <p:spPr>
          <a:xfrm>
            <a:off x="11985725" y="1865476"/>
            <a:ext cx="5692675" cy="6800914"/>
          </a:xfrm>
          <a:prstGeom prst="rect">
            <a:avLst/>
          </a:prstGeom>
          <a:noFill/>
          <a:ln>
            <a:noFill/>
          </a:ln>
        </p:spPr>
      </p:pic>
      <p:sp>
        <p:nvSpPr>
          <p:cNvPr id="12" name="Google Shape;208;p29">
            <a:extLst>
              <a:ext uri="{FF2B5EF4-FFF2-40B4-BE49-F238E27FC236}">
                <a16:creationId xmlns:a16="http://schemas.microsoft.com/office/drawing/2014/main" id="{4998AB76-2D94-00CA-EA20-529CF12AFA85}"/>
              </a:ext>
            </a:extLst>
          </p:cNvPr>
          <p:cNvSpPr/>
          <p:nvPr/>
        </p:nvSpPr>
        <p:spPr>
          <a:xfrm>
            <a:off x="749260" y="1232416"/>
            <a:ext cx="2854643" cy="356830"/>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FFB393"/>
              </a:buClr>
              <a:buSzPts val="2200"/>
              <a:buFont typeface="Brygada 1918"/>
              <a:buNone/>
            </a:pPr>
            <a:endParaRPr sz="2200" b="0" i="0" u="none" strike="noStrike" cap="none" dirty="0">
              <a:solidFill>
                <a:schemeClr val="tx1"/>
              </a:solidFill>
            </a:endParaRPr>
          </a:p>
        </p:txBody>
      </p:sp>
      <p:grpSp>
        <p:nvGrpSpPr>
          <p:cNvPr id="19" name="Group 18">
            <a:extLst>
              <a:ext uri="{FF2B5EF4-FFF2-40B4-BE49-F238E27FC236}">
                <a16:creationId xmlns:a16="http://schemas.microsoft.com/office/drawing/2014/main" id="{1E53377D-877F-926A-5080-341E22F7A4D6}"/>
              </a:ext>
            </a:extLst>
          </p:cNvPr>
          <p:cNvGrpSpPr/>
          <p:nvPr/>
        </p:nvGrpSpPr>
        <p:grpSpPr>
          <a:xfrm>
            <a:off x="323664" y="-952500"/>
            <a:ext cx="11944536" cy="10007084"/>
            <a:chOff x="738050" y="1682022"/>
            <a:chExt cx="7491550" cy="6052278"/>
          </a:xfrm>
        </p:grpSpPr>
        <p:sp>
          <p:nvSpPr>
            <p:cNvPr id="14" name="Google Shape;209;p29">
              <a:extLst>
                <a:ext uri="{FF2B5EF4-FFF2-40B4-BE49-F238E27FC236}">
                  <a16:creationId xmlns:a16="http://schemas.microsoft.com/office/drawing/2014/main" id="{87BBC51C-98A0-C3D4-0350-1D50AC499589}"/>
                </a:ext>
              </a:extLst>
            </p:cNvPr>
            <p:cNvSpPr/>
            <p:nvPr/>
          </p:nvSpPr>
          <p:spPr>
            <a:xfrm>
              <a:off x="738050" y="1682022"/>
              <a:ext cx="6548199" cy="1427083"/>
            </a:xfrm>
            <a:prstGeom prst="rect">
              <a:avLst/>
            </a:prstGeom>
            <a:noFill/>
            <a:ln>
              <a:noFill/>
            </a:ln>
          </p:spPr>
          <p:txBody>
            <a:bodyPr spcFirstLastPara="1" wrap="square" lIns="0" tIns="0" rIns="0" bIns="0" anchor="t" anchorCtr="0">
              <a:noAutofit/>
            </a:bodyPr>
            <a:lstStyle/>
            <a:p>
              <a:pPr marL="0" marR="0" lvl="0" indent="0" algn="l" rtl="0">
                <a:lnSpc>
                  <a:spcPct val="125842"/>
                </a:lnSpc>
                <a:spcBef>
                  <a:spcPts val="0"/>
                </a:spcBef>
                <a:spcAft>
                  <a:spcPts val="0"/>
                </a:spcAft>
                <a:buClr>
                  <a:srgbClr val="FFB393"/>
                </a:buClr>
                <a:buSzPts val="4450"/>
                <a:buFont typeface="Brygada 1918"/>
                <a:buNone/>
              </a:pPr>
              <a:endParaRPr sz="2800" b="0" i="0" u="none" strike="noStrike" cap="none" dirty="0">
                <a:solidFill>
                  <a:schemeClr val="tx1"/>
                </a:solidFill>
              </a:endParaRPr>
            </a:p>
          </p:txBody>
        </p:sp>
        <p:sp>
          <p:nvSpPr>
            <p:cNvPr id="15" name="Google Shape;210;p29">
              <a:extLst>
                <a:ext uri="{FF2B5EF4-FFF2-40B4-BE49-F238E27FC236}">
                  <a16:creationId xmlns:a16="http://schemas.microsoft.com/office/drawing/2014/main" id="{53C75FBB-9D2F-8396-381F-D49D9A93EDA3}"/>
                </a:ext>
              </a:extLst>
            </p:cNvPr>
            <p:cNvSpPr/>
            <p:nvPr/>
          </p:nvSpPr>
          <p:spPr>
            <a:xfrm>
              <a:off x="749260" y="3423047"/>
              <a:ext cx="6548199" cy="1027271"/>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800" b="1" i="0" u="none" strike="noStrike" cap="none" dirty="0">
                  <a:solidFill>
                    <a:schemeClr val="tx1"/>
                  </a:solidFill>
                  <a:latin typeface="Montserrat"/>
                  <a:ea typeface="Montserrat"/>
                  <a:cs typeface="Montserrat"/>
                  <a:sym typeface="Montserrat"/>
                </a:rPr>
                <a:t>Multi-Agent </a:t>
              </a:r>
              <a:r>
                <a:rPr lang="en-US" sz="2800" b="1" i="0" u="none" strike="noStrike" cap="none" dirty="0" err="1">
                  <a:solidFill>
                    <a:schemeClr val="tx1"/>
                  </a:solidFill>
                  <a:latin typeface="Montserrat"/>
                  <a:ea typeface="Montserrat"/>
                  <a:cs typeface="Montserrat"/>
                  <a:sym typeface="Montserrat"/>
                </a:rPr>
                <a:t>Autoscaler</a:t>
              </a:r>
              <a:r>
                <a:rPr lang="en-US" sz="2800" b="1" i="0" u="none" strike="noStrike" cap="none" dirty="0">
                  <a:solidFill>
                    <a:schemeClr val="tx1"/>
                  </a:solidFill>
                  <a:latin typeface="Montserrat"/>
                  <a:ea typeface="Montserrat"/>
                  <a:cs typeface="Montserrat"/>
                  <a:sym typeface="Montserrat"/>
                </a:rPr>
                <a:t> (AURA):</a:t>
              </a:r>
              <a:r>
                <a:rPr lang="en-US" sz="2800" b="0" i="0" u="none" strike="noStrike" cap="none" dirty="0">
                  <a:solidFill>
                    <a:schemeClr val="tx1"/>
                  </a:solidFill>
                  <a:latin typeface="Montserrat"/>
                  <a:ea typeface="Montserrat"/>
                  <a:cs typeface="Montserrat"/>
                  <a:sym typeface="Montserrat"/>
                </a:rPr>
                <a:t> We treat each microservice as an intelligent agent that makes its own scaling decisions.</a:t>
              </a:r>
              <a:endParaRPr sz="2800" b="0" i="0" u="none" strike="noStrike" cap="none" dirty="0">
                <a:solidFill>
                  <a:schemeClr val="tx1"/>
                </a:solidFill>
              </a:endParaRPr>
            </a:p>
          </p:txBody>
        </p:sp>
        <p:sp>
          <p:nvSpPr>
            <p:cNvPr id="16" name="Google Shape;211;p29">
              <a:extLst>
                <a:ext uri="{FF2B5EF4-FFF2-40B4-BE49-F238E27FC236}">
                  <a16:creationId xmlns:a16="http://schemas.microsoft.com/office/drawing/2014/main" id="{F3A575F2-9B93-64E3-8BCF-C2F1E8997FDC}"/>
                </a:ext>
              </a:extLst>
            </p:cNvPr>
            <p:cNvSpPr/>
            <p:nvPr/>
          </p:nvSpPr>
          <p:spPr>
            <a:xfrm>
              <a:off x="749260" y="4525208"/>
              <a:ext cx="6548199" cy="1027271"/>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800" b="1" i="0" u="none" strike="noStrike" cap="none" dirty="0">
                  <a:solidFill>
                    <a:schemeClr val="tx1"/>
                  </a:solidFill>
                  <a:latin typeface="Montserrat"/>
                  <a:ea typeface="Montserrat"/>
                  <a:cs typeface="Montserrat"/>
                  <a:sym typeface="Montserrat"/>
                </a:rPr>
                <a:t>Cooperative Learning via QMIX/MADDPG:</a:t>
              </a:r>
              <a:r>
                <a:rPr lang="en-US" sz="2800" b="0" i="0" u="none" strike="noStrike" cap="none" dirty="0">
                  <a:solidFill>
                    <a:schemeClr val="tx1"/>
                  </a:solidFill>
                  <a:latin typeface="Montserrat"/>
                  <a:ea typeface="Montserrat"/>
                  <a:cs typeface="Montserrat"/>
                  <a:sym typeface="Montserrat"/>
                </a:rPr>
                <a:t> Agents learn to coordinate their actions to </a:t>
              </a:r>
              <a:r>
                <a:rPr lang="en-US" sz="2800" b="0" i="0" u="none" strike="noStrike" cap="none" dirty="0" err="1">
                  <a:solidFill>
                    <a:schemeClr val="tx1"/>
                  </a:solidFill>
                  <a:latin typeface="Montserrat"/>
                  <a:ea typeface="Montserrat"/>
                  <a:cs typeface="Montserrat"/>
                  <a:sym typeface="Montserrat"/>
                </a:rPr>
                <a:t>optimise</a:t>
              </a:r>
              <a:r>
                <a:rPr lang="en-US" sz="2800" b="0" i="0" u="none" strike="noStrike" cap="none" dirty="0">
                  <a:solidFill>
                    <a:schemeClr val="tx1"/>
                  </a:solidFill>
                  <a:latin typeface="Montserrat"/>
                  <a:ea typeface="Montserrat"/>
                  <a:cs typeface="Montserrat"/>
                  <a:sym typeface="Montserrat"/>
                </a:rPr>
                <a:t> a shared, system-wide objective.</a:t>
              </a:r>
              <a:endParaRPr sz="2800" b="0" i="0" u="none" strike="noStrike" cap="none" dirty="0">
                <a:solidFill>
                  <a:schemeClr val="tx1"/>
                </a:solidFill>
              </a:endParaRPr>
            </a:p>
          </p:txBody>
        </p:sp>
        <p:sp>
          <p:nvSpPr>
            <p:cNvPr id="17" name="Google Shape;212;p29">
              <a:extLst>
                <a:ext uri="{FF2B5EF4-FFF2-40B4-BE49-F238E27FC236}">
                  <a16:creationId xmlns:a16="http://schemas.microsoft.com/office/drawing/2014/main" id="{3F18A040-63C6-7B10-D9A3-84A20C6AE8B6}"/>
                </a:ext>
              </a:extLst>
            </p:cNvPr>
            <p:cNvSpPr/>
            <p:nvPr/>
          </p:nvSpPr>
          <p:spPr>
            <a:xfrm>
              <a:off x="749260" y="5627370"/>
              <a:ext cx="7480340" cy="2106930"/>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800" b="1" i="0" u="none" strike="noStrike" cap="none" dirty="0" err="1">
                  <a:solidFill>
                    <a:schemeClr val="tx1"/>
                  </a:solidFill>
                  <a:latin typeface="Montserrat"/>
                  <a:ea typeface="Montserrat"/>
                  <a:cs typeface="Montserrat"/>
                  <a:sym typeface="Montserrat"/>
                </a:rPr>
                <a:t>Centralised</a:t>
              </a:r>
              <a:r>
                <a:rPr lang="en-US" sz="2800" b="1" i="0" u="none" strike="noStrike" cap="none" dirty="0">
                  <a:solidFill>
                    <a:schemeClr val="tx1"/>
                  </a:solidFill>
                  <a:latin typeface="Montserrat"/>
                  <a:ea typeface="Montserrat"/>
                  <a:cs typeface="Montserrat"/>
                  <a:sym typeface="Montserrat"/>
                </a:rPr>
                <a:t> Training, </a:t>
              </a:r>
              <a:r>
                <a:rPr lang="en-US" sz="2800" b="1" i="0" u="none" strike="noStrike" cap="none" dirty="0" err="1">
                  <a:solidFill>
                    <a:schemeClr val="tx1"/>
                  </a:solidFill>
                  <a:latin typeface="Montserrat"/>
                  <a:ea typeface="Montserrat"/>
                  <a:cs typeface="Montserrat"/>
                  <a:sym typeface="Montserrat"/>
                </a:rPr>
                <a:t>Decentralised</a:t>
              </a:r>
              <a:r>
                <a:rPr lang="en-US" sz="2800" b="1" i="0" u="none" strike="noStrike" cap="none" dirty="0">
                  <a:solidFill>
                    <a:schemeClr val="tx1"/>
                  </a:solidFill>
                  <a:latin typeface="Montserrat"/>
                  <a:ea typeface="Montserrat"/>
                  <a:cs typeface="Montserrat"/>
                  <a:sym typeface="Montserrat"/>
                </a:rPr>
                <a:t> Execution:</a:t>
              </a:r>
              <a:r>
                <a:rPr lang="en-US" sz="2800" b="0" i="0" u="none" strike="noStrike" cap="none" dirty="0">
                  <a:solidFill>
                    <a:schemeClr val="tx1"/>
                  </a:solidFill>
                  <a:latin typeface="Montserrat"/>
                  <a:ea typeface="Montserrat"/>
                  <a:cs typeface="Montserrat"/>
                  <a:sym typeface="Montserrat"/>
                </a:rPr>
                <a:t> A shared reward and critic are used during offline training to promote cooperative </a:t>
              </a:r>
              <a:r>
                <a:rPr lang="en-US" sz="2800" b="0" i="0" u="none" strike="noStrike" cap="none" dirty="0" err="1">
                  <a:solidFill>
                    <a:schemeClr val="tx1"/>
                  </a:solidFill>
                  <a:latin typeface="Montserrat"/>
                  <a:ea typeface="Montserrat"/>
                  <a:cs typeface="Montserrat"/>
                  <a:sym typeface="Montserrat"/>
                </a:rPr>
                <a:t>behaviour</a:t>
              </a:r>
              <a:r>
                <a:rPr lang="en-US" sz="2800" b="0" i="0" u="none" strike="noStrike" cap="none" dirty="0">
                  <a:solidFill>
                    <a:schemeClr val="tx1"/>
                  </a:solidFill>
                  <a:latin typeface="Montserrat"/>
                  <a:ea typeface="Montserrat"/>
                  <a:cs typeface="Montserrat"/>
                  <a:sym typeface="Montserrat"/>
                </a:rPr>
                <a:t>, whilst agents act independently in the live environment.</a:t>
              </a:r>
              <a:endParaRPr sz="2800" b="0" i="0" u="none" strike="noStrike" cap="none" dirty="0">
                <a:solidFill>
                  <a:schemeClr val="tx1"/>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83801"/>
            <a:ext cx="18044198" cy="877453"/>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SYSTEM ARCHITECTURE</a:t>
            </a:r>
          </a:p>
        </p:txBody>
      </p:sp>
      <p:sp>
        <p:nvSpPr>
          <p:cNvPr id="10" name="Slide Number Placeholder 9">
            <a:extLst>
              <a:ext uri="{FF2B5EF4-FFF2-40B4-BE49-F238E27FC236}">
                <a16:creationId xmlns:a16="http://schemas.microsoft.com/office/drawing/2014/main" id="{F6FB842D-5409-7CCF-84FD-4CF19AD6C537}"/>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14" name="TextBox 13">
            <a:extLst>
              <a:ext uri="{FF2B5EF4-FFF2-40B4-BE49-F238E27FC236}">
                <a16:creationId xmlns:a16="http://schemas.microsoft.com/office/drawing/2014/main" id="{EDBBD3B4-0AE3-FC49-D98B-B0670AB7F69F}"/>
              </a:ext>
            </a:extLst>
          </p:cNvPr>
          <p:cNvSpPr txBox="1"/>
          <p:nvPr/>
        </p:nvSpPr>
        <p:spPr>
          <a:xfrm>
            <a:off x="609600" y="1638300"/>
            <a:ext cx="17268044" cy="6986528"/>
          </a:xfrm>
          <a:prstGeom prst="rect">
            <a:avLst/>
          </a:prstGeom>
          <a:noFill/>
        </p:spPr>
        <p:txBody>
          <a:bodyPr wrap="square" rtlCol="0">
            <a:spAutoFit/>
          </a:bodyPr>
          <a:lstStyle/>
          <a:p>
            <a:r>
              <a:rPr lang="en-US" sz="2800" dirty="0"/>
              <a:t>The system architecture is structured around two distinct cycles, an offline training pipeline for the generation of </a:t>
            </a:r>
            <a:r>
              <a:rPr lang="en-US" sz="2800" dirty="0" err="1"/>
              <a:t>sla</a:t>
            </a:r>
            <a:r>
              <a:rPr lang="en-US" sz="2800" dirty="0"/>
              <a:t> policies and an online control loop for the decentralized execution and implementation of these learned policies. These cycles are supported by a unified monitoring and storage stack. The architecture has 5 components working together:</a:t>
            </a:r>
          </a:p>
          <a:p>
            <a:r>
              <a:rPr lang="en-US" sz="2800" dirty="0"/>
              <a:t>• Traffic Generator (Locust): a locustfile.py which simulates realistic traffic, generates load which are from different user personas. For example, there could be a web user who is just our site to just simple browser and there will be other users who add stuff to their cart.• Microservice Environment: Could be a 3 tier micro-serviced app, such as a frontend, backend and a database. All of these microservices are containerized and ran as pods, there is also a central pod agent.</a:t>
            </a:r>
          </a:p>
          <a:p>
            <a:r>
              <a:rPr lang="en-US" sz="2800" dirty="0"/>
              <a:t>• Monitoring &amp; Storage Stack: we use Prometheus as the metrics endpoint in our web-site. Prometheus basically sends data such as CPU usage, network bytes transmitted etc. Grafana is used for visualization of these data which is generated by Prometheus.</a:t>
            </a:r>
          </a:p>
          <a:p>
            <a:r>
              <a:rPr lang="en-US" sz="2800" dirty="0"/>
              <a:t>• Offline Training Pipeline: It is a simulation environment which is used for the agent to learn. It has a simulator, a petting Zoo , a QMIX Trainer and an Experiment Runner.</a:t>
            </a:r>
          </a:p>
          <a:p>
            <a:r>
              <a:rPr lang="en-US" sz="2800" dirty="0"/>
              <a:t>• Online Control Plane: This one makes decisions in real time. Performs Policy inference using trained policy and also the live metrics, which is then validated via a safety module</a:t>
            </a:r>
            <a:endParaRPr lang="en-IN" sz="2800" dirty="0"/>
          </a:p>
        </p:txBody>
      </p:sp>
      <p:pic>
        <p:nvPicPr>
          <p:cNvPr id="17" name="Picture 16">
            <a:extLst>
              <a:ext uri="{FF2B5EF4-FFF2-40B4-BE49-F238E27FC236}">
                <a16:creationId xmlns:a16="http://schemas.microsoft.com/office/drawing/2014/main" id="{2AE27235-33DB-A0AC-B7E6-50AC978796EC}"/>
              </a:ext>
            </a:extLst>
          </p:cNvPr>
          <p:cNvPicPr>
            <a:picLocks noChangeAspect="1"/>
          </p:cNvPicPr>
          <p:nvPr/>
        </p:nvPicPr>
        <p:blipFill>
          <a:blip r:embed="rId4"/>
          <a:stretch>
            <a:fillRect/>
          </a:stretch>
        </p:blipFill>
        <p:spPr>
          <a:xfrm>
            <a:off x="-31955" y="9373427"/>
            <a:ext cx="7388992" cy="14143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2" name="Google Shape;332;p35" descr="preencoded.png"/>
          <p:cNvPicPr preferRelativeResize="0"/>
          <p:nvPr/>
        </p:nvPicPr>
        <p:blipFill rotWithShape="1">
          <a:blip r:embed="rId3">
            <a:alphaModFix/>
          </a:blip>
          <a:srcRect/>
          <a:stretch/>
        </p:blipFill>
        <p:spPr>
          <a:xfrm>
            <a:off x="123392" y="132910"/>
            <a:ext cx="18041216" cy="10021180"/>
          </a:xfrm>
          <a:prstGeom prst="rect">
            <a:avLst/>
          </a:prstGeom>
          <a:noFill/>
          <a:ln>
            <a:noFill/>
          </a:ln>
        </p:spPr>
      </p:pic>
      <p:sp>
        <p:nvSpPr>
          <p:cNvPr id="331" name="Google Shape;331;p35"/>
          <p:cNvSpPr/>
          <p:nvPr/>
        </p:nvSpPr>
        <p:spPr>
          <a:xfrm>
            <a:off x="6556921" y="277415"/>
            <a:ext cx="5174159" cy="646808"/>
          </a:xfrm>
          <a:prstGeom prst="rect">
            <a:avLst/>
          </a:prstGeom>
          <a:noFill/>
          <a:ln>
            <a:noFill/>
          </a:ln>
        </p:spPr>
        <p:txBody>
          <a:bodyPr spcFirstLastPara="1" wrap="square" lIns="0" tIns="0" rIns="0" bIns="0" anchor="t" anchorCtr="0">
            <a:noAutofit/>
          </a:bodyPr>
          <a:lstStyle/>
          <a:p>
            <a:pPr>
              <a:lnSpc>
                <a:spcPct val="124615"/>
              </a:lnSpc>
              <a:buClr>
                <a:srgbClr val="FFB393"/>
              </a:buClr>
              <a:buSzPts val="3250"/>
            </a:pPr>
            <a:r>
              <a:rPr lang="en-US" sz="4063" b="1" dirty="0">
                <a:latin typeface="Brygada 1918"/>
                <a:ea typeface="Brygada 1918"/>
                <a:cs typeface="Brygada 1918"/>
                <a:sym typeface="Brygada 1918"/>
              </a:rPr>
              <a:t>System Architecture</a:t>
            </a:r>
            <a:endParaRPr sz="406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83801"/>
            <a:ext cx="18044198"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ALGORITHM</a:t>
            </a:r>
          </a:p>
        </p:txBody>
      </p:sp>
      <p:sp>
        <p:nvSpPr>
          <p:cNvPr id="10" name="Slide Number Placeholder 9">
            <a:extLst>
              <a:ext uri="{FF2B5EF4-FFF2-40B4-BE49-F238E27FC236}">
                <a16:creationId xmlns:a16="http://schemas.microsoft.com/office/drawing/2014/main" id="{4C651869-F53C-78CD-FFDC-22AE05DE9E08}"/>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12" name="Footer Placeholder 11">
            <a:extLst>
              <a:ext uri="{FF2B5EF4-FFF2-40B4-BE49-F238E27FC236}">
                <a16:creationId xmlns:a16="http://schemas.microsoft.com/office/drawing/2014/main" id="{514FC251-9334-1ED8-DB08-11D9D30950A2}"/>
              </a:ext>
            </a:extLst>
          </p:cNvPr>
          <p:cNvSpPr>
            <a:spLocks noGrp="1"/>
          </p:cNvSpPr>
          <p:nvPr>
            <p:ph type="ftr" sz="quarter" idx="11"/>
          </p:nvPr>
        </p:nvSpPr>
        <p:spPr>
          <a:xfrm>
            <a:off x="-228600" y="9651915"/>
            <a:ext cx="7772400" cy="857420"/>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grpSp>
        <p:nvGrpSpPr>
          <p:cNvPr id="9" name="Group 8">
            <a:extLst>
              <a:ext uri="{FF2B5EF4-FFF2-40B4-BE49-F238E27FC236}">
                <a16:creationId xmlns:a16="http://schemas.microsoft.com/office/drawing/2014/main" id="{8185BE85-D7A7-6EDC-1105-5D861CC8B0DF}"/>
              </a:ext>
            </a:extLst>
          </p:cNvPr>
          <p:cNvGrpSpPr/>
          <p:nvPr/>
        </p:nvGrpSpPr>
        <p:grpSpPr>
          <a:xfrm>
            <a:off x="749260" y="1523404"/>
            <a:ext cx="17128384" cy="7401428"/>
            <a:chOff x="749260" y="1523405"/>
            <a:chExt cx="13131879" cy="5216170"/>
          </a:xfrm>
        </p:grpSpPr>
        <p:sp>
          <p:nvSpPr>
            <p:cNvPr id="11" name="Google Shape;371;p39">
              <a:extLst>
                <a:ext uri="{FF2B5EF4-FFF2-40B4-BE49-F238E27FC236}">
                  <a16:creationId xmlns:a16="http://schemas.microsoft.com/office/drawing/2014/main" id="{46726075-C4CB-0AB7-2987-620DF731DEE9}"/>
                </a:ext>
              </a:extLst>
            </p:cNvPr>
            <p:cNvSpPr/>
            <p:nvPr/>
          </p:nvSpPr>
          <p:spPr>
            <a:xfrm>
              <a:off x="749260" y="1523405"/>
              <a:ext cx="11964829" cy="713542"/>
            </a:xfrm>
            <a:prstGeom prst="rect">
              <a:avLst/>
            </a:prstGeom>
            <a:noFill/>
            <a:ln>
              <a:noFill/>
            </a:ln>
          </p:spPr>
          <p:txBody>
            <a:bodyPr spcFirstLastPara="1" wrap="square" lIns="0" tIns="0" rIns="0" bIns="0" anchor="t" anchorCtr="0">
              <a:noAutofit/>
            </a:bodyPr>
            <a:lstStyle/>
            <a:p>
              <a:pPr marL="0" marR="0" lvl="0" indent="0" algn="l" rtl="0">
                <a:lnSpc>
                  <a:spcPct val="125842"/>
                </a:lnSpc>
                <a:spcBef>
                  <a:spcPts val="0"/>
                </a:spcBef>
                <a:spcAft>
                  <a:spcPts val="0"/>
                </a:spcAft>
                <a:buClr>
                  <a:srgbClr val="FFB393"/>
                </a:buClr>
                <a:buSzPts val="4450"/>
                <a:buFont typeface="Brygada 1918"/>
                <a:buNone/>
              </a:pPr>
              <a:r>
                <a:rPr lang="en-US" sz="2800" b="1" i="0" u="none" strike="noStrike" cap="none">
                  <a:solidFill>
                    <a:schemeClr val="tx1"/>
                  </a:solidFill>
                  <a:latin typeface="Brygada 1918"/>
                  <a:ea typeface="Brygada 1918"/>
                  <a:cs typeface="Brygada 1918"/>
                  <a:sym typeface="Brygada 1918"/>
                </a:rPr>
                <a:t>Algorithms (1/</a:t>
              </a:r>
              <a:r>
                <a:rPr lang="en-US" sz="2800" b="1">
                  <a:solidFill>
                    <a:schemeClr val="tx1"/>
                  </a:solidFill>
                  <a:latin typeface="Brygada 1918"/>
                  <a:ea typeface="Brygada 1918"/>
                  <a:cs typeface="Brygada 1918"/>
                  <a:sym typeface="Brygada 1918"/>
                </a:rPr>
                <a:t>2</a:t>
              </a:r>
              <a:r>
                <a:rPr lang="en-US" sz="2800" b="1" i="0" u="none" strike="noStrike" cap="none">
                  <a:solidFill>
                    <a:schemeClr val="tx1"/>
                  </a:solidFill>
                  <a:latin typeface="Brygada 1918"/>
                  <a:ea typeface="Brygada 1918"/>
                  <a:cs typeface="Brygada 1918"/>
                  <a:sym typeface="Brygada 1918"/>
                </a:rPr>
                <a:t>) - Baseline: Kubernetes HPA</a:t>
              </a:r>
              <a:endParaRPr sz="2800" b="0" i="0" u="none" strike="noStrike" cap="none">
                <a:solidFill>
                  <a:schemeClr val="tx1"/>
                </a:solidFill>
              </a:endParaRPr>
            </a:p>
          </p:txBody>
        </p:sp>
        <p:sp>
          <p:nvSpPr>
            <p:cNvPr id="13" name="Google Shape;372;p39">
              <a:extLst>
                <a:ext uri="{FF2B5EF4-FFF2-40B4-BE49-F238E27FC236}">
                  <a16:creationId xmlns:a16="http://schemas.microsoft.com/office/drawing/2014/main" id="{3D6C6298-1893-53D2-41EE-4ED1E3089E67}"/>
                </a:ext>
              </a:extLst>
            </p:cNvPr>
            <p:cNvSpPr/>
            <p:nvPr/>
          </p:nvSpPr>
          <p:spPr>
            <a:xfrm>
              <a:off x="749260" y="2322552"/>
              <a:ext cx="12138898" cy="570905"/>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FFB393"/>
                </a:buClr>
                <a:buSzPts val="3550"/>
                <a:buFont typeface="Brygada 1918"/>
                <a:buNone/>
              </a:pPr>
              <a:r>
                <a:rPr lang="en-US" sz="2800" b="1" i="0" u="none" strike="noStrike" cap="none" dirty="0">
                  <a:solidFill>
                    <a:schemeClr val="tx1"/>
                  </a:solidFill>
                  <a:latin typeface="Brygada 1918"/>
                  <a:ea typeface="Brygada 1918"/>
                  <a:cs typeface="Brygada 1918"/>
                  <a:sym typeface="Brygada 1918"/>
                </a:rPr>
                <a:t>Baseline 1: Kubernetes Horizontal Pod </a:t>
              </a:r>
              <a:r>
                <a:rPr lang="en-US" sz="2800" b="1" i="0" u="none" strike="noStrike" cap="none" dirty="0" err="1">
                  <a:solidFill>
                    <a:schemeClr val="tx1"/>
                  </a:solidFill>
                  <a:latin typeface="Brygada 1918"/>
                  <a:ea typeface="Brygada 1918"/>
                  <a:cs typeface="Brygada 1918"/>
                  <a:sym typeface="Brygada 1918"/>
                </a:rPr>
                <a:t>Autoscaler</a:t>
              </a:r>
              <a:r>
                <a:rPr lang="en-US" sz="2800" b="1" i="0" u="none" strike="noStrike" cap="none" dirty="0">
                  <a:solidFill>
                    <a:schemeClr val="tx1"/>
                  </a:solidFill>
                  <a:latin typeface="Brygada 1918"/>
                  <a:ea typeface="Brygada 1918"/>
                  <a:cs typeface="Brygada 1918"/>
                  <a:sym typeface="Brygada 1918"/>
                </a:rPr>
                <a:t> (HPA)</a:t>
              </a:r>
              <a:endParaRPr sz="2800" b="0" i="0" u="none" strike="noStrike" cap="none" dirty="0">
                <a:solidFill>
                  <a:schemeClr val="tx1"/>
                </a:solidFill>
              </a:endParaRPr>
            </a:p>
          </p:txBody>
        </p:sp>
        <p:sp>
          <p:nvSpPr>
            <p:cNvPr id="14" name="Google Shape;373;p39">
              <a:extLst>
                <a:ext uri="{FF2B5EF4-FFF2-40B4-BE49-F238E27FC236}">
                  <a16:creationId xmlns:a16="http://schemas.microsoft.com/office/drawing/2014/main" id="{F5759FF1-1637-D74D-E27B-3E359B7C0F85}"/>
                </a:ext>
              </a:extLst>
            </p:cNvPr>
            <p:cNvSpPr/>
            <p:nvPr/>
          </p:nvSpPr>
          <p:spPr>
            <a:xfrm>
              <a:off x="749260" y="3214568"/>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800" b="1" i="0" u="none" strike="noStrike" cap="none">
                  <a:solidFill>
                    <a:schemeClr val="tx1"/>
                  </a:solidFill>
                  <a:latin typeface="Montserrat"/>
                  <a:ea typeface="Montserrat"/>
                  <a:cs typeface="Montserrat"/>
                  <a:sym typeface="Montserrat"/>
                </a:rPr>
                <a:t>Mechanism:</a:t>
              </a:r>
              <a:endParaRPr sz="2800" b="0" i="0" u="none" strike="noStrike" cap="none">
                <a:solidFill>
                  <a:schemeClr val="tx1"/>
                </a:solidFill>
              </a:endParaRPr>
            </a:p>
          </p:txBody>
        </p:sp>
        <p:sp>
          <p:nvSpPr>
            <p:cNvPr id="15" name="Google Shape;374;p39">
              <a:extLst>
                <a:ext uri="{FF2B5EF4-FFF2-40B4-BE49-F238E27FC236}">
                  <a16:creationId xmlns:a16="http://schemas.microsoft.com/office/drawing/2014/main" id="{01478B18-E868-9495-C39D-26AFD30826CE}"/>
                </a:ext>
              </a:extLst>
            </p:cNvPr>
            <p:cNvSpPr/>
            <p:nvPr/>
          </p:nvSpPr>
          <p:spPr>
            <a:xfrm>
              <a:off x="749260" y="3797856"/>
              <a:ext cx="13131879" cy="342424"/>
            </a:xfrm>
            <a:prstGeom prst="rect">
              <a:avLst/>
            </a:prstGeom>
            <a:noFill/>
            <a:ln>
              <a:noFill/>
            </a:ln>
          </p:spPr>
          <p:txBody>
            <a:bodyPr spcFirstLastPara="1" wrap="square" lIns="0" tIns="0" rIns="0" bIns="0" anchor="t" anchorCtr="0">
              <a:noAutofit/>
            </a:bodyPr>
            <a:lstStyle/>
            <a:p>
              <a:pPr marL="685800" marR="0" lvl="1" indent="-342900" algn="l" rtl="0">
                <a:lnSpc>
                  <a:spcPct val="160606"/>
                </a:lnSpc>
                <a:spcBef>
                  <a:spcPts val="0"/>
                </a:spcBef>
                <a:spcAft>
                  <a:spcPts val="0"/>
                </a:spcAft>
                <a:buClr>
                  <a:srgbClr val="F4CAB8"/>
                </a:buClr>
                <a:buSzPts val="1650"/>
                <a:buFont typeface="Montserrat"/>
                <a:buChar char="•"/>
              </a:pPr>
              <a:r>
                <a:rPr lang="en-US" sz="2800" b="0" i="0" u="none" strike="noStrike" cap="none">
                  <a:solidFill>
                    <a:schemeClr val="tx1"/>
                  </a:solidFill>
                  <a:latin typeface="Montserrat"/>
                  <a:ea typeface="Montserrat"/>
                  <a:cs typeface="Montserrat"/>
                  <a:sym typeface="Montserrat"/>
                </a:rPr>
                <a:t>The HPA is the default, industry-standard autoscaler in Kubernetes.</a:t>
              </a:r>
              <a:endParaRPr sz="2800" b="0" i="0" u="none" strike="noStrike" cap="none">
                <a:solidFill>
                  <a:schemeClr val="tx1"/>
                </a:solidFill>
              </a:endParaRPr>
            </a:p>
          </p:txBody>
        </p:sp>
        <p:sp>
          <p:nvSpPr>
            <p:cNvPr id="16" name="Google Shape;375;p39">
              <a:extLst>
                <a:ext uri="{FF2B5EF4-FFF2-40B4-BE49-F238E27FC236}">
                  <a16:creationId xmlns:a16="http://schemas.microsoft.com/office/drawing/2014/main" id="{2DBD24DF-BF53-B227-4301-012CAE8AF5DC}"/>
                </a:ext>
              </a:extLst>
            </p:cNvPr>
            <p:cNvSpPr/>
            <p:nvPr/>
          </p:nvSpPr>
          <p:spPr>
            <a:xfrm>
              <a:off x="749260" y="4215170"/>
              <a:ext cx="13131879" cy="342424"/>
            </a:xfrm>
            <a:prstGeom prst="rect">
              <a:avLst/>
            </a:prstGeom>
            <a:noFill/>
            <a:ln>
              <a:noFill/>
            </a:ln>
          </p:spPr>
          <p:txBody>
            <a:bodyPr spcFirstLastPara="1" wrap="square" lIns="0" tIns="0" rIns="0" bIns="0" anchor="t" anchorCtr="0">
              <a:noAutofit/>
            </a:bodyPr>
            <a:lstStyle/>
            <a:p>
              <a:pPr marL="685800" marR="0" lvl="1" indent="-342900" algn="l" rtl="0">
                <a:lnSpc>
                  <a:spcPct val="160606"/>
                </a:lnSpc>
                <a:spcBef>
                  <a:spcPts val="0"/>
                </a:spcBef>
                <a:spcAft>
                  <a:spcPts val="0"/>
                </a:spcAft>
                <a:buClr>
                  <a:srgbClr val="F4CAB8"/>
                </a:buClr>
                <a:buSzPts val="1650"/>
                <a:buFont typeface="Montserrat"/>
                <a:buChar char="•"/>
              </a:pPr>
              <a:r>
                <a:rPr lang="en-US" sz="2800" b="0" i="0" u="none" strike="noStrike" cap="none">
                  <a:solidFill>
                    <a:schemeClr val="tx1"/>
                  </a:solidFill>
                  <a:latin typeface="Montserrat"/>
                  <a:ea typeface="Montserrat"/>
                  <a:cs typeface="Montserrat"/>
                  <a:sym typeface="Montserrat"/>
                </a:rPr>
                <a:t>It operates as a simple, reactive control loop.</a:t>
              </a:r>
              <a:endParaRPr sz="2800" b="0" i="0" u="none" strike="noStrike" cap="none">
                <a:solidFill>
                  <a:schemeClr val="tx1"/>
                </a:solidFill>
              </a:endParaRPr>
            </a:p>
          </p:txBody>
        </p:sp>
        <p:sp>
          <p:nvSpPr>
            <p:cNvPr id="17" name="Google Shape;376;p39">
              <a:extLst>
                <a:ext uri="{FF2B5EF4-FFF2-40B4-BE49-F238E27FC236}">
                  <a16:creationId xmlns:a16="http://schemas.microsoft.com/office/drawing/2014/main" id="{F8ABF989-A570-CC90-43FB-921AC3BD760A}"/>
                </a:ext>
              </a:extLst>
            </p:cNvPr>
            <p:cNvSpPr/>
            <p:nvPr/>
          </p:nvSpPr>
          <p:spPr>
            <a:xfrm>
              <a:off x="749260" y="4632484"/>
              <a:ext cx="13131879" cy="684848"/>
            </a:xfrm>
            <a:prstGeom prst="rect">
              <a:avLst/>
            </a:prstGeom>
            <a:noFill/>
            <a:ln>
              <a:noFill/>
            </a:ln>
          </p:spPr>
          <p:txBody>
            <a:bodyPr spcFirstLastPara="1" wrap="square" lIns="0" tIns="0" rIns="0" bIns="0" anchor="t" anchorCtr="0">
              <a:noAutofit/>
            </a:bodyPr>
            <a:lstStyle/>
            <a:p>
              <a:pPr marL="685800" marR="0" lvl="1" indent="-342900" algn="l" rtl="0">
                <a:lnSpc>
                  <a:spcPct val="160606"/>
                </a:lnSpc>
                <a:spcBef>
                  <a:spcPts val="0"/>
                </a:spcBef>
                <a:spcAft>
                  <a:spcPts val="0"/>
                </a:spcAft>
                <a:buClr>
                  <a:srgbClr val="F4CAB8"/>
                </a:buClr>
                <a:buSzPts val="1650"/>
                <a:buFont typeface="Montserrat"/>
                <a:buChar char="•"/>
              </a:pPr>
              <a:r>
                <a:rPr lang="en-US" sz="2800" b="0" i="0" u="none" strike="noStrike" cap="none">
                  <a:solidFill>
                    <a:schemeClr val="tx1"/>
                  </a:solidFill>
                  <a:latin typeface="Montserrat"/>
                  <a:ea typeface="Montserrat"/>
                  <a:cs typeface="Montserrat"/>
                  <a:sym typeface="Montserrat"/>
                </a:rPr>
                <a:t>Periodically (default: 15s), it checks the average value of a specified metric (most commonly CPU utilization) across all pods in a deployment.</a:t>
              </a:r>
              <a:endParaRPr sz="2800" b="0" i="0" u="none" strike="noStrike" cap="none">
                <a:solidFill>
                  <a:schemeClr val="tx1"/>
                </a:solidFill>
              </a:endParaRPr>
            </a:p>
          </p:txBody>
        </p:sp>
        <p:sp>
          <p:nvSpPr>
            <p:cNvPr id="18" name="Google Shape;377;p39">
              <a:extLst>
                <a:ext uri="{FF2B5EF4-FFF2-40B4-BE49-F238E27FC236}">
                  <a16:creationId xmlns:a16="http://schemas.microsoft.com/office/drawing/2014/main" id="{5DDFA5CC-A7E1-0725-BBF5-29A6E8D3747D}"/>
                </a:ext>
              </a:extLst>
            </p:cNvPr>
            <p:cNvSpPr/>
            <p:nvPr/>
          </p:nvSpPr>
          <p:spPr>
            <a:xfrm>
              <a:off x="749260" y="5392222"/>
              <a:ext cx="13131879" cy="730568"/>
            </a:xfrm>
            <a:prstGeom prst="rect">
              <a:avLst/>
            </a:prstGeom>
            <a:noFill/>
            <a:ln>
              <a:noFill/>
            </a:ln>
          </p:spPr>
          <p:txBody>
            <a:bodyPr spcFirstLastPara="1" wrap="square" lIns="0" tIns="0" rIns="0" bIns="0" anchor="t" anchorCtr="0">
              <a:noAutofit/>
            </a:bodyPr>
            <a:lstStyle/>
            <a:p>
              <a:pPr marL="0" marR="0" lvl="1" indent="0" algn="l" rtl="0">
                <a:lnSpc>
                  <a:spcPct val="160606"/>
                </a:lnSpc>
                <a:spcBef>
                  <a:spcPts val="0"/>
                </a:spcBef>
                <a:spcAft>
                  <a:spcPts val="0"/>
                </a:spcAft>
                <a:buClr>
                  <a:srgbClr val="F4CAB8"/>
                </a:buClr>
                <a:buSzPts val="1650"/>
                <a:buFont typeface="Montserrat"/>
                <a:buNone/>
              </a:pPr>
              <a:r>
                <a:rPr lang="en-US" sz="2800" b="0" i="0" u="none" strike="noStrike" cap="none" dirty="0">
                  <a:solidFill>
                    <a:schemeClr val="tx1"/>
                  </a:solidFill>
                  <a:latin typeface="Montserrat"/>
                  <a:ea typeface="Montserrat"/>
                  <a:cs typeface="Montserrat"/>
                  <a:sym typeface="Montserrat"/>
                </a:rPr>
                <a:t>It then uses a simple ratio to calculate the desired number of replicas: </a:t>
              </a:r>
            </a:p>
            <a:p>
              <a:pPr marL="0" marR="0" lvl="1" indent="0" algn="l" rtl="0">
                <a:lnSpc>
                  <a:spcPct val="160606"/>
                </a:lnSpc>
                <a:spcBef>
                  <a:spcPts val="0"/>
                </a:spcBef>
                <a:spcAft>
                  <a:spcPts val="0"/>
                </a:spcAft>
                <a:buClr>
                  <a:srgbClr val="F4CAB8"/>
                </a:buClr>
                <a:buSzPts val="1650"/>
                <a:buFont typeface="Montserrat"/>
                <a:buNone/>
              </a:pPr>
              <a:r>
                <a:rPr lang="en-US" sz="2800" b="0" i="0" u="none" strike="noStrike" cap="none" dirty="0" err="1">
                  <a:latin typeface="Consolas"/>
                  <a:ea typeface="Consolas"/>
                  <a:cs typeface="Consolas"/>
                  <a:sym typeface="Consolas"/>
                </a:rPr>
                <a:t>desiredReplicas</a:t>
              </a:r>
              <a:r>
                <a:rPr lang="en-US" sz="2800" b="0" i="0" u="none" strike="noStrike" cap="none" dirty="0">
                  <a:solidFill>
                    <a:schemeClr val="tx1"/>
                  </a:solidFill>
                  <a:latin typeface="Consolas"/>
                  <a:ea typeface="Consolas"/>
                  <a:cs typeface="Consolas"/>
                  <a:sym typeface="Consolas"/>
                </a:rPr>
                <a:t> = ceil[</a:t>
              </a:r>
              <a:r>
                <a:rPr lang="en-US" sz="2800" b="0" i="0" u="none" strike="noStrike" cap="none" dirty="0" err="1">
                  <a:solidFill>
                    <a:schemeClr val="tx1"/>
                  </a:solidFill>
                  <a:latin typeface="Consolas"/>
                  <a:ea typeface="Consolas"/>
                  <a:cs typeface="Consolas"/>
                  <a:sym typeface="Consolas"/>
                </a:rPr>
                <a:t>currentReplicas</a:t>
              </a:r>
              <a:r>
                <a:rPr lang="en-US" sz="2800" b="0" i="0" u="none" strike="noStrike" cap="none" dirty="0">
                  <a:solidFill>
                    <a:schemeClr val="tx1"/>
                  </a:solidFill>
                  <a:latin typeface="Consolas"/>
                  <a:ea typeface="Consolas"/>
                  <a:cs typeface="Consolas"/>
                  <a:sym typeface="Consolas"/>
                </a:rPr>
                <a:t> * ( </a:t>
              </a:r>
              <a:r>
                <a:rPr lang="en-US" sz="2800" b="0" i="0" u="none" strike="noStrike" cap="none" dirty="0" err="1">
                  <a:solidFill>
                    <a:schemeClr val="tx1"/>
                  </a:solidFill>
                  <a:latin typeface="Consolas"/>
                  <a:ea typeface="Consolas"/>
                  <a:cs typeface="Consolas"/>
                  <a:sym typeface="Consolas"/>
                </a:rPr>
                <a:t>currentMetricValue</a:t>
              </a:r>
              <a:r>
                <a:rPr lang="en-US" sz="2800" b="0" i="0" u="none" strike="noStrike" cap="none" dirty="0">
                  <a:solidFill>
                    <a:schemeClr val="tx1"/>
                  </a:solidFill>
                  <a:latin typeface="Consolas"/>
                  <a:ea typeface="Consolas"/>
                  <a:cs typeface="Consolas"/>
                  <a:sym typeface="Consolas"/>
                </a:rPr>
                <a:t> / </a:t>
              </a:r>
              <a:r>
                <a:rPr lang="en-US" sz="2800" b="0" i="0" u="none" strike="noStrike" cap="none" dirty="0" err="1">
                  <a:solidFill>
                    <a:schemeClr val="tx1"/>
                  </a:solidFill>
                  <a:latin typeface="Consolas"/>
                  <a:ea typeface="Consolas"/>
                  <a:cs typeface="Consolas"/>
                  <a:sym typeface="Consolas"/>
                </a:rPr>
                <a:t>desiredMetricValue</a:t>
              </a:r>
              <a:r>
                <a:rPr lang="en-US" sz="2800" b="0" i="0" u="none" strike="noStrike" cap="none" dirty="0">
                  <a:solidFill>
                    <a:schemeClr val="tx1"/>
                  </a:solidFill>
                  <a:latin typeface="Consolas"/>
                  <a:ea typeface="Consolas"/>
                  <a:cs typeface="Consolas"/>
                  <a:sym typeface="Consolas"/>
                </a:rPr>
                <a:t> )]</a:t>
              </a:r>
              <a:endParaRPr sz="2800" b="0" i="0" u="none" strike="noStrike" cap="none" dirty="0">
                <a:solidFill>
                  <a:schemeClr val="tx1"/>
                </a:solidFill>
              </a:endParaRPr>
            </a:p>
          </p:txBody>
        </p:sp>
        <p:sp>
          <p:nvSpPr>
            <p:cNvPr id="19" name="Google Shape;378;p39">
              <a:extLst>
                <a:ext uri="{FF2B5EF4-FFF2-40B4-BE49-F238E27FC236}">
                  <a16:creationId xmlns:a16="http://schemas.microsoft.com/office/drawing/2014/main" id="{9FB152F8-3C76-8201-6754-C6BE23BA4318}"/>
                </a:ext>
              </a:extLst>
            </p:cNvPr>
            <p:cNvSpPr/>
            <p:nvPr/>
          </p:nvSpPr>
          <p:spPr>
            <a:xfrm>
              <a:off x="749260" y="6397151"/>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SzPts val="1650"/>
                <a:buFont typeface="Arial"/>
                <a:buNone/>
              </a:pPr>
              <a:endParaRPr sz="2800" b="0" i="0" u="none" strike="noStrike" cap="none">
                <a:solidFill>
                  <a:schemeClr val="tx1"/>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EEC16-6032-DCDE-3D5E-93D841EE00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F40C931-7401-1A81-EA17-1B603FE1C565}"/>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F1386DB6-40D6-9E15-DADA-32F1091897EB}"/>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112A847B-A442-5687-699C-E583D706CFC6}"/>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62044CC3-6121-866A-7F5E-10E2848997C5}"/>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2C2C013C-8914-8FBC-CD4B-4ECEABACAC1E}"/>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1118ACBC-AA28-36DA-FDB2-C4F1A5C624CD}"/>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a:extLst>
              <a:ext uri="{FF2B5EF4-FFF2-40B4-BE49-F238E27FC236}">
                <a16:creationId xmlns:a16="http://schemas.microsoft.com/office/drawing/2014/main" id="{C9C3C91D-BDB9-3933-8476-3B5912F6EEB3}"/>
              </a:ext>
            </a:extLst>
          </p:cNvPr>
          <p:cNvSpPr txBox="1"/>
          <p:nvPr/>
        </p:nvSpPr>
        <p:spPr>
          <a:xfrm>
            <a:off x="121901" y="83801"/>
            <a:ext cx="18044198"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ALGORITHM</a:t>
            </a:r>
          </a:p>
        </p:txBody>
      </p:sp>
      <p:sp>
        <p:nvSpPr>
          <p:cNvPr id="10" name="Slide Number Placeholder 9">
            <a:extLst>
              <a:ext uri="{FF2B5EF4-FFF2-40B4-BE49-F238E27FC236}">
                <a16:creationId xmlns:a16="http://schemas.microsoft.com/office/drawing/2014/main" id="{C5C9A7E2-7EEC-CF66-977C-36AB229877D1}"/>
              </a:ext>
            </a:extLst>
          </p:cNvPr>
          <p:cNvSpPr>
            <a:spLocks noGrp="1"/>
          </p:cNvSpPr>
          <p:nvPr>
            <p:ph type="sldNum" sz="quarter" idx="12"/>
          </p:nvPr>
        </p:nvSpPr>
        <p:spPr>
          <a:xfrm>
            <a:off x="15119204" y="9467259"/>
            <a:ext cx="2133600" cy="365125"/>
          </a:xfrm>
        </p:spPr>
        <p:txBody>
          <a:bodyPr/>
          <a:lstStyle/>
          <a:p>
            <a:fld id="{B6F15528-21DE-4FAA-801E-634DDDAF4B2B}" type="slidenum">
              <a:rPr lang="en-US" smtClean="0"/>
              <a:pPr/>
              <a:t>15</a:t>
            </a:fld>
            <a:endParaRPr lang="en-US"/>
          </a:p>
        </p:txBody>
      </p:sp>
      <p:sp>
        <p:nvSpPr>
          <p:cNvPr id="12" name="Footer Placeholder 11">
            <a:extLst>
              <a:ext uri="{FF2B5EF4-FFF2-40B4-BE49-F238E27FC236}">
                <a16:creationId xmlns:a16="http://schemas.microsoft.com/office/drawing/2014/main" id="{01F18587-2AE3-2C4A-B45E-59200388BCC7}"/>
              </a:ext>
            </a:extLst>
          </p:cNvPr>
          <p:cNvSpPr>
            <a:spLocks noGrp="1"/>
          </p:cNvSpPr>
          <p:nvPr>
            <p:ph type="ftr" sz="quarter" idx="11"/>
          </p:nvPr>
        </p:nvSpPr>
        <p:spPr>
          <a:xfrm>
            <a:off x="-304800" y="9715500"/>
            <a:ext cx="7772400" cy="857420"/>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grpSp>
        <p:nvGrpSpPr>
          <p:cNvPr id="20" name="Group 19">
            <a:extLst>
              <a:ext uri="{FF2B5EF4-FFF2-40B4-BE49-F238E27FC236}">
                <a16:creationId xmlns:a16="http://schemas.microsoft.com/office/drawing/2014/main" id="{42937A45-9F64-C86D-297F-337768C36F02}"/>
              </a:ext>
            </a:extLst>
          </p:cNvPr>
          <p:cNvGrpSpPr/>
          <p:nvPr/>
        </p:nvGrpSpPr>
        <p:grpSpPr>
          <a:xfrm>
            <a:off x="323664" y="1300880"/>
            <a:ext cx="17538740" cy="7950675"/>
            <a:chOff x="749260" y="1549122"/>
            <a:chExt cx="13131879" cy="5323880"/>
          </a:xfrm>
        </p:grpSpPr>
        <p:sp>
          <p:nvSpPr>
            <p:cNvPr id="21" name="Google Shape;384;p40">
              <a:extLst>
                <a:ext uri="{FF2B5EF4-FFF2-40B4-BE49-F238E27FC236}">
                  <a16:creationId xmlns:a16="http://schemas.microsoft.com/office/drawing/2014/main" id="{55C34830-2119-268F-45BC-E2936471E0CD}"/>
                </a:ext>
              </a:extLst>
            </p:cNvPr>
            <p:cNvSpPr/>
            <p:nvPr/>
          </p:nvSpPr>
          <p:spPr>
            <a:xfrm>
              <a:off x="749260" y="1549122"/>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400" b="1" i="0" u="none" strike="noStrike" cap="none" dirty="0">
                  <a:solidFill>
                    <a:schemeClr val="tx1"/>
                  </a:solidFill>
                  <a:latin typeface="Montserrat"/>
                  <a:ea typeface="Montserrat"/>
                  <a:cs typeface="Montserrat"/>
                  <a:sym typeface="Montserrat"/>
                </a:rPr>
                <a:t>Strengths:</a:t>
              </a:r>
              <a:endParaRPr sz="2400" b="0" i="0" u="none" strike="noStrike" cap="none" dirty="0">
                <a:solidFill>
                  <a:schemeClr val="tx1"/>
                </a:solidFill>
              </a:endParaRPr>
            </a:p>
          </p:txBody>
        </p:sp>
        <p:sp>
          <p:nvSpPr>
            <p:cNvPr id="22" name="Google Shape;385;p40">
              <a:extLst>
                <a:ext uri="{FF2B5EF4-FFF2-40B4-BE49-F238E27FC236}">
                  <a16:creationId xmlns:a16="http://schemas.microsoft.com/office/drawing/2014/main" id="{6D437CE5-223E-A9FE-12D9-50989253F387}"/>
                </a:ext>
              </a:extLst>
            </p:cNvPr>
            <p:cNvSpPr/>
            <p:nvPr/>
          </p:nvSpPr>
          <p:spPr>
            <a:xfrm>
              <a:off x="749260" y="2084189"/>
              <a:ext cx="13131879" cy="342424"/>
            </a:xfrm>
            <a:prstGeom prst="rect">
              <a:avLst/>
            </a:prstGeom>
            <a:noFill/>
            <a:ln>
              <a:noFill/>
            </a:ln>
          </p:spPr>
          <p:txBody>
            <a:bodyPr spcFirstLastPara="1" wrap="square" lIns="0" tIns="0" rIns="0" bIns="0" anchor="t" anchorCtr="0">
              <a:noAutofit/>
            </a:bodyPr>
            <a:lstStyle/>
            <a:p>
              <a:pPr marL="342900" marR="0" lvl="0" indent="-342900" algn="l" rtl="0">
                <a:lnSpc>
                  <a:spcPct val="160606"/>
                </a:lnSpc>
                <a:spcBef>
                  <a:spcPts val="0"/>
                </a:spcBef>
                <a:spcAft>
                  <a:spcPts val="0"/>
                </a:spcAft>
                <a:buClr>
                  <a:srgbClr val="F4CAB8"/>
                </a:buClr>
                <a:buSzPts val="1650"/>
                <a:buFont typeface="Montserrat"/>
                <a:buChar char="•"/>
              </a:pPr>
              <a:r>
                <a:rPr lang="en-US" sz="2400" b="0" i="0" u="none" strike="noStrike" cap="none">
                  <a:solidFill>
                    <a:schemeClr val="tx1"/>
                  </a:solidFill>
                  <a:latin typeface="Montserrat"/>
                  <a:ea typeface="Montserrat"/>
                  <a:cs typeface="Montserrat"/>
                  <a:sym typeface="Montserrat"/>
                </a:rPr>
                <a:t>Simple, robust, and well-understood.</a:t>
              </a:r>
              <a:endParaRPr sz="2400" b="0" i="0" u="none" strike="noStrike" cap="none">
                <a:solidFill>
                  <a:schemeClr val="tx1"/>
                </a:solidFill>
              </a:endParaRPr>
            </a:p>
          </p:txBody>
        </p:sp>
        <p:sp>
          <p:nvSpPr>
            <p:cNvPr id="23" name="Google Shape;386;p40">
              <a:extLst>
                <a:ext uri="{FF2B5EF4-FFF2-40B4-BE49-F238E27FC236}">
                  <a16:creationId xmlns:a16="http://schemas.microsoft.com/office/drawing/2014/main" id="{57C8C226-17E1-CF67-861B-82E31EEF223B}"/>
                </a:ext>
              </a:extLst>
            </p:cNvPr>
            <p:cNvSpPr/>
            <p:nvPr/>
          </p:nvSpPr>
          <p:spPr>
            <a:xfrm>
              <a:off x="749260" y="2501503"/>
              <a:ext cx="13131879" cy="342424"/>
            </a:xfrm>
            <a:prstGeom prst="rect">
              <a:avLst/>
            </a:prstGeom>
            <a:noFill/>
            <a:ln>
              <a:noFill/>
            </a:ln>
          </p:spPr>
          <p:txBody>
            <a:bodyPr spcFirstLastPara="1" wrap="square" lIns="0" tIns="0" rIns="0" bIns="0" anchor="t" anchorCtr="0">
              <a:noAutofit/>
            </a:bodyPr>
            <a:lstStyle/>
            <a:p>
              <a:pPr marL="342900" marR="0" lvl="0" indent="-342900" algn="l" rtl="0">
                <a:lnSpc>
                  <a:spcPct val="160606"/>
                </a:lnSpc>
                <a:spcBef>
                  <a:spcPts val="0"/>
                </a:spcBef>
                <a:spcAft>
                  <a:spcPts val="0"/>
                </a:spcAft>
                <a:buClr>
                  <a:srgbClr val="F4CAB8"/>
                </a:buClr>
                <a:buSzPts val="1650"/>
                <a:buFont typeface="Montserrat"/>
                <a:buChar char="•"/>
              </a:pPr>
              <a:r>
                <a:rPr lang="en-US" sz="2400" b="0" i="0" u="none" strike="noStrike" cap="none" dirty="0">
                  <a:solidFill>
                    <a:schemeClr val="tx1"/>
                  </a:solidFill>
                  <a:latin typeface="Montserrat"/>
                  <a:ea typeface="Montserrat"/>
                  <a:cs typeface="Montserrat"/>
                  <a:sym typeface="Montserrat"/>
                </a:rPr>
                <a:t>Effective for stateless applications with CPU-bound workloads.</a:t>
              </a:r>
              <a:endParaRPr sz="2400" b="0" i="0" u="none" strike="noStrike" cap="none" dirty="0">
                <a:solidFill>
                  <a:schemeClr val="tx1"/>
                </a:solidFill>
              </a:endParaRPr>
            </a:p>
          </p:txBody>
        </p:sp>
        <p:sp>
          <p:nvSpPr>
            <p:cNvPr id="24" name="Google Shape;387;p40">
              <a:extLst>
                <a:ext uri="{FF2B5EF4-FFF2-40B4-BE49-F238E27FC236}">
                  <a16:creationId xmlns:a16="http://schemas.microsoft.com/office/drawing/2014/main" id="{3379AFBE-CD82-B074-064F-E7CDD7A26990}"/>
                </a:ext>
              </a:extLst>
            </p:cNvPr>
            <p:cNvSpPr/>
            <p:nvPr/>
          </p:nvSpPr>
          <p:spPr>
            <a:xfrm>
              <a:off x="749260" y="3084790"/>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400" b="1" i="0" u="none" strike="noStrike" cap="none">
                  <a:solidFill>
                    <a:schemeClr val="tx1"/>
                  </a:solidFill>
                  <a:latin typeface="Montserrat"/>
                  <a:ea typeface="Montserrat"/>
                  <a:cs typeface="Montserrat"/>
                  <a:sym typeface="Montserrat"/>
                </a:rPr>
                <a:t>Limitations (Why we need something better):</a:t>
              </a:r>
              <a:endParaRPr sz="2400" b="0" i="0" u="none" strike="noStrike" cap="none">
                <a:solidFill>
                  <a:schemeClr val="tx1"/>
                </a:solidFill>
              </a:endParaRPr>
            </a:p>
          </p:txBody>
        </p:sp>
        <p:sp>
          <p:nvSpPr>
            <p:cNvPr id="25" name="Google Shape;388;p40">
              <a:extLst>
                <a:ext uri="{FF2B5EF4-FFF2-40B4-BE49-F238E27FC236}">
                  <a16:creationId xmlns:a16="http://schemas.microsoft.com/office/drawing/2014/main" id="{D5EDAEE3-17EF-D400-2C8F-CBC37FF3C529}"/>
                </a:ext>
              </a:extLst>
            </p:cNvPr>
            <p:cNvSpPr/>
            <p:nvPr/>
          </p:nvSpPr>
          <p:spPr>
            <a:xfrm>
              <a:off x="749260" y="3668078"/>
              <a:ext cx="13131879" cy="684848"/>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400" b="1" i="0" u="none" strike="noStrike" cap="none">
                  <a:solidFill>
                    <a:schemeClr val="tx1"/>
                  </a:solidFill>
                  <a:latin typeface="Montserrat"/>
                  <a:ea typeface="Montserrat"/>
                  <a:cs typeface="Montserrat"/>
                  <a:sym typeface="Montserrat"/>
                </a:rPr>
                <a:t>Reactive:</a:t>
              </a:r>
              <a:r>
                <a:rPr lang="en-US" sz="2400" b="0" i="0" u="none" strike="noStrike" cap="none">
                  <a:solidFill>
                    <a:schemeClr val="tx1"/>
                  </a:solidFill>
                  <a:latin typeface="Montserrat"/>
                  <a:ea typeface="Montserrat"/>
                  <a:cs typeface="Montserrat"/>
                  <a:sym typeface="Montserrat"/>
                </a:rPr>
                <a:t> It can only respond </a:t>
              </a:r>
              <a:r>
                <a:rPr lang="en-US" sz="2400" b="0" i="1" u="none" strike="noStrike" cap="none">
                  <a:solidFill>
                    <a:schemeClr val="tx1"/>
                  </a:solidFill>
                  <a:latin typeface="Montserrat"/>
                  <a:ea typeface="Montserrat"/>
                  <a:cs typeface="Montserrat"/>
                  <a:sym typeface="Montserrat"/>
                </a:rPr>
                <a:t>after</a:t>
              </a:r>
              <a:r>
                <a:rPr lang="en-US" sz="2400" b="0" i="0" u="none" strike="noStrike" cap="none">
                  <a:solidFill>
                    <a:schemeClr val="tx1"/>
                  </a:solidFill>
                  <a:latin typeface="Montserrat"/>
                  <a:ea typeface="Montserrat"/>
                  <a:cs typeface="Montserrat"/>
                  <a:sym typeface="Montserrat"/>
                </a:rPr>
                <a:t> a metric has crossed its threshold. It cannot proactively scale in anticipation of load.</a:t>
              </a:r>
              <a:endParaRPr sz="2400" b="0" i="0" u="none" strike="noStrike" cap="none">
                <a:solidFill>
                  <a:schemeClr val="tx1"/>
                </a:solidFill>
              </a:endParaRPr>
            </a:p>
          </p:txBody>
        </p:sp>
        <p:sp>
          <p:nvSpPr>
            <p:cNvPr id="26" name="Google Shape;389;p40">
              <a:extLst>
                <a:ext uri="{FF2B5EF4-FFF2-40B4-BE49-F238E27FC236}">
                  <a16:creationId xmlns:a16="http://schemas.microsoft.com/office/drawing/2014/main" id="{1042F5CC-5142-5697-6D01-99589CF9D4DE}"/>
                </a:ext>
              </a:extLst>
            </p:cNvPr>
            <p:cNvSpPr/>
            <p:nvPr/>
          </p:nvSpPr>
          <p:spPr>
            <a:xfrm>
              <a:off x="749260" y="4427815"/>
              <a:ext cx="13131879" cy="684848"/>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400" b="1" i="0" u="none" strike="noStrike" cap="none">
                  <a:solidFill>
                    <a:schemeClr val="tx1"/>
                  </a:solidFill>
                  <a:latin typeface="Montserrat"/>
                  <a:ea typeface="Montserrat"/>
                  <a:cs typeface="Montserrat"/>
                  <a:sym typeface="Montserrat"/>
                </a:rPr>
                <a:t>No Inter-Service Awareness:</a:t>
              </a:r>
              <a:r>
                <a:rPr lang="en-US" sz="2400" b="0" i="0" u="none" strike="noStrike" cap="none">
                  <a:solidFill>
                    <a:schemeClr val="tx1"/>
                  </a:solidFill>
                  <a:latin typeface="Montserrat"/>
                  <a:ea typeface="Montserrat"/>
                  <a:cs typeface="Montserrat"/>
                  <a:sym typeface="Montserrat"/>
                </a:rPr>
                <a:t> An HPA on a frontend service has no knowledge of the downstream impact on the database. It can easily scale up the frontend, only to overwhelm the backend, causing a system-wide failure.</a:t>
              </a:r>
              <a:endParaRPr sz="2400" b="0" i="0" u="none" strike="noStrike" cap="none">
                <a:solidFill>
                  <a:schemeClr val="tx1"/>
                </a:solidFill>
              </a:endParaRPr>
            </a:p>
          </p:txBody>
        </p:sp>
        <p:sp>
          <p:nvSpPr>
            <p:cNvPr id="27" name="Google Shape;390;p40">
              <a:extLst>
                <a:ext uri="{FF2B5EF4-FFF2-40B4-BE49-F238E27FC236}">
                  <a16:creationId xmlns:a16="http://schemas.microsoft.com/office/drawing/2014/main" id="{F9244950-B4D4-105F-79FC-6F4DAAE08E02}"/>
                </a:ext>
              </a:extLst>
            </p:cNvPr>
            <p:cNvSpPr/>
            <p:nvPr/>
          </p:nvSpPr>
          <p:spPr>
            <a:xfrm>
              <a:off x="749260" y="5187553"/>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400" b="1" i="0" u="none" strike="noStrike" cap="none">
                  <a:solidFill>
                    <a:schemeClr val="tx1"/>
                  </a:solidFill>
                  <a:latin typeface="Montserrat"/>
                  <a:ea typeface="Montserrat"/>
                  <a:cs typeface="Montserrat"/>
                  <a:sym typeface="Montserrat"/>
                </a:rPr>
                <a:t>Single-Metric Focus:</a:t>
              </a:r>
              <a:r>
                <a:rPr lang="en-US" sz="2400" b="0" i="0" u="none" strike="noStrike" cap="none">
                  <a:solidFill>
                    <a:schemeClr val="tx1"/>
                  </a:solidFill>
                  <a:latin typeface="Montserrat"/>
                  <a:ea typeface="Montserrat"/>
                  <a:cs typeface="Montserrat"/>
                  <a:sym typeface="Montserrat"/>
                </a:rPr>
                <a:t> It struggles to balance multiple objectives (e.g., CPU, memory, and latency) simultaneously.</a:t>
              </a:r>
              <a:endParaRPr sz="2400" b="0" i="0" u="none" strike="noStrike" cap="none">
                <a:solidFill>
                  <a:schemeClr val="tx1"/>
                </a:solidFill>
              </a:endParaRPr>
            </a:p>
          </p:txBody>
        </p:sp>
        <p:sp>
          <p:nvSpPr>
            <p:cNvPr id="28" name="Google Shape;391;p40">
              <a:extLst>
                <a:ext uri="{FF2B5EF4-FFF2-40B4-BE49-F238E27FC236}">
                  <a16:creationId xmlns:a16="http://schemas.microsoft.com/office/drawing/2014/main" id="{BFCF54F6-C727-E491-F08B-21329FE25EAA}"/>
                </a:ext>
              </a:extLst>
            </p:cNvPr>
            <p:cNvSpPr/>
            <p:nvPr/>
          </p:nvSpPr>
          <p:spPr>
            <a:xfrm>
              <a:off x="749260" y="5604867"/>
              <a:ext cx="13131879" cy="684848"/>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400" b="1" i="0" u="none" strike="noStrike" cap="none">
                  <a:solidFill>
                    <a:schemeClr val="tx1"/>
                  </a:solidFill>
                  <a:latin typeface="Montserrat"/>
                  <a:ea typeface="Montserrat"/>
                  <a:cs typeface="Montserrat"/>
                  <a:sym typeface="Montserrat"/>
                </a:rPr>
                <a:t>Research Context:</a:t>
              </a:r>
              <a:r>
                <a:rPr lang="en-US" sz="2400" b="0" i="0" u="none" strike="noStrike" cap="none">
                  <a:solidFill>
                    <a:schemeClr val="tx1"/>
                  </a:solidFill>
                  <a:latin typeface="Montserrat"/>
                  <a:ea typeface="Montserrat"/>
                  <a:cs typeface="Montserrat"/>
                  <a:sym typeface="Montserrat"/>
                </a:rPr>
                <a:t> Works like </a:t>
              </a:r>
              <a:r>
                <a:rPr lang="en-US" sz="2400" b="1" i="0" u="none" strike="noStrike" cap="none">
                  <a:solidFill>
                    <a:schemeClr val="tx1"/>
                  </a:solidFill>
                  <a:latin typeface="Montserrat"/>
                  <a:ea typeface="Montserrat"/>
                  <a:cs typeface="Montserrat"/>
                  <a:sym typeface="Montserrat"/>
                </a:rPr>
                <a:t>SPE-HPA (Giménez et al., 2022)</a:t>
              </a:r>
              <a:r>
                <a:rPr lang="en-US" sz="2400" b="0" i="0" u="none" strike="noStrike" cap="none">
                  <a:solidFill>
                    <a:schemeClr val="tx1"/>
                  </a:solidFill>
                  <a:latin typeface="Montserrat"/>
                  <a:ea typeface="Montserrat"/>
                  <a:cs typeface="Montserrat"/>
                  <a:sym typeface="Montserrat"/>
                </a:rPr>
                <a:t> attempt to improve the HPA by adding a predictive layer, but they still operate on a per-service, single-agent basis.</a:t>
              </a:r>
              <a:endParaRPr sz="2400" b="0" i="0" u="none" strike="noStrike" cap="none">
                <a:solidFill>
                  <a:schemeClr val="tx1"/>
                </a:solidFill>
              </a:endParaRPr>
            </a:p>
          </p:txBody>
        </p:sp>
        <p:sp>
          <p:nvSpPr>
            <p:cNvPr id="29" name="Google Shape;392;p40">
              <a:extLst>
                <a:ext uri="{FF2B5EF4-FFF2-40B4-BE49-F238E27FC236}">
                  <a16:creationId xmlns:a16="http://schemas.microsoft.com/office/drawing/2014/main" id="{BC0A5602-5291-55C7-95CC-56D9AEBAB751}"/>
                </a:ext>
              </a:extLst>
            </p:cNvPr>
            <p:cNvSpPr/>
            <p:nvPr/>
          </p:nvSpPr>
          <p:spPr>
            <a:xfrm>
              <a:off x="749260" y="6530578"/>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SzPts val="1650"/>
                <a:buFont typeface="Arial"/>
                <a:buNone/>
              </a:pPr>
              <a:endParaRPr sz="2400" b="0" i="0" u="none" strike="noStrike" cap="none">
                <a:solidFill>
                  <a:schemeClr val="tx1"/>
                </a:solidFill>
              </a:endParaRPr>
            </a:p>
          </p:txBody>
        </p:sp>
      </p:grpSp>
    </p:spTree>
    <p:extLst>
      <p:ext uri="{BB962C8B-B14F-4D97-AF65-F5344CB8AC3E}">
        <p14:creationId xmlns:p14="http://schemas.microsoft.com/office/powerpoint/2010/main" val="176812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9772-8522-70A1-EBC6-26C36C33E1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4EEFF9-E985-AD5F-36E1-A7FFB886E7B9}"/>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72A1F6D1-80C9-C40F-2CAE-A0342EF89B07}"/>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0A315DA4-7F8C-9141-0D27-41E188372078}"/>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226EDFF4-53AE-00DB-1485-FB0AB25ABA31}"/>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DB1ECE30-19C1-9C94-F65C-5E510664A293}"/>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76326524-5D7F-695D-2615-2F704B496729}"/>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a:extLst>
              <a:ext uri="{FF2B5EF4-FFF2-40B4-BE49-F238E27FC236}">
                <a16:creationId xmlns:a16="http://schemas.microsoft.com/office/drawing/2014/main" id="{AC8A5B3E-BA09-2D0A-6A07-F5CF1DC6F0AF}"/>
              </a:ext>
            </a:extLst>
          </p:cNvPr>
          <p:cNvSpPr txBox="1"/>
          <p:nvPr/>
        </p:nvSpPr>
        <p:spPr>
          <a:xfrm>
            <a:off x="121901" y="83801"/>
            <a:ext cx="18044198"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ALGORITHM</a:t>
            </a:r>
          </a:p>
        </p:txBody>
      </p:sp>
      <p:sp>
        <p:nvSpPr>
          <p:cNvPr id="10" name="Slide Number Placeholder 9">
            <a:extLst>
              <a:ext uri="{FF2B5EF4-FFF2-40B4-BE49-F238E27FC236}">
                <a16:creationId xmlns:a16="http://schemas.microsoft.com/office/drawing/2014/main" id="{01931CAC-3971-635C-65AE-4A958C216FFB}"/>
              </a:ext>
            </a:extLst>
          </p:cNvPr>
          <p:cNvSpPr>
            <a:spLocks noGrp="1"/>
          </p:cNvSpPr>
          <p:nvPr>
            <p:ph type="sldNum" sz="quarter" idx="12"/>
          </p:nvPr>
        </p:nvSpPr>
        <p:spPr>
          <a:xfrm>
            <a:off x="15119204" y="9467259"/>
            <a:ext cx="2133600" cy="365125"/>
          </a:xfrm>
        </p:spPr>
        <p:txBody>
          <a:bodyPr/>
          <a:lstStyle/>
          <a:p>
            <a:fld id="{B6F15528-21DE-4FAA-801E-634DDDAF4B2B}" type="slidenum">
              <a:rPr lang="en-US" smtClean="0"/>
              <a:pPr/>
              <a:t>16</a:t>
            </a:fld>
            <a:endParaRPr lang="en-US"/>
          </a:p>
        </p:txBody>
      </p:sp>
      <p:sp>
        <p:nvSpPr>
          <p:cNvPr id="12" name="Footer Placeholder 11">
            <a:extLst>
              <a:ext uri="{FF2B5EF4-FFF2-40B4-BE49-F238E27FC236}">
                <a16:creationId xmlns:a16="http://schemas.microsoft.com/office/drawing/2014/main" id="{889B9DF7-71BB-0EAD-26BF-883813ACD52A}"/>
              </a:ext>
            </a:extLst>
          </p:cNvPr>
          <p:cNvSpPr>
            <a:spLocks noGrp="1"/>
          </p:cNvSpPr>
          <p:nvPr>
            <p:ph type="ftr" sz="quarter" idx="11"/>
          </p:nvPr>
        </p:nvSpPr>
        <p:spPr>
          <a:xfrm>
            <a:off x="-304800" y="9715500"/>
            <a:ext cx="7772400" cy="857420"/>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grpSp>
        <p:nvGrpSpPr>
          <p:cNvPr id="9" name="Group 8">
            <a:extLst>
              <a:ext uri="{FF2B5EF4-FFF2-40B4-BE49-F238E27FC236}">
                <a16:creationId xmlns:a16="http://schemas.microsoft.com/office/drawing/2014/main" id="{4A3DFB6A-22A2-F6F0-6087-CE0A2209E733}"/>
              </a:ext>
            </a:extLst>
          </p:cNvPr>
          <p:cNvGrpSpPr/>
          <p:nvPr/>
        </p:nvGrpSpPr>
        <p:grpSpPr>
          <a:xfrm>
            <a:off x="552264" y="1338250"/>
            <a:ext cx="16700540" cy="7656043"/>
            <a:chOff x="749260" y="1087041"/>
            <a:chExt cx="13131879" cy="6055399"/>
          </a:xfrm>
        </p:grpSpPr>
        <p:sp>
          <p:nvSpPr>
            <p:cNvPr id="11" name="Google Shape;398;p41">
              <a:extLst>
                <a:ext uri="{FF2B5EF4-FFF2-40B4-BE49-F238E27FC236}">
                  <a16:creationId xmlns:a16="http://schemas.microsoft.com/office/drawing/2014/main" id="{CF9CF65B-C029-30D2-D667-ADD93A0212EE}"/>
                </a:ext>
              </a:extLst>
            </p:cNvPr>
            <p:cNvSpPr/>
            <p:nvPr/>
          </p:nvSpPr>
          <p:spPr>
            <a:xfrm>
              <a:off x="749260" y="1087041"/>
              <a:ext cx="10375463" cy="570905"/>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FFB393"/>
                </a:buClr>
                <a:buSzPts val="3550"/>
                <a:buFont typeface="Brygada 1918"/>
                <a:buNone/>
              </a:pPr>
              <a:r>
                <a:rPr lang="en-US" sz="4000" b="1" dirty="0">
                  <a:solidFill>
                    <a:schemeClr val="tx1"/>
                  </a:solidFill>
                  <a:latin typeface="Brygada 1918"/>
                  <a:ea typeface="Brygada 1918"/>
                  <a:cs typeface="Brygada 1918"/>
                  <a:sym typeface="Brygada 1918"/>
                </a:rPr>
                <a:t>Baseline 2</a:t>
              </a:r>
              <a:r>
                <a:rPr lang="en-US" sz="4000" b="1" i="0" u="none" strike="noStrike" cap="none" dirty="0">
                  <a:solidFill>
                    <a:schemeClr val="tx1"/>
                  </a:solidFill>
                  <a:latin typeface="Brygada 1918"/>
                  <a:ea typeface="Brygada 1918"/>
                  <a:cs typeface="Brygada 1918"/>
                  <a:sym typeface="Brygada 1918"/>
                </a:rPr>
                <a:t>: QMIX for Cooperative Control</a:t>
              </a:r>
              <a:endParaRPr sz="4000" b="0" i="0" u="none" strike="noStrike" cap="none" dirty="0">
                <a:solidFill>
                  <a:schemeClr val="tx1"/>
                </a:solidFill>
              </a:endParaRPr>
            </a:p>
          </p:txBody>
        </p:sp>
        <p:sp>
          <p:nvSpPr>
            <p:cNvPr id="13" name="Google Shape;399;p41">
              <a:extLst>
                <a:ext uri="{FF2B5EF4-FFF2-40B4-BE49-F238E27FC236}">
                  <a16:creationId xmlns:a16="http://schemas.microsoft.com/office/drawing/2014/main" id="{4D7F134A-1AED-2F8A-4E11-C807D8809A99}"/>
                </a:ext>
              </a:extLst>
            </p:cNvPr>
            <p:cNvSpPr/>
            <p:nvPr/>
          </p:nvSpPr>
          <p:spPr>
            <a:xfrm>
              <a:off x="749260" y="2086094"/>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000" b="1" i="0" u="none" strike="noStrike" cap="none">
                  <a:solidFill>
                    <a:schemeClr val="tx1"/>
                  </a:solidFill>
                  <a:latin typeface="Montserrat"/>
                  <a:ea typeface="Montserrat"/>
                  <a:cs typeface="Montserrat"/>
                  <a:sym typeface="Montserrat"/>
                </a:rPr>
                <a:t>Why Multi-Agent RL?</a:t>
              </a:r>
              <a:endParaRPr sz="2000" b="0" i="0" u="none" strike="noStrike" cap="none">
                <a:solidFill>
                  <a:schemeClr val="tx1"/>
                </a:solidFill>
              </a:endParaRPr>
            </a:p>
          </p:txBody>
        </p:sp>
        <p:sp>
          <p:nvSpPr>
            <p:cNvPr id="14" name="Google Shape;400;p41">
              <a:extLst>
                <a:ext uri="{FF2B5EF4-FFF2-40B4-BE49-F238E27FC236}">
                  <a16:creationId xmlns:a16="http://schemas.microsoft.com/office/drawing/2014/main" id="{8DC08FD6-8294-7507-73E0-C0B3CE062EDB}"/>
                </a:ext>
              </a:extLst>
            </p:cNvPr>
            <p:cNvSpPr/>
            <p:nvPr/>
          </p:nvSpPr>
          <p:spPr>
            <a:xfrm>
              <a:off x="749260" y="2669381"/>
              <a:ext cx="13131879" cy="684848"/>
            </a:xfrm>
            <a:prstGeom prst="rect">
              <a:avLst/>
            </a:prstGeom>
            <a:noFill/>
            <a:ln>
              <a:noFill/>
            </a:ln>
          </p:spPr>
          <p:txBody>
            <a:bodyPr spcFirstLastPara="1" wrap="square" lIns="0" tIns="0" rIns="0" bIns="0" anchor="t" anchorCtr="0">
              <a:noAutofit/>
            </a:bodyPr>
            <a:lstStyle/>
            <a:p>
              <a:pPr marL="0" marR="0" lvl="1" indent="0" algn="l" rtl="0">
                <a:lnSpc>
                  <a:spcPct val="160606"/>
                </a:lnSpc>
                <a:spcBef>
                  <a:spcPts val="0"/>
                </a:spcBef>
                <a:spcAft>
                  <a:spcPts val="0"/>
                </a:spcAft>
                <a:buClr>
                  <a:srgbClr val="F4CAB8"/>
                </a:buClr>
                <a:buSzPts val="1650"/>
                <a:buFont typeface="Montserrat"/>
                <a:buNone/>
              </a:pPr>
              <a:r>
                <a:rPr lang="en-US" sz="2000" b="0" i="0" u="none" strike="noStrike" cap="none">
                  <a:solidFill>
                    <a:schemeClr val="tx1"/>
                  </a:solidFill>
                  <a:latin typeface="Montserrat"/>
                  <a:ea typeface="Montserrat"/>
                  <a:cs typeface="Montserrat"/>
                  <a:sym typeface="Montserrat"/>
                </a:rPr>
                <a:t>A single-agent system, as seen in works like </a:t>
              </a:r>
              <a:r>
                <a:rPr lang="en-US" sz="2000" b="1" i="0" u="none" strike="noStrike" cap="none">
                  <a:solidFill>
                    <a:schemeClr val="tx1"/>
                  </a:solidFill>
                  <a:latin typeface="Montserrat"/>
                  <a:ea typeface="Montserrat"/>
                  <a:cs typeface="Montserrat"/>
                  <a:sym typeface="Montserrat"/>
                </a:rPr>
                <a:t>MSARS (Li et al., 2021)</a:t>
              </a:r>
              <a:r>
                <a:rPr lang="en-US" sz="2000" b="0" i="0" u="none" strike="noStrike" cap="none">
                  <a:solidFill>
                    <a:schemeClr val="tx1"/>
                  </a:solidFill>
                  <a:latin typeface="Montserrat"/>
                  <a:ea typeface="Montserrat"/>
                  <a:cs typeface="Montserrat"/>
                  <a:sym typeface="Montserrat"/>
                </a:rPr>
                <a:t>, has to manage a massive, combined action space, which becomes intractable as more services are added.</a:t>
              </a:r>
              <a:endParaRPr sz="2000" b="0" i="0" u="none" strike="noStrike" cap="none">
                <a:solidFill>
                  <a:schemeClr val="tx1"/>
                </a:solidFill>
              </a:endParaRPr>
            </a:p>
          </p:txBody>
        </p:sp>
        <p:sp>
          <p:nvSpPr>
            <p:cNvPr id="15" name="Google Shape;401;p41">
              <a:extLst>
                <a:ext uri="{FF2B5EF4-FFF2-40B4-BE49-F238E27FC236}">
                  <a16:creationId xmlns:a16="http://schemas.microsoft.com/office/drawing/2014/main" id="{E7B07F50-A18F-45C0-E409-C6E65657D39D}"/>
                </a:ext>
              </a:extLst>
            </p:cNvPr>
            <p:cNvSpPr/>
            <p:nvPr/>
          </p:nvSpPr>
          <p:spPr>
            <a:xfrm>
              <a:off x="749260" y="3429119"/>
              <a:ext cx="13131879" cy="684848"/>
            </a:xfrm>
            <a:prstGeom prst="rect">
              <a:avLst/>
            </a:prstGeom>
            <a:noFill/>
            <a:ln>
              <a:noFill/>
            </a:ln>
          </p:spPr>
          <p:txBody>
            <a:bodyPr spcFirstLastPara="1" wrap="square" lIns="0" tIns="0" rIns="0" bIns="0" anchor="t" anchorCtr="0">
              <a:noAutofit/>
            </a:bodyPr>
            <a:lstStyle/>
            <a:p>
              <a:pPr marL="685800" marR="0" lvl="1" indent="-342900" algn="l" rtl="0">
                <a:lnSpc>
                  <a:spcPct val="160606"/>
                </a:lnSpc>
                <a:spcBef>
                  <a:spcPts val="0"/>
                </a:spcBef>
                <a:spcAft>
                  <a:spcPts val="0"/>
                </a:spcAft>
                <a:buClr>
                  <a:srgbClr val="F4CAB8"/>
                </a:buClr>
                <a:buSzPts val="1650"/>
                <a:buFont typeface="Montserrat"/>
                <a:buChar char="•"/>
              </a:pPr>
              <a:r>
                <a:rPr lang="en-US" sz="2000" b="0" i="0" u="none" strike="noStrike" cap="none">
                  <a:solidFill>
                    <a:schemeClr val="tx1"/>
                  </a:solidFill>
                  <a:latin typeface="Montserrat"/>
                  <a:ea typeface="Montserrat"/>
                  <a:cs typeface="Montserrat"/>
                  <a:sym typeface="Montserrat"/>
                </a:rPr>
                <a:t>A multi-agent approach is a more natural fit for microservice architectures, allowing each service to be controlled by a specialized agent.</a:t>
              </a:r>
              <a:endParaRPr sz="2000" b="0" i="0" u="none" strike="noStrike" cap="none">
                <a:solidFill>
                  <a:schemeClr val="tx1"/>
                </a:solidFill>
              </a:endParaRPr>
            </a:p>
          </p:txBody>
        </p:sp>
        <p:sp>
          <p:nvSpPr>
            <p:cNvPr id="16" name="Google Shape;402;p41">
              <a:extLst>
                <a:ext uri="{FF2B5EF4-FFF2-40B4-BE49-F238E27FC236}">
                  <a16:creationId xmlns:a16="http://schemas.microsoft.com/office/drawing/2014/main" id="{A053A937-5ECA-F38C-BD28-2CF60F34712F}"/>
                </a:ext>
              </a:extLst>
            </p:cNvPr>
            <p:cNvSpPr/>
            <p:nvPr/>
          </p:nvSpPr>
          <p:spPr>
            <a:xfrm>
              <a:off x="749260" y="4354830"/>
              <a:ext cx="13131879" cy="34242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F4CAB8"/>
                </a:buClr>
                <a:buSzPts val="1650"/>
                <a:buFont typeface="Montserrat"/>
                <a:buNone/>
              </a:pPr>
              <a:r>
                <a:rPr lang="en-US" sz="2000" b="1" i="0" u="none" strike="noStrike" cap="none">
                  <a:solidFill>
                    <a:schemeClr val="tx1"/>
                  </a:solidFill>
                  <a:latin typeface="Montserrat"/>
                  <a:ea typeface="Montserrat"/>
                  <a:cs typeface="Montserrat"/>
                  <a:sym typeface="Montserrat"/>
                </a:rPr>
                <a:t>The CTDE Paradigm: Centralized Training, Decentralized Execution</a:t>
              </a:r>
              <a:endParaRPr sz="2000" b="0" i="0" u="none" strike="noStrike" cap="none">
                <a:solidFill>
                  <a:schemeClr val="tx1"/>
                </a:solidFill>
              </a:endParaRPr>
            </a:p>
          </p:txBody>
        </p:sp>
        <p:sp>
          <p:nvSpPr>
            <p:cNvPr id="17" name="Google Shape;403;p41">
              <a:extLst>
                <a:ext uri="{FF2B5EF4-FFF2-40B4-BE49-F238E27FC236}">
                  <a16:creationId xmlns:a16="http://schemas.microsoft.com/office/drawing/2014/main" id="{5DE278CB-E9E2-5A82-4224-705FBF39BFE8}"/>
                </a:ext>
              </a:extLst>
            </p:cNvPr>
            <p:cNvSpPr/>
            <p:nvPr/>
          </p:nvSpPr>
          <p:spPr>
            <a:xfrm>
              <a:off x="749260" y="4938117"/>
              <a:ext cx="13131879" cy="342424"/>
            </a:xfrm>
            <a:prstGeom prst="rect">
              <a:avLst/>
            </a:prstGeom>
            <a:noFill/>
            <a:ln>
              <a:noFill/>
            </a:ln>
          </p:spPr>
          <p:txBody>
            <a:bodyPr spcFirstLastPara="1" wrap="square" lIns="0" tIns="0" rIns="0" bIns="0" anchor="t" anchorCtr="0">
              <a:noAutofit/>
            </a:bodyPr>
            <a:lstStyle/>
            <a:p>
              <a:pPr marL="685800" marR="0" lvl="1" indent="-342900" algn="l" rtl="0">
                <a:lnSpc>
                  <a:spcPct val="160606"/>
                </a:lnSpc>
                <a:spcBef>
                  <a:spcPts val="0"/>
                </a:spcBef>
                <a:spcAft>
                  <a:spcPts val="0"/>
                </a:spcAft>
                <a:buClr>
                  <a:srgbClr val="F4CAB8"/>
                </a:buClr>
                <a:buSzPts val="1650"/>
                <a:buFont typeface="Montserrat"/>
                <a:buChar char="•"/>
              </a:pPr>
              <a:r>
                <a:rPr lang="en-US" sz="2000" b="0" i="0" u="none" strike="noStrike" cap="none">
                  <a:solidFill>
                    <a:schemeClr val="tx1"/>
                  </a:solidFill>
                  <a:latin typeface="Montserrat"/>
                  <a:ea typeface="Montserrat"/>
                  <a:cs typeface="Montserrat"/>
                  <a:sym typeface="Montserrat"/>
                </a:rPr>
                <a:t>This is the core concept behind modern MARL algorithms like QMIX.</a:t>
              </a:r>
              <a:endParaRPr sz="2000" b="0" i="0" u="none" strike="noStrike" cap="none">
                <a:solidFill>
                  <a:schemeClr val="tx1"/>
                </a:solidFill>
              </a:endParaRPr>
            </a:p>
          </p:txBody>
        </p:sp>
        <p:sp>
          <p:nvSpPr>
            <p:cNvPr id="18" name="Google Shape;404;p41">
              <a:extLst>
                <a:ext uri="{FF2B5EF4-FFF2-40B4-BE49-F238E27FC236}">
                  <a16:creationId xmlns:a16="http://schemas.microsoft.com/office/drawing/2014/main" id="{9B0A6788-D2F5-15DA-60F5-0538F9C54722}"/>
                </a:ext>
              </a:extLst>
            </p:cNvPr>
            <p:cNvSpPr/>
            <p:nvPr/>
          </p:nvSpPr>
          <p:spPr>
            <a:xfrm>
              <a:off x="749260" y="5355431"/>
              <a:ext cx="13131879" cy="684848"/>
            </a:xfrm>
            <a:prstGeom prst="rect">
              <a:avLst/>
            </a:prstGeom>
            <a:noFill/>
            <a:ln>
              <a:noFill/>
            </a:ln>
          </p:spPr>
          <p:txBody>
            <a:bodyPr spcFirstLastPara="1" wrap="square" lIns="0" tIns="0" rIns="0" bIns="0" anchor="t" anchorCtr="0">
              <a:noAutofit/>
            </a:bodyPr>
            <a:lstStyle/>
            <a:p>
              <a:pPr marL="0" marR="0" lvl="1" indent="0" algn="l" rtl="0">
                <a:lnSpc>
                  <a:spcPct val="160606"/>
                </a:lnSpc>
                <a:spcBef>
                  <a:spcPts val="0"/>
                </a:spcBef>
                <a:spcAft>
                  <a:spcPts val="0"/>
                </a:spcAft>
                <a:buClr>
                  <a:srgbClr val="F4CAB8"/>
                </a:buClr>
                <a:buSzPts val="1650"/>
                <a:buFont typeface="Montserrat"/>
                <a:buNone/>
              </a:pPr>
              <a:r>
                <a:rPr lang="en-US" sz="2000" b="1" i="0" u="none" strike="noStrike" cap="none">
                  <a:solidFill>
                    <a:schemeClr val="tx1"/>
                  </a:solidFill>
                  <a:latin typeface="Montserrat"/>
                  <a:ea typeface="Montserrat"/>
                  <a:cs typeface="Montserrat"/>
                  <a:sym typeface="Montserrat"/>
                </a:rPr>
                <a:t>Decentralized Execution (Live Deployment):</a:t>
              </a:r>
              <a:r>
                <a:rPr lang="en-US" sz="2000" b="0" i="0" u="none" strike="noStrike" cap="none">
                  <a:solidFill>
                    <a:schemeClr val="tx1"/>
                  </a:solidFill>
                  <a:latin typeface="Montserrat"/>
                  <a:ea typeface="Montserrat"/>
                  <a:cs typeface="Montserrat"/>
                  <a:sym typeface="Montserrat"/>
                </a:rPr>
                <a:t> During operation, each agent makes its own decisions using only its local observations (CPU, latency, etc.). This is fast, scalable, and does not require a central controller.</a:t>
              </a:r>
              <a:endParaRPr sz="2000" b="0" i="0" u="none" strike="noStrike" cap="none">
                <a:solidFill>
                  <a:schemeClr val="tx1"/>
                </a:solidFill>
              </a:endParaRPr>
            </a:p>
          </p:txBody>
        </p:sp>
        <p:sp>
          <p:nvSpPr>
            <p:cNvPr id="19" name="Google Shape;405;p41">
              <a:extLst>
                <a:ext uri="{FF2B5EF4-FFF2-40B4-BE49-F238E27FC236}">
                  <a16:creationId xmlns:a16="http://schemas.microsoft.com/office/drawing/2014/main" id="{969D901C-C77B-2CDC-4874-7D3F847D582F}"/>
                </a:ext>
              </a:extLst>
            </p:cNvPr>
            <p:cNvSpPr/>
            <p:nvPr/>
          </p:nvSpPr>
          <p:spPr>
            <a:xfrm>
              <a:off x="749260" y="6115169"/>
              <a:ext cx="13131879" cy="1027271"/>
            </a:xfrm>
            <a:prstGeom prst="rect">
              <a:avLst/>
            </a:prstGeom>
            <a:noFill/>
            <a:ln>
              <a:noFill/>
            </a:ln>
          </p:spPr>
          <p:txBody>
            <a:bodyPr spcFirstLastPara="1" wrap="square" lIns="0" tIns="0" rIns="0" bIns="0" anchor="t" anchorCtr="0">
              <a:noAutofit/>
            </a:bodyPr>
            <a:lstStyle/>
            <a:p>
              <a:pPr marL="0" marR="0" lvl="1" indent="0" algn="l" rtl="0">
                <a:lnSpc>
                  <a:spcPct val="160606"/>
                </a:lnSpc>
                <a:spcBef>
                  <a:spcPts val="0"/>
                </a:spcBef>
                <a:spcAft>
                  <a:spcPts val="0"/>
                </a:spcAft>
                <a:buClr>
                  <a:srgbClr val="F4CAB8"/>
                </a:buClr>
                <a:buSzPts val="1650"/>
                <a:buFont typeface="Montserrat"/>
                <a:buNone/>
              </a:pPr>
              <a:r>
                <a:rPr lang="en-US" sz="2000" b="1" i="0" u="none" strike="noStrike" cap="none">
                  <a:solidFill>
                    <a:schemeClr val="tx1"/>
                  </a:solidFill>
                  <a:latin typeface="Montserrat"/>
                  <a:ea typeface="Montserrat"/>
                  <a:cs typeface="Montserrat"/>
                  <a:sym typeface="Montserrat"/>
                </a:rPr>
                <a:t>Centralized Training (Offline Simulation):</a:t>
              </a:r>
              <a:r>
                <a:rPr lang="en-US" sz="2000" b="0" i="0" u="none" strike="noStrike" cap="none">
                  <a:solidFill>
                    <a:schemeClr val="tx1"/>
                  </a:solidFill>
                  <a:latin typeface="Montserrat"/>
                  <a:ea typeface="Montserrat"/>
                  <a:cs typeface="Montserrat"/>
                  <a:sym typeface="Montserrat"/>
                </a:rPr>
                <a:t> During the training phase, we use a centralized </a:t>
              </a:r>
              <a:r>
                <a:rPr lang="en-US" sz="2000" b="1" i="0" u="none" strike="noStrike" cap="none">
                  <a:solidFill>
                    <a:schemeClr val="tx1"/>
                  </a:solidFill>
                  <a:latin typeface="Montserrat"/>
                  <a:ea typeface="Montserrat"/>
                  <a:cs typeface="Montserrat"/>
                  <a:sym typeface="Montserrat"/>
                </a:rPr>
                <a:t>"mixing network"</a:t>
              </a:r>
              <a:r>
                <a:rPr lang="en-US" sz="2000" b="0" i="0" u="none" strike="noStrike" cap="none">
                  <a:solidFill>
                    <a:schemeClr val="tx1"/>
                  </a:solidFill>
                  <a:latin typeface="Montserrat"/>
                  <a:ea typeface="Montserrat"/>
                  <a:cs typeface="Montserrat"/>
                  <a:sym typeface="Montserrat"/>
                </a:rPr>
                <a:t> that has access to the </a:t>
              </a:r>
              <a:r>
                <a:rPr lang="en-US" sz="2000" b="0" i="1" u="none" strike="noStrike" cap="none">
                  <a:solidFill>
                    <a:schemeClr val="tx1"/>
                  </a:solidFill>
                  <a:latin typeface="Montserrat"/>
                  <a:ea typeface="Montserrat"/>
                  <a:cs typeface="Montserrat"/>
                  <a:sym typeface="Montserrat"/>
                </a:rPr>
                <a:t>global state</a:t>
              </a:r>
              <a:r>
                <a:rPr lang="en-US" sz="2000" b="0" i="0" u="none" strike="noStrike" cap="none">
                  <a:solidFill>
                    <a:schemeClr val="tx1"/>
                  </a:solidFill>
                  <a:latin typeface="Montserrat"/>
                  <a:ea typeface="Montserrat"/>
                  <a:cs typeface="Montserrat"/>
                  <a:sym typeface="Montserrat"/>
                </a:rPr>
                <a:t> (observations from all agents). This allows the system to learn how the joint actions of all agents affect the global reward, thus teaching them to coordinate.</a:t>
              </a:r>
              <a:endParaRPr sz="2000" b="0" i="0" u="none" strike="noStrike" cap="none">
                <a:solidFill>
                  <a:schemeClr val="tx1"/>
                </a:solidFill>
              </a:endParaRPr>
            </a:p>
          </p:txBody>
        </p:sp>
      </p:grpSp>
    </p:spTree>
    <p:extLst>
      <p:ext uri="{BB962C8B-B14F-4D97-AF65-F5344CB8AC3E}">
        <p14:creationId xmlns:p14="http://schemas.microsoft.com/office/powerpoint/2010/main" val="1156838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AFD12-98A4-6E60-3422-01AF6DAB4B5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5D5377-9B65-EEC8-F29E-3EC2AB1924F1}"/>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ACE2B227-A88A-5F42-6411-77543A78682E}"/>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40727F7E-B2AB-1BAD-5180-23B683EE74CA}"/>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1A1B7B36-49DF-A91A-FAD8-1F614D5A5D22}"/>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63E7451D-1CDC-8D50-BD1A-55767DC2421F}"/>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ECAEE836-11F9-D41E-F66D-BB62425E3DB4}"/>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a:extLst>
              <a:ext uri="{FF2B5EF4-FFF2-40B4-BE49-F238E27FC236}">
                <a16:creationId xmlns:a16="http://schemas.microsoft.com/office/drawing/2014/main" id="{CDFDDD8D-B054-286A-90E1-7A2E438F8A71}"/>
              </a:ext>
            </a:extLst>
          </p:cNvPr>
          <p:cNvSpPr txBox="1"/>
          <p:nvPr/>
        </p:nvSpPr>
        <p:spPr>
          <a:xfrm>
            <a:off x="121901" y="83801"/>
            <a:ext cx="18044198"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ALGORITHM</a:t>
            </a:r>
          </a:p>
        </p:txBody>
      </p:sp>
      <p:sp>
        <p:nvSpPr>
          <p:cNvPr id="10" name="Slide Number Placeholder 9">
            <a:extLst>
              <a:ext uri="{FF2B5EF4-FFF2-40B4-BE49-F238E27FC236}">
                <a16:creationId xmlns:a16="http://schemas.microsoft.com/office/drawing/2014/main" id="{1413351E-CDBA-A76F-F61B-058EF84C5734}"/>
              </a:ext>
            </a:extLst>
          </p:cNvPr>
          <p:cNvSpPr>
            <a:spLocks noGrp="1"/>
          </p:cNvSpPr>
          <p:nvPr>
            <p:ph type="sldNum" sz="quarter" idx="12"/>
          </p:nvPr>
        </p:nvSpPr>
        <p:spPr>
          <a:xfrm>
            <a:off x="15119204" y="9467259"/>
            <a:ext cx="2133600" cy="365125"/>
          </a:xfrm>
        </p:spPr>
        <p:txBody>
          <a:bodyPr/>
          <a:lstStyle/>
          <a:p>
            <a:fld id="{B6F15528-21DE-4FAA-801E-634DDDAF4B2B}" type="slidenum">
              <a:rPr lang="en-US" smtClean="0"/>
              <a:pPr/>
              <a:t>17</a:t>
            </a:fld>
            <a:endParaRPr lang="en-US"/>
          </a:p>
        </p:txBody>
      </p:sp>
      <p:sp>
        <p:nvSpPr>
          <p:cNvPr id="12" name="Footer Placeholder 11">
            <a:extLst>
              <a:ext uri="{FF2B5EF4-FFF2-40B4-BE49-F238E27FC236}">
                <a16:creationId xmlns:a16="http://schemas.microsoft.com/office/drawing/2014/main" id="{D3331EF9-54A5-4164-A5A9-6E43F2871360}"/>
              </a:ext>
            </a:extLst>
          </p:cNvPr>
          <p:cNvSpPr>
            <a:spLocks noGrp="1"/>
          </p:cNvSpPr>
          <p:nvPr>
            <p:ph type="ftr" sz="quarter" idx="11"/>
          </p:nvPr>
        </p:nvSpPr>
        <p:spPr>
          <a:xfrm>
            <a:off x="-304800" y="9715500"/>
            <a:ext cx="7772400" cy="857420"/>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grpSp>
        <p:nvGrpSpPr>
          <p:cNvPr id="29" name="Group 28">
            <a:extLst>
              <a:ext uri="{FF2B5EF4-FFF2-40B4-BE49-F238E27FC236}">
                <a16:creationId xmlns:a16="http://schemas.microsoft.com/office/drawing/2014/main" id="{1D03EE83-45F0-5BBD-FD41-B6547BF16EC8}"/>
              </a:ext>
            </a:extLst>
          </p:cNvPr>
          <p:cNvGrpSpPr/>
          <p:nvPr/>
        </p:nvGrpSpPr>
        <p:grpSpPr>
          <a:xfrm>
            <a:off x="749260" y="1764385"/>
            <a:ext cx="17128384" cy="7248219"/>
            <a:chOff x="749260" y="1764387"/>
            <a:chExt cx="13131879" cy="4893350"/>
          </a:xfrm>
        </p:grpSpPr>
        <p:sp>
          <p:nvSpPr>
            <p:cNvPr id="30" name="Google Shape;411;p42">
              <a:extLst>
                <a:ext uri="{FF2B5EF4-FFF2-40B4-BE49-F238E27FC236}">
                  <a16:creationId xmlns:a16="http://schemas.microsoft.com/office/drawing/2014/main" id="{42334932-3A7C-B420-6D78-19CCB4DE26A5}"/>
                </a:ext>
              </a:extLst>
            </p:cNvPr>
            <p:cNvSpPr/>
            <p:nvPr/>
          </p:nvSpPr>
          <p:spPr>
            <a:xfrm>
              <a:off x="749260" y="1764387"/>
              <a:ext cx="13131879" cy="342424"/>
            </a:xfrm>
            <a:prstGeom prst="rect">
              <a:avLst/>
            </a:prstGeom>
            <a:noFill/>
            <a:ln>
              <a:noFill/>
            </a:ln>
          </p:spPr>
          <p:txBody>
            <a:bodyPr spcFirstLastPara="1" wrap="square" lIns="0" tIns="0" rIns="0" bIns="0" anchor="t" anchorCtr="0">
              <a:noAutofit/>
            </a:bodyPr>
            <a:lstStyle/>
            <a:p>
              <a:pPr>
                <a:lnSpc>
                  <a:spcPct val="160606"/>
                </a:lnSpc>
                <a:buClr>
                  <a:srgbClr val="F4CAB8"/>
                </a:buClr>
                <a:buSzPts val="1650"/>
                <a:buFont typeface="Montserrat"/>
                <a:buNone/>
              </a:pPr>
              <a:r>
                <a:rPr lang="en-US" sz="2800" b="1" kern="0">
                  <a:solidFill>
                    <a:srgbClr val="000000"/>
                  </a:solidFill>
                  <a:latin typeface="Montserrat"/>
                  <a:ea typeface="Montserrat"/>
                  <a:cs typeface="Montserrat"/>
                  <a:sym typeface="Montserrat"/>
                </a:rPr>
                <a:t>Centralized Reward Function:</a:t>
              </a:r>
              <a:endParaRPr sz="2800" kern="0">
                <a:solidFill>
                  <a:srgbClr val="000000"/>
                </a:solidFill>
                <a:latin typeface="Arial"/>
                <a:cs typeface="Arial"/>
                <a:sym typeface="Arial"/>
              </a:endParaRPr>
            </a:p>
          </p:txBody>
        </p:sp>
        <p:sp>
          <p:nvSpPr>
            <p:cNvPr id="31" name="Google Shape;412;p42">
              <a:extLst>
                <a:ext uri="{FF2B5EF4-FFF2-40B4-BE49-F238E27FC236}">
                  <a16:creationId xmlns:a16="http://schemas.microsoft.com/office/drawing/2014/main" id="{02A29C1D-4570-D0C6-7AB9-E1BC50F40CFF}"/>
                </a:ext>
              </a:extLst>
            </p:cNvPr>
            <p:cNvSpPr/>
            <p:nvPr/>
          </p:nvSpPr>
          <p:spPr>
            <a:xfrm>
              <a:off x="749260" y="2299454"/>
              <a:ext cx="13131879" cy="684848"/>
            </a:xfrm>
            <a:prstGeom prst="rect">
              <a:avLst/>
            </a:prstGeom>
            <a:noFill/>
            <a:ln>
              <a:noFill/>
            </a:ln>
          </p:spPr>
          <p:txBody>
            <a:bodyPr spcFirstLastPara="1" wrap="square" lIns="0" tIns="0" rIns="0" bIns="0" anchor="t" anchorCtr="0">
              <a:noAutofit/>
            </a:bodyPr>
            <a:lstStyle/>
            <a:p>
              <a:pPr marL="685800" lvl="1" indent="-342900">
                <a:lnSpc>
                  <a:spcPct val="160606"/>
                </a:lnSpc>
                <a:buClr>
                  <a:srgbClr val="F4CAB8"/>
                </a:buClr>
                <a:buSzPts val="1650"/>
                <a:buFont typeface="Montserrat"/>
                <a:buChar char="•"/>
              </a:pPr>
              <a:r>
                <a:rPr lang="en-US" sz="2800" kern="0" dirty="0">
                  <a:solidFill>
                    <a:srgbClr val="000000"/>
                  </a:solidFill>
                  <a:latin typeface="Montserrat"/>
                  <a:ea typeface="Montserrat"/>
                  <a:cs typeface="Montserrat"/>
                  <a:sym typeface="Montserrat"/>
                </a:rPr>
                <a:t>A single, shared reward scalar is calculated at each step and broadcast to all agents. This forces them to learn cooperative strategies.</a:t>
              </a:r>
              <a:endParaRPr sz="2800" kern="0" dirty="0">
                <a:solidFill>
                  <a:srgbClr val="000000"/>
                </a:solidFill>
                <a:latin typeface="Arial"/>
                <a:cs typeface="Arial"/>
                <a:sym typeface="Arial"/>
              </a:endParaRPr>
            </a:p>
          </p:txBody>
        </p:sp>
        <p:sp>
          <p:nvSpPr>
            <p:cNvPr id="32" name="Google Shape;413;p42">
              <a:extLst>
                <a:ext uri="{FF2B5EF4-FFF2-40B4-BE49-F238E27FC236}">
                  <a16:creationId xmlns:a16="http://schemas.microsoft.com/office/drawing/2014/main" id="{F66D65D1-66BF-908C-BEF2-7EF1336E4E8B}"/>
                </a:ext>
              </a:extLst>
            </p:cNvPr>
            <p:cNvSpPr/>
            <p:nvPr/>
          </p:nvSpPr>
          <p:spPr>
            <a:xfrm>
              <a:off x="749260" y="3059192"/>
              <a:ext cx="13131879" cy="342424"/>
            </a:xfrm>
            <a:prstGeom prst="rect">
              <a:avLst/>
            </a:prstGeom>
            <a:noFill/>
            <a:ln>
              <a:noFill/>
            </a:ln>
          </p:spPr>
          <p:txBody>
            <a:bodyPr spcFirstLastPara="1" wrap="square" lIns="0" tIns="0" rIns="0" bIns="0" anchor="t" anchorCtr="0">
              <a:noAutofit/>
            </a:bodyPr>
            <a:lstStyle/>
            <a:p>
              <a:pPr marL="685800" lvl="1" indent="-342900">
                <a:lnSpc>
                  <a:spcPct val="160606"/>
                </a:lnSpc>
                <a:buClr>
                  <a:srgbClr val="F4CAB8"/>
                </a:buClr>
                <a:buSzPts val="1650"/>
                <a:buFont typeface="Montserrat"/>
                <a:buChar char="•"/>
              </a:pPr>
              <a:r>
                <a:rPr lang="en-US" sz="2800" kern="0">
                  <a:solidFill>
                    <a:srgbClr val="000000"/>
                  </a:solidFill>
                  <a:latin typeface="Montserrat"/>
                  <a:ea typeface="Montserrat"/>
                  <a:cs typeface="Montserrat"/>
                  <a:sym typeface="Montserrat"/>
                </a:rPr>
                <a:t>The formula is a weighted sum of penalties:</a:t>
              </a:r>
              <a:endParaRPr sz="2800" kern="0">
                <a:solidFill>
                  <a:srgbClr val="000000"/>
                </a:solidFill>
                <a:latin typeface="Arial"/>
                <a:cs typeface="Arial"/>
                <a:sym typeface="Arial"/>
              </a:endParaRPr>
            </a:p>
          </p:txBody>
        </p:sp>
        <p:sp>
          <p:nvSpPr>
            <p:cNvPr id="33" name="Google Shape;414;p42">
              <a:extLst>
                <a:ext uri="{FF2B5EF4-FFF2-40B4-BE49-F238E27FC236}">
                  <a16:creationId xmlns:a16="http://schemas.microsoft.com/office/drawing/2014/main" id="{E6D39B5F-EED7-255D-981E-8103763458FD}"/>
                </a:ext>
              </a:extLst>
            </p:cNvPr>
            <p:cNvSpPr/>
            <p:nvPr/>
          </p:nvSpPr>
          <p:spPr>
            <a:xfrm>
              <a:off x="749260" y="3722727"/>
              <a:ext cx="2854643" cy="356830"/>
            </a:xfrm>
            <a:prstGeom prst="rect">
              <a:avLst/>
            </a:prstGeom>
            <a:noFill/>
            <a:ln>
              <a:noFill/>
            </a:ln>
          </p:spPr>
          <p:txBody>
            <a:bodyPr spcFirstLastPara="1" wrap="square" lIns="0" tIns="0" rIns="0" bIns="0" anchor="t" anchorCtr="0">
              <a:noAutofit/>
            </a:bodyPr>
            <a:lstStyle/>
            <a:p>
              <a:pPr>
                <a:lnSpc>
                  <a:spcPct val="127272"/>
                </a:lnSpc>
                <a:buClr>
                  <a:srgbClr val="FFB393"/>
                </a:buClr>
                <a:buSzPts val="2200"/>
                <a:buFont typeface="Brygada 1918"/>
                <a:buNone/>
              </a:pPr>
              <a:r>
                <a:rPr lang="en-US" sz="2800" b="1" kern="0">
                  <a:solidFill>
                    <a:srgbClr val="000000"/>
                  </a:solidFill>
                  <a:latin typeface="Brygada 1918"/>
                  <a:ea typeface="Brygada 1918"/>
                  <a:cs typeface="Brygada 1918"/>
                  <a:sym typeface="Brygada 1918"/>
                </a:rPr>
                <a:t>Core Formula</a:t>
              </a:r>
              <a:endParaRPr sz="2800" kern="0">
                <a:solidFill>
                  <a:srgbClr val="000000"/>
                </a:solidFill>
                <a:latin typeface="Arial"/>
                <a:cs typeface="Arial"/>
                <a:sym typeface="Arial"/>
              </a:endParaRPr>
            </a:p>
          </p:txBody>
        </p:sp>
        <p:sp>
          <p:nvSpPr>
            <p:cNvPr id="34" name="Google Shape;415;p42">
              <a:extLst>
                <a:ext uri="{FF2B5EF4-FFF2-40B4-BE49-F238E27FC236}">
                  <a16:creationId xmlns:a16="http://schemas.microsoft.com/office/drawing/2014/main" id="{C47E2974-FC7F-7A0D-12A7-D43892A3BE40}"/>
                </a:ext>
              </a:extLst>
            </p:cNvPr>
            <p:cNvSpPr/>
            <p:nvPr/>
          </p:nvSpPr>
          <p:spPr>
            <a:xfrm>
              <a:off x="749260" y="4400669"/>
              <a:ext cx="13131879" cy="428149"/>
            </a:xfrm>
            <a:prstGeom prst="rect">
              <a:avLst/>
            </a:prstGeom>
            <a:noFill/>
            <a:ln>
              <a:noFill/>
            </a:ln>
          </p:spPr>
          <p:txBody>
            <a:bodyPr spcFirstLastPara="1" wrap="square" lIns="0" tIns="0" rIns="0" bIns="0" anchor="t" anchorCtr="0">
              <a:noAutofit/>
            </a:bodyPr>
            <a:lstStyle/>
            <a:p>
              <a:pPr>
                <a:lnSpc>
                  <a:spcPct val="159523"/>
                </a:lnSpc>
                <a:buClr>
                  <a:srgbClr val="F4CAB8"/>
                </a:buClr>
                <a:buSzPts val="2100"/>
                <a:buFont typeface="Montserrat"/>
                <a:buNone/>
              </a:pPr>
              <a:r>
                <a:rPr lang="en-US" sz="2800" kern="0">
                  <a:solidFill>
                    <a:srgbClr val="000000"/>
                  </a:solidFill>
                  <a:latin typeface="Montserrat"/>
                  <a:ea typeface="Montserrat"/>
                  <a:cs typeface="Montserrat"/>
                  <a:sym typeface="Montserrat"/>
                </a:rPr>
                <a:t>                                              </a:t>
              </a:r>
              <a:r>
                <a:rPr lang="en-US" sz="2800" b="1" kern="0">
                  <a:solidFill>
                    <a:srgbClr val="000000"/>
                  </a:solidFill>
                  <a:latin typeface="Montserrat"/>
                  <a:ea typeface="Montserrat"/>
                  <a:cs typeface="Montserrat"/>
                  <a:sym typeface="Montserrat"/>
                </a:rPr>
                <a:t>r = - (α·cost_norm + β·sla_fraction + γ·flap_penalty)</a:t>
              </a:r>
              <a:endParaRPr sz="2800" kern="0">
                <a:solidFill>
                  <a:srgbClr val="000000"/>
                </a:solidFill>
                <a:latin typeface="Arial"/>
                <a:cs typeface="Arial"/>
                <a:sym typeface="Arial"/>
              </a:endParaRPr>
            </a:p>
          </p:txBody>
        </p:sp>
        <p:sp>
          <p:nvSpPr>
            <p:cNvPr id="35" name="Google Shape;416;p42">
              <a:extLst>
                <a:ext uri="{FF2B5EF4-FFF2-40B4-BE49-F238E27FC236}">
                  <a16:creationId xmlns:a16="http://schemas.microsoft.com/office/drawing/2014/main" id="{B3636867-CB5E-7B9C-DCCB-E9FCA0A55260}"/>
                </a:ext>
              </a:extLst>
            </p:cNvPr>
            <p:cNvSpPr/>
            <p:nvPr/>
          </p:nvSpPr>
          <p:spPr>
            <a:xfrm>
              <a:off x="749260" y="5069681"/>
              <a:ext cx="13131879" cy="365284"/>
            </a:xfrm>
            <a:prstGeom prst="rect">
              <a:avLst/>
            </a:prstGeom>
            <a:noFill/>
            <a:ln>
              <a:noFill/>
            </a:ln>
          </p:spPr>
          <p:txBody>
            <a:bodyPr spcFirstLastPara="1" wrap="square" lIns="0" tIns="0" rIns="0" bIns="0" anchor="t" anchorCtr="0">
              <a:noAutofit/>
            </a:bodyPr>
            <a:lstStyle/>
            <a:p>
              <a:pPr marL="0" lvl="1">
                <a:lnSpc>
                  <a:spcPct val="160606"/>
                </a:lnSpc>
                <a:buClr>
                  <a:srgbClr val="F4CAB8"/>
                </a:buClr>
                <a:buSzPts val="1650"/>
                <a:buFont typeface="Montserrat"/>
                <a:buNone/>
              </a:pPr>
              <a:r>
                <a:rPr lang="en-US" sz="2800" b="1" kern="0">
                  <a:solidFill>
                    <a:srgbClr val="000000"/>
                  </a:solidFill>
                  <a:latin typeface="Montserrat"/>
                  <a:ea typeface="Montserrat"/>
                  <a:cs typeface="Montserrat"/>
                  <a:sym typeface="Montserrat"/>
                </a:rPr>
                <a:t>α (Cost):</a:t>
              </a:r>
              <a:r>
                <a:rPr lang="en-US" sz="2800" kern="0">
                  <a:solidFill>
                    <a:srgbClr val="000000"/>
                  </a:solidFill>
                  <a:latin typeface="Montserrat"/>
                  <a:ea typeface="Montserrat"/>
                  <a:cs typeface="Montserrat"/>
                  <a:sym typeface="Montserrat"/>
                </a:rPr>
                <a:t> </a:t>
              </a:r>
              <a:r>
                <a:rPr lang="en-US" sz="2800" kern="0">
                  <a:solidFill>
                    <a:srgbClr val="000000"/>
                  </a:solidFill>
                  <a:highlight>
                    <a:srgbClr val="693145"/>
                  </a:highlight>
                  <a:latin typeface="Consolas"/>
                  <a:ea typeface="Consolas"/>
                  <a:cs typeface="Consolas"/>
                  <a:sym typeface="Consolas"/>
                </a:rPr>
                <a:t>1.0</a:t>
              </a:r>
              <a:r>
                <a:rPr lang="en-US" sz="2800" kern="0">
                  <a:solidFill>
                    <a:srgbClr val="000000"/>
                  </a:solidFill>
                  <a:latin typeface="Montserrat"/>
                  <a:ea typeface="Montserrat"/>
                  <a:cs typeface="Montserrat"/>
                  <a:sym typeface="Montserrat"/>
                </a:rPr>
                <a:t>. Penalizes the total number of running pod-hours.</a:t>
              </a:r>
              <a:endParaRPr sz="2800" kern="0">
                <a:solidFill>
                  <a:srgbClr val="000000"/>
                </a:solidFill>
                <a:latin typeface="Arial"/>
                <a:cs typeface="Arial"/>
                <a:sym typeface="Arial"/>
              </a:endParaRPr>
            </a:p>
          </p:txBody>
        </p:sp>
        <p:sp>
          <p:nvSpPr>
            <p:cNvPr id="36" name="Google Shape;417;p42">
              <a:extLst>
                <a:ext uri="{FF2B5EF4-FFF2-40B4-BE49-F238E27FC236}">
                  <a16:creationId xmlns:a16="http://schemas.microsoft.com/office/drawing/2014/main" id="{FDD580FE-39ED-5576-55C0-6D409870053A}"/>
                </a:ext>
              </a:extLst>
            </p:cNvPr>
            <p:cNvSpPr/>
            <p:nvPr/>
          </p:nvSpPr>
          <p:spPr>
            <a:xfrm>
              <a:off x="749260" y="5509855"/>
              <a:ext cx="13131879" cy="707707"/>
            </a:xfrm>
            <a:prstGeom prst="rect">
              <a:avLst/>
            </a:prstGeom>
            <a:noFill/>
            <a:ln>
              <a:noFill/>
            </a:ln>
          </p:spPr>
          <p:txBody>
            <a:bodyPr spcFirstLastPara="1" wrap="square" lIns="0" tIns="0" rIns="0" bIns="0" anchor="t" anchorCtr="0">
              <a:noAutofit/>
            </a:bodyPr>
            <a:lstStyle/>
            <a:p>
              <a:pPr marL="0" lvl="1">
                <a:lnSpc>
                  <a:spcPct val="160606"/>
                </a:lnSpc>
                <a:buClr>
                  <a:srgbClr val="F4CAB8"/>
                </a:buClr>
                <a:buSzPts val="1650"/>
                <a:buFont typeface="Montserrat"/>
                <a:buNone/>
              </a:pPr>
              <a:r>
                <a:rPr lang="en-US" sz="2800" b="1" kern="0">
                  <a:solidFill>
                    <a:srgbClr val="000000"/>
                  </a:solidFill>
                  <a:latin typeface="Montserrat"/>
                  <a:ea typeface="Montserrat"/>
                  <a:cs typeface="Montserrat"/>
                  <a:sym typeface="Montserrat"/>
                </a:rPr>
                <a:t>β (SLA Violation):</a:t>
              </a:r>
              <a:r>
                <a:rPr lang="en-US" sz="2800" kern="0">
                  <a:solidFill>
                    <a:srgbClr val="000000"/>
                  </a:solidFill>
                  <a:latin typeface="Montserrat"/>
                  <a:ea typeface="Montserrat"/>
                  <a:cs typeface="Montserrat"/>
                  <a:sym typeface="Montserrat"/>
                </a:rPr>
                <a:t> </a:t>
              </a:r>
              <a:r>
                <a:rPr lang="en-US" sz="2800" kern="0">
                  <a:solidFill>
                    <a:srgbClr val="000000"/>
                  </a:solidFill>
                  <a:highlight>
                    <a:srgbClr val="693145"/>
                  </a:highlight>
                  <a:latin typeface="Consolas"/>
                  <a:ea typeface="Consolas"/>
                  <a:cs typeface="Consolas"/>
                  <a:sym typeface="Consolas"/>
                </a:rPr>
                <a:t>10.0</a:t>
              </a:r>
              <a:r>
                <a:rPr lang="en-US" sz="2800" kern="0">
                  <a:solidFill>
                    <a:srgbClr val="000000"/>
                  </a:solidFill>
                  <a:latin typeface="Montserrat"/>
                  <a:ea typeface="Montserrat"/>
                  <a:cs typeface="Montserrat"/>
                  <a:sym typeface="Montserrat"/>
                </a:rPr>
                <a:t>. A heavy penalty for the fraction of requests that exceed the p95 latency SLO. This is the primary driver of performance.</a:t>
              </a:r>
              <a:endParaRPr sz="2800" kern="0">
                <a:solidFill>
                  <a:srgbClr val="000000"/>
                </a:solidFill>
                <a:latin typeface="Arial"/>
                <a:cs typeface="Arial"/>
                <a:sym typeface="Arial"/>
              </a:endParaRPr>
            </a:p>
          </p:txBody>
        </p:sp>
        <p:sp>
          <p:nvSpPr>
            <p:cNvPr id="37" name="Google Shape;418;p42">
              <a:extLst>
                <a:ext uri="{FF2B5EF4-FFF2-40B4-BE49-F238E27FC236}">
                  <a16:creationId xmlns:a16="http://schemas.microsoft.com/office/drawing/2014/main" id="{78812DC1-2F09-04A9-7D27-0E3085569245}"/>
                </a:ext>
              </a:extLst>
            </p:cNvPr>
            <p:cNvSpPr/>
            <p:nvPr/>
          </p:nvSpPr>
          <p:spPr>
            <a:xfrm>
              <a:off x="749260" y="6292453"/>
              <a:ext cx="13131879" cy="365284"/>
            </a:xfrm>
            <a:prstGeom prst="rect">
              <a:avLst/>
            </a:prstGeom>
            <a:noFill/>
            <a:ln>
              <a:noFill/>
            </a:ln>
          </p:spPr>
          <p:txBody>
            <a:bodyPr spcFirstLastPara="1" wrap="square" lIns="0" tIns="0" rIns="0" bIns="0" anchor="t" anchorCtr="0">
              <a:noAutofit/>
            </a:bodyPr>
            <a:lstStyle/>
            <a:p>
              <a:pPr marL="0" lvl="1">
                <a:lnSpc>
                  <a:spcPct val="160606"/>
                </a:lnSpc>
                <a:buClr>
                  <a:srgbClr val="F4CAB8"/>
                </a:buClr>
                <a:buSzPts val="1650"/>
                <a:buFont typeface="Montserrat"/>
                <a:buNone/>
              </a:pPr>
              <a:r>
                <a:rPr lang="en-US" sz="2800" b="1" kern="0" dirty="0">
                  <a:solidFill>
                    <a:srgbClr val="000000"/>
                  </a:solidFill>
                  <a:latin typeface="Montserrat"/>
                  <a:ea typeface="Montserrat"/>
                  <a:cs typeface="Montserrat"/>
                  <a:sym typeface="Montserrat"/>
                </a:rPr>
                <a:t>γ (Flapping):</a:t>
              </a:r>
              <a:r>
                <a:rPr lang="en-US" sz="2800" kern="0" dirty="0">
                  <a:solidFill>
                    <a:srgbClr val="000000"/>
                  </a:solidFill>
                  <a:latin typeface="Montserrat"/>
                  <a:ea typeface="Montserrat"/>
                  <a:cs typeface="Montserrat"/>
                  <a:sym typeface="Montserrat"/>
                </a:rPr>
                <a:t> </a:t>
              </a:r>
              <a:r>
                <a:rPr lang="en-US" sz="2800" kern="0" dirty="0">
                  <a:solidFill>
                    <a:srgbClr val="000000"/>
                  </a:solidFill>
                  <a:highlight>
                    <a:srgbClr val="693145"/>
                  </a:highlight>
                  <a:latin typeface="Consolas"/>
                  <a:ea typeface="Consolas"/>
                  <a:cs typeface="Consolas"/>
                  <a:sym typeface="Consolas"/>
                </a:rPr>
                <a:t>2.0</a:t>
              </a:r>
              <a:r>
                <a:rPr lang="en-US" sz="2800" kern="0" dirty="0">
                  <a:solidFill>
                    <a:srgbClr val="000000"/>
                  </a:solidFill>
                  <a:latin typeface="Montserrat"/>
                  <a:ea typeface="Montserrat"/>
                  <a:cs typeface="Montserrat"/>
                  <a:sym typeface="Montserrat"/>
                </a:rPr>
                <a:t>. A small penalty for frequent changes in replica counts to encourage stability.</a:t>
              </a:r>
              <a:endParaRPr sz="2800" kern="0" dirty="0">
                <a:solidFill>
                  <a:srgbClr val="000000"/>
                </a:solidFill>
                <a:latin typeface="Arial"/>
                <a:cs typeface="Arial"/>
                <a:sym typeface="Arial"/>
              </a:endParaRPr>
            </a:p>
          </p:txBody>
        </p:sp>
      </p:grpSp>
    </p:spTree>
    <p:extLst>
      <p:ext uri="{BB962C8B-B14F-4D97-AF65-F5344CB8AC3E}">
        <p14:creationId xmlns:p14="http://schemas.microsoft.com/office/powerpoint/2010/main" val="1310305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91421" y="264976"/>
            <a:ext cx="18105149" cy="1038746"/>
          </a:xfrm>
          <a:prstGeom prst="rect">
            <a:avLst/>
          </a:prstGeom>
        </p:spPr>
        <p:txBody>
          <a:bodyPr lIns="0" tIns="0" rIns="0" bIns="0" rtlCol="0" anchor="t">
            <a:spAutoFit/>
          </a:bodyPr>
          <a:lstStyle/>
          <a:p>
            <a:pPr algn="ctr">
              <a:lnSpc>
                <a:spcPts val="8100"/>
              </a:lnSpc>
            </a:pPr>
            <a:r>
              <a:rPr lang="en-US" sz="6750" b="1" u="sng" dirty="0">
                <a:solidFill>
                  <a:srgbClr val="000000"/>
                </a:solidFill>
                <a:latin typeface="Times New Roman Bold"/>
                <a:ea typeface="Times New Roman Bold"/>
                <a:cs typeface="Times New Roman Bold"/>
                <a:sym typeface="Times New Roman Bold"/>
              </a:rPr>
              <a:t>   DFD LEVEL 0</a:t>
            </a:r>
          </a:p>
        </p:txBody>
      </p:sp>
      <p:sp>
        <p:nvSpPr>
          <p:cNvPr id="10" name="Slide Number Placeholder 9">
            <a:extLst>
              <a:ext uri="{FF2B5EF4-FFF2-40B4-BE49-F238E27FC236}">
                <a16:creationId xmlns:a16="http://schemas.microsoft.com/office/drawing/2014/main" id="{1DE1FD8A-B8F5-89A1-464B-FBF2C67C6D1F}"/>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12" name="Footer Placeholder 11">
            <a:extLst>
              <a:ext uri="{FF2B5EF4-FFF2-40B4-BE49-F238E27FC236}">
                <a16:creationId xmlns:a16="http://schemas.microsoft.com/office/drawing/2014/main" id="{A8981F51-1A3B-611B-7974-1F381DD554BA}"/>
              </a:ext>
            </a:extLst>
          </p:cNvPr>
          <p:cNvSpPr>
            <a:spLocks noGrp="1"/>
          </p:cNvSpPr>
          <p:nvPr>
            <p:ph type="ftr" sz="quarter" idx="11"/>
          </p:nvPr>
        </p:nvSpPr>
        <p:spPr>
          <a:xfrm>
            <a:off x="-30480" y="9499797"/>
            <a:ext cx="7269480" cy="1256378"/>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9" name="Picture 8">
            <a:extLst>
              <a:ext uri="{FF2B5EF4-FFF2-40B4-BE49-F238E27FC236}">
                <a16:creationId xmlns:a16="http://schemas.microsoft.com/office/drawing/2014/main" id="{B72E1310-7FA8-E99B-CA14-3860A0BD4593}"/>
              </a:ext>
            </a:extLst>
          </p:cNvPr>
          <p:cNvPicPr>
            <a:picLocks noChangeAspect="1"/>
          </p:cNvPicPr>
          <p:nvPr/>
        </p:nvPicPr>
        <p:blipFill>
          <a:blip r:embed="rId4"/>
          <a:stretch>
            <a:fillRect/>
          </a:stretch>
        </p:blipFill>
        <p:spPr>
          <a:xfrm>
            <a:off x="4166518" y="1462754"/>
            <a:ext cx="9954954" cy="76373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91421" y="53321"/>
            <a:ext cx="18105149" cy="1241698"/>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DFD LEVEL 1</a:t>
            </a:r>
          </a:p>
        </p:txBody>
      </p:sp>
      <p:sp>
        <p:nvSpPr>
          <p:cNvPr id="10" name="Slide Number Placeholder 9">
            <a:extLst>
              <a:ext uri="{FF2B5EF4-FFF2-40B4-BE49-F238E27FC236}">
                <a16:creationId xmlns:a16="http://schemas.microsoft.com/office/drawing/2014/main" id="{C6A06195-F36B-2820-4F82-29A74B45D280}"/>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12" name="Footer Placeholder 11">
            <a:extLst>
              <a:ext uri="{FF2B5EF4-FFF2-40B4-BE49-F238E27FC236}">
                <a16:creationId xmlns:a16="http://schemas.microsoft.com/office/drawing/2014/main" id="{82E49F67-AB9C-33ED-C4D8-AC8F30D7F3DC}"/>
              </a:ext>
            </a:extLst>
          </p:cNvPr>
          <p:cNvSpPr>
            <a:spLocks noGrp="1"/>
          </p:cNvSpPr>
          <p:nvPr>
            <p:ph type="ftr" sz="quarter" idx="11"/>
          </p:nvPr>
        </p:nvSpPr>
        <p:spPr>
          <a:xfrm>
            <a:off x="-152400" y="9419167"/>
            <a:ext cx="7315200" cy="1322915"/>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9" name="Google Shape;339;p36" descr="preencoded.png">
            <a:extLst>
              <a:ext uri="{FF2B5EF4-FFF2-40B4-BE49-F238E27FC236}">
                <a16:creationId xmlns:a16="http://schemas.microsoft.com/office/drawing/2014/main" id="{A8295D82-00AC-CBCC-FA75-F23905A293DA}"/>
              </a:ext>
            </a:extLst>
          </p:cNvPr>
          <p:cNvPicPr preferRelativeResize="0"/>
          <p:nvPr/>
        </p:nvPicPr>
        <p:blipFill rotWithShape="1">
          <a:blip r:embed="rId4">
            <a:alphaModFix/>
          </a:blip>
          <a:srcRect r="49735" b="73864"/>
          <a:stretch>
            <a:fillRect/>
          </a:stretch>
        </p:blipFill>
        <p:spPr>
          <a:xfrm>
            <a:off x="1714496" y="1529291"/>
            <a:ext cx="14858998" cy="761421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91421" y="72371"/>
            <a:ext cx="18105149" cy="884729"/>
          </a:xfrm>
          <a:prstGeom prst="rect">
            <a:avLst/>
          </a:prstGeom>
        </p:spPr>
        <p:txBody>
          <a:bodyPr lIns="0" tIns="0" rIns="0" bIns="0" rtlCol="0" anchor="t">
            <a:spAutoFit/>
          </a:bodyPr>
          <a:lstStyle/>
          <a:p>
            <a:pPr algn="ctr">
              <a:lnSpc>
                <a:spcPts val="7289"/>
              </a:lnSpc>
            </a:pPr>
            <a:r>
              <a:rPr lang="en-US" sz="6075" b="1" dirty="0">
                <a:solidFill>
                  <a:srgbClr val="000000"/>
                </a:solidFill>
                <a:latin typeface="Times New Roman Bold"/>
                <a:ea typeface="Times New Roman Bold"/>
                <a:cs typeface="Times New Roman Bold"/>
                <a:sym typeface="Times New Roman Bold"/>
              </a:rPr>
              <a:t>   DFD LEVEL 2</a:t>
            </a:r>
          </a:p>
        </p:txBody>
      </p:sp>
      <p:sp>
        <p:nvSpPr>
          <p:cNvPr id="10" name="Slide Number Placeholder 9">
            <a:extLst>
              <a:ext uri="{FF2B5EF4-FFF2-40B4-BE49-F238E27FC236}">
                <a16:creationId xmlns:a16="http://schemas.microsoft.com/office/drawing/2014/main" id="{A50A6916-2AFE-DC29-8B35-68B6DE1D2BB4}"/>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12" name="Footer Placeholder 11">
            <a:extLst>
              <a:ext uri="{FF2B5EF4-FFF2-40B4-BE49-F238E27FC236}">
                <a16:creationId xmlns:a16="http://schemas.microsoft.com/office/drawing/2014/main" id="{CC4F1100-508B-6857-CAA7-25DC3A2C98F5}"/>
              </a:ext>
            </a:extLst>
          </p:cNvPr>
          <p:cNvSpPr>
            <a:spLocks noGrp="1"/>
          </p:cNvSpPr>
          <p:nvPr>
            <p:ph type="ftr" sz="quarter" idx="11"/>
          </p:nvPr>
        </p:nvSpPr>
        <p:spPr>
          <a:xfrm>
            <a:off x="-914400" y="9402763"/>
            <a:ext cx="9220200" cy="135572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9" name="Picture 8">
            <a:extLst>
              <a:ext uri="{FF2B5EF4-FFF2-40B4-BE49-F238E27FC236}">
                <a16:creationId xmlns:a16="http://schemas.microsoft.com/office/drawing/2014/main" id="{A6FEB8F9-FDE7-1EE5-A46C-ACD4934B5C29}"/>
              </a:ext>
            </a:extLst>
          </p:cNvPr>
          <p:cNvPicPr>
            <a:picLocks noChangeAspect="1"/>
          </p:cNvPicPr>
          <p:nvPr/>
        </p:nvPicPr>
        <p:blipFill>
          <a:blip r:embed="rId4"/>
          <a:stretch>
            <a:fillRect/>
          </a:stretch>
        </p:blipFill>
        <p:spPr>
          <a:xfrm>
            <a:off x="3048000" y="824301"/>
            <a:ext cx="12853683" cy="863839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15901683" y="547688"/>
            <a:ext cx="1975961" cy="1045845"/>
            <a:chOff x="0" y="0"/>
            <a:chExt cx="2634615" cy="1394460"/>
          </a:xfrm>
        </p:grpSpPr>
        <p:sp>
          <p:nvSpPr>
            <p:cNvPr id="5" name="Freeform 5"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7" name="Freeform 7"/>
          <p:cNvSpPr/>
          <p:nvPr/>
        </p:nvSpPr>
        <p:spPr>
          <a:xfrm>
            <a:off x="17062761" y="9499787"/>
            <a:ext cx="1097400" cy="787200"/>
          </a:xfrm>
          <a:custGeom>
            <a:avLst/>
            <a:gdLst/>
            <a:ahLst/>
            <a:cxnLst/>
            <a:rect l="l" t="t" r="r" b="b"/>
            <a:pathLst>
              <a:path w="1463200" h="1049600">
                <a:moveTo>
                  <a:pt x="0" y="0"/>
                </a:moveTo>
                <a:lnTo>
                  <a:pt x="1463200" y="0"/>
                </a:lnTo>
                <a:lnTo>
                  <a:pt x="1463200" y="1049600"/>
                </a:lnTo>
                <a:lnTo>
                  <a:pt x="0" y="1049600"/>
                </a:lnTo>
                <a:close/>
              </a:path>
            </a:pathLst>
          </a:custGeom>
          <a:blipFill>
            <a:blip r:embed="rId4">
              <a:alphaModFix amt="0"/>
            </a:blip>
            <a:stretch>
              <a:fillRect l="-42036" r="-42036"/>
            </a:stretch>
          </a:blipFill>
        </p:spPr>
      </p:sp>
      <p:grpSp>
        <p:nvGrpSpPr>
          <p:cNvPr id="9" name="Group 9"/>
          <p:cNvGrpSpPr/>
          <p:nvPr/>
        </p:nvGrpSpPr>
        <p:grpSpPr>
          <a:xfrm>
            <a:off x="0" y="158734"/>
            <a:ext cx="18288000" cy="1176299"/>
            <a:chOff x="0" y="0"/>
            <a:chExt cx="24384000" cy="1568399"/>
          </a:xfrm>
        </p:grpSpPr>
        <p:sp>
          <p:nvSpPr>
            <p:cNvPr id="10" name="Freeform 10"/>
            <p:cNvSpPr/>
            <p:nvPr/>
          </p:nvSpPr>
          <p:spPr>
            <a:xfrm>
              <a:off x="0" y="0"/>
              <a:ext cx="24384000" cy="1568400"/>
            </a:xfrm>
            <a:custGeom>
              <a:avLst/>
              <a:gdLst/>
              <a:ahLst/>
              <a:cxnLst/>
              <a:rect l="l" t="t" r="r" b="b"/>
              <a:pathLst>
                <a:path w="24384000" h="1568400">
                  <a:moveTo>
                    <a:pt x="0" y="0"/>
                  </a:moveTo>
                  <a:lnTo>
                    <a:pt x="24384000" y="0"/>
                  </a:lnTo>
                  <a:lnTo>
                    <a:pt x="24384000" y="1568400"/>
                  </a:lnTo>
                  <a:lnTo>
                    <a:pt x="0" y="1568400"/>
                  </a:lnTo>
                  <a:close/>
                </a:path>
              </a:pathLst>
            </a:custGeom>
            <a:blipFill>
              <a:blip r:embed="rId4">
                <a:alphaModFix amt="0"/>
              </a:blip>
              <a:stretch>
                <a:fillRect t="-252934" b="-252934"/>
              </a:stretch>
            </a:blipFill>
          </p:spPr>
        </p:sp>
        <p:sp>
          <p:nvSpPr>
            <p:cNvPr id="11" name="TextBox 11"/>
            <p:cNvSpPr txBox="1"/>
            <p:nvPr/>
          </p:nvSpPr>
          <p:spPr>
            <a:xfrm>
              <a:off x="0" y="47625"/>
              <a:ext cx="24384000" cy="1520774"/>
            </a:xfrm>
            <a:prstGeom prst="rect">
              <a:avLst/>
            </a:prstGeom>
          </p:spPr>
          <p:txBody>
            <a:bodyPr lIns="0" tIns="0" rIns="0" bIns="0" rtlCol="0" anchor="ctr"/>
            <a:lstStyle/>
            <a:p>
              <a:pPr algn="ctr">
                <a:lnSpc>
                  <a:spcPts val="7290"/>
                </a:lnSpc>
              </a:pPr>
              <a:r>
                <a:rPr lang="en-US" sz="6750" b="1">
                  <a:solidFill>
                    <a:srgbClr val="000000"/>
                  </a:solidFill>
                  <a:latin typeface="Times New Roman Bold"/>
                  <a:ea typeface="Times New Roman Bold"/>
                  <a:cs typeface="Times New Roman Bold"/>
                  <a:sym typeface="Times New Roman Bold"/>
                </a:rPr>
                <a:t>MODULES</a:t>
              </a:r>
            </a:p>
          </p:txBody>
        </p:sp>
      </p:grpSp>
      <p:sp>
        <p:nvSpPr>
          <p:cNvPr id="13" name="Slide Number Placeholder 12">
            <a:extLst>
              <a:ext uri="{FF2B5EF4-FFF2-40B4-BE49-F238E27FC236}">
                <a16:creationId xmlns:a16="http://schemas.microsoft.com/office/drawing/2014/main" id="{FD30A2A2-5F53-C0CD-3DEC-1FEEDD4FEBA2}"/>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6" name="TextBox 5">
            <a:extLst>
              <a:ext uri="{FF2B5EF4-FFF2-40B4-BE49-F238E27FC236}">
                <a16:creationId xmlns:a16="http://schemas.microsoft.com/office/drawing/2014/main" id="{FFB71182-5B7A-EB34-8AC9-6014A74CF450}"/>
              </a:ext>
            </a:extLst>
          </p:cNvPr>
          <p:cNvSpPr txBox="1"/>
          <p:nvPr/>
        </p:nvSpPr>
        <p:spPr>
          <a:xfrm>
            <a:off x="0" y="952500"/>
            <a:ext cx="18160161" cy="7478970"/>
          </a:xfrm>
          <a:prstGeom prst="rect">
            <a:avLst/>
          </a:prstGeom>
          <a:noFill/>
        </p:spPr>
        <p:txBody>
          <a:bodyPr wrap="square" rtlCol="0">
            <a:spAutoFit/>
          </a:bodyPr>
          <a:lstStyle/>
          <a:p>
            <a:r>
              <a:rPr lang="en-US" sz="4400" dirty="0"/>
              <a:t>Simulator</a:t>
            </a:r>
          </a:p>
          <a:p>
            <a:r>
              <a:rPr lang="en-US" sz="2800" dirty="0"/>
              <a:t>Digital twin of the Kubernetes environment Simulates pod startup delays, Prometheus lag Provides REST API endpoints /reset and /step</a:t>
            </a:r>
          </a:p>
          <a:p>
            <a:r>
              <a:rPr lang="en-US" sz="2800" dirty="0"/>
              <a:t>• Pod Startup Delays: Models the time (e.g., 10-45 seconds) a new pod takes to become fully operational and serve traffic.</a:t>
            </a:r>
          </a:p>
          <a:p>
            <a:r>
              <a:rPr lang="en-US" sz="2800" dirty="0"/>
              <a:t>• Monitoring Scrape Lag: Simulates the 15-second delay inherent in Prometheus, where metrics are not available in true real-time.</a:t>
            </a:r>
          </a:p>
          <a:p>
            <a:r>
              <a:rPr lang="en-US" sz="2800" dirty="0"/>
              <a:t>• Request Queueing: Implements a per-service queueing model to accurately simulate how latency propagates when a service is overloaded. </a:t>
            </a:r>
          </a:p>
          <a:p>
            <a:r>
              <a:rPr lang="en-US" sz="4400" dirty="0" err="1"/>
              <a:t>PettingZoo</a:t>
            </a:r>
            <a:r>
              <a:rPr lang="en-US" sz="4400" dirty="0"/>
              <a:t> Environment</a:t>
            </a:r>
          </a:p>
          <a:p>
            <a:r>
              <a:rPr lang="en-US" sz="2800" dirty="0"/>
              <a:t>Converts simulator data into structured observations/actions Compatible with MARL libraries(e.g., Ray </a:t>
            </a:r>
            <a:r>
              <a:rPr lang="en-US" sz="2800" dirty="0" err="1"/>
              <a:t>RLlib</a:t>
            </a:r>
            <a:r>
              <a:rPr lang="en-US" sz="2800" dirty="0"/>
              <a:t>) Its core responsibilities are to:</a:t>
            </a:r>
          </a:p>
          <a:p>
            <a:pPr marL="342900" indent="-342900">
              <a:buAutoNum type="arabicPeriod"/>
            </a:pPr>
            <a:r>
              <a:rPr lang="en-US" sz="2800" dirty="0"/>
              <a:t>Translate the raw, dictionary-based state from the simulator into a fixed-size, normalized Observation Vector for each agent (as defined in /marl/env/</a:t>
            </a:r>
            <a:r>
              <a:rPr lang="en-US" sz="2800" dirty="0" err="1"/>
              <a:t>metrics˙contract.json</a:t>
            </a:r>
            <a:r>
              <a:rPr lang="en-US" sz="2800" dirty="0"/>
              <a:t>).</a:t>
            </a:r>
          </a:p>
          <a:p>
            <a:pPr marL="342900" indent="-342900">
              <a:buAutoNum type="arabicPeriod"/>
            </a:pPr>
            <a:r>
              <a:rPr lang="en-US" sz="2800" dirty="0"/>
              <a:t>Define the discrete Action Space for each agent (e.g., a set of integers from 1-10 representing the desired replica count).</a:t>
            </a:r>
          </a:p>
          <a:p>
            <a:pPr marL="342900" indent="-342900">
              <a:buAutoNum type="arabicPeriod"/>
            </a:pPr>
            <a:r>
              <a:rPr lang="en-US" sz="2800" dirty="0"/>
              <a:t>Receive the centralized reward from the simulator and pass it, along with the observations and ’done’ flags, back to the RL Trainer.</a:t>
            </a:r>
          </a:p>
        </p:txBody>
      </p:sp>
      <p:sp>
        <p:nvSpPr>
          <p:cNvPr id="12" name="Footer Placeholder 12">
            <a:extLst>
              <a:ext uri="{FF2B5EF4-FFF2-40B4-BE49-F238E27FC236}">
                <a16:creationId xmlns:a16="http://schemas.microsoft.com/office/drawing/2014/main" id="{00779141-196D-A7FF-886D-A69102B63AB5}"/>
              </a:ext>
            </a:extLst>
          </p:cNvPr>
          <p:cNvSpPr txBox="1">
            <a:spLocks/>
          </p:cNvSpPr>
          <p:nvPr/>
        </p:nvSpPr>
        <p:spPr>
          <a:xfrm>
            <a:off x="-2458" y="9373508"/>
            <a:ext cx="7391400" cy="1414234"/>
          </a:xfrm>
          <a:prstGeom prst="rect">
            <a:avLst/>
          </a:prstGeom>
        </p:spPr>
        <p:txBody>
          <a:bodyPr vert="horz" lIns="91440" tIns="45720" rIns="91440" bIns="45720" rtlCol="0" anchor="ctr"/>
          <a:lstStyle>
            <a:defPPr>
              <a:defRPr lang="en-US"/>
            </a:defPPr>
            <a:lvl1pPr marL="0" algn="ctr"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6AA0-0E62-983D-0FB3-F1667D845A7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9E57C38-BC77-4AEB-2B94-812A0EDB04F9}"/>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D5BC2180-D67B-EC25-0FFE-55AF3BB0E32D}"/>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3EB5660D-FACE-9057-4894-933ACA0447CD}"/>
              </a:ext>
            </a:extLst>
          </p:cNvPr>
          <p:cNvGrpSpPr/>
          <p:nvPr/>
        </p:nvGrpSpPr>
        <p:grpSpPr>
          <a:xfrm>
            <a:off x="15901683" y="547688"/>
            <a:ext cx="1975961" cy="1045845"/>
            <a:chOff x="0" y="0"/>
            <a:chExt cx="2634615" cy="1394460"/>
          </a:xfrm>
        </p:grpSpPr>
        <p:sp>
          <p:nvSpPr>
            <p:cNvPr id="5" name="Freeform 5" descr="Screenshot 2025-12-08 083519.png">
              <a:extLst>
                <a:ext uri="{FF2B5EF4-FFF2-40B4-BE49-F238E27FC236}">
                  <a16:creationId xmlns:a16="http://schemas.microsoft.com/office/drawing/2014/main" id="{C8ED11ED-612C-61D7-75AB-6E7EB2362BC0}"/>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7" name="Freeform 7">
            <a:extLst>
              <a:ext uri="{FF2B5EF4-FFF2-40B4-BE49-F238E27FC236}">
                <a16:creationId xmlns:a16="http://schemas.microsoft.com/office/drawing/2014/main" id="{EDECB446-E5D2-066E-6535-826BFE22D169}"/>
              </a:ext>
            </a:extLst>
          </p:cNvPr>
          <p:cNvSpPr/>
          <p:nvPr/>
        </p:nvSpPr>
        <p:spPr>
          <a:xfrm>
            <a:off x="17062761" y="9499787"/>
            <a:ext cx="1097400" cy="787200"/>
          </a:xfrm>
          <a:custGeom>
            <a:avLst/>
            <a:gdLst/>
            <a:ahLst/>
            <a:cxnLst/>
            <a:rect l="l" t="t" r="r" b="b"/>
            <a:pathLst>
              <a:path w="1463200" h="1049600">
                <a:moveTo>
                  <a:pt x="0" y="0"/>
                </a:moveTo>
                <a:lnTo>
                  <a:pt x="1463200" y="0"/>
                </a:lnTo>
                <a:lnTo>
                  <a:pt x="1463200" y="1049600"/>
                </a:lnTo>
                <a:lnTo>
                  <a:pt x="0" y="1049600"/>
                </a:lnTo>
                <a:close/>
              </a:path>
            </a:pathLst>
          </a:custGeom>
          <a:blipFill>
            <a:blip r:embed="rId4">
              <a:alphaModFix amt="0"/>
            </a:blip>
            <a:stretch>
              <a:fillRect l="-42036" r="-42036"/>
            </a:stretch>
          </a:blipFill>
        </p:spPr>
      </p:sp>
      <p:grpSp>
        <p:nvGrpSpPr>
          <p:cNvPr id="9" name="Group 9">
            <a:extLst>
              <a:ext uri="{FF2B5EF4-FFF2-40B4-BE49-F238E27FC236}">
                <a16:creationId xmlns:a16="http://schemas.microsoft.com/office/drawing/2014/main" id="{E2BA97A4-F9AF-9539-C59B-8E1E8B4512A8}"/>
              </a:ext>
            </a:extLst>
          </p:cNvPr>
          <p:cNvGrpSpPr/>
          <p:nvPr/>
        </p:nvGrpSpPr>
        <p:grpSpPr>
          <a:xfrm>
            <a:off x="0" y="158734"/>
            <a:ext cx="18288000" cy="1176299"/>
            <a:chOff x="0" y="0"/>
            <a:chExt cx="24384000" cy="1568399"/>
          </a:xfrm>
        </p:grpSpPr>
        <p:sp>
          <p:nvSpPr>
            <p:cNvPr id="10" name="Freeform 10">
              <a:extLst>
                <a:ext uri="{FF2B5EF4-FFF2-40B4-BE49-F238E27FC236}">
                  <a16:creationId xmlns:a16="http://schemas.microsoft.com/office/drawing/2014/main" id="{9671D521-977F-7796-831F-EC1A42315E2B}"/>
                </a:ext>
              </a:extLst>
            </p:cNvPr>
            <p:cNvSpPr/>
            <p:nvPr/>
          </p:nvSpPr>
          <p:spPr>
            <a:xfrm>
              <a:off x="0" y="0"/>
              <a:ext cx="24384000" cy="1568400"/>
            </a:xfrm>
            <a:custGeom>
              <a:avLst/>
              <a:gdLst/>
              <a:ahLst/>
              <a:cxnLst/>
              <a:rect l="l" t="t" r="r" b="b"/>
              <a:pathLst>
                <a:path w="24384000" h="1568400">
                  <a:moveTo>
                    <a:pt x="0" y="0"/>
                  </a:moveTo>
                  <a:lnTo>
                    <a:pt x="24384000" y="0"/>
                  </a:lnTo>
                  <a:lnTo>
                    <a:pt x="24384000" y="1568400"/>
                  </a:lnTo>
                  <a:lnTo>
                    <a:pt x="0" y="1568400"/>
                  </a:lnTo>
                  <a:close/>
                </a:path>
              </a:pathLst>
            </a:custGeom>
            <a:blipFill>
              <a:blip r:embed="rId4">
                <a:alphaModFix amt="0"/>
              </a:blip>
              <a:stretch>
                <a:fillRect t="-252934" b="-252934"/>
              </a:stretch>
            </a:blipFill>
          </p:spPr>
        </p:sp>
        <p:sp>
          <p:nvSpPr>
            <p:cNvPr id="11" name="TextBox 11">
              <a:extLst>
                <a:ext uri="{FF2B5EF4-FFF2-40B4-BE49-F238E27FC236}">
                  <a16:creationId xmlns:a16="http://schemas.microsoft.com/office/drawing/2014/main" id="{C1781EEC-8B2E-92E8-B086-A21A5A6C522D}"/>
                </a:ext>
              </a:extLst>
            </p:cNvPr>
            <p:cNvSpPr txBox="1"/>
            <p:nvPr/>
          </p:nvSpPr>
          <p:spPr>
            <a:xfrm>
              <a:off x="0" y="47625"/>
              <a:ext cx="24384000" cy="1520774"/>
            </a:xfrm>
            <a:prstGeom prst="rect">
              <a:avLst/>
            </a:prstGeom>
          </p:spPr>
          <p:txBody>
            <a:bodyPr lIns="0" tIns="0" rIns="0" bIns="0" rtlCol="0" anchor="ctr"/>
            <a:lstStyle/>
            <a:p>
              <a:pPr algn="ctr">
                <a:lnSpc>
                  <a:spcPts val="7290"/>
                </a:lnSpc>
              </a:pPr>
              <a:r>
                <a:rPr lang="en-US" sz="6750" b="1">
                  <a:solidFill>
                    <a:srgbClr val="000000"/>
                  </a:solidFill>
                  <a:latin typeface="Times New Roman Bold"/>
                  <a:ea typeface="Times New Roman Bold"/>
                  <a:cs typeface="Times New Roman Bold"/>
                  <a:sym typeface="Times New Roman Bold"/>
                </a:rPr>
                <a:t>MODULES</a:t>
              </a:r>
            </a:p>
          </p:txBody>
        </p:sp>
      </p:grpSp>
      <p:sp>
        <p:nvSpPr>
          <p:cNvPr id="13" name="Slide Number Placeholder 12">
            <a:extLst>
              <a:ext uri="{FF2B5EF4-FFF2-40B4-BE49-F238E27FC236}">
                <a16:creationId xmlns:a16="http://schemas.microsoft.com/office/drawing/2014/main" id="{230B788D-9A3E-846A-5C59-6C0417EE5DF2}"/>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6" name="TextBox 5">
            <a:extLst>
              <a:ext uri="{FF2B5EF4-FFF2-40B4-BE49-F238E27FC236}">
                <a16:creationId xmlns:a16="http://schemas.microsoft.com/office/drawing/2014/main" id="{6882FD69-9976-E17A-D40F-2320F1615070}"/>
              </a:ext>
            </a:extLst>
          </p:cNvPr>
          <p:cNvSpPr txBox="1"/>
          <p:nvPr/>
        </p:nvSpPr>
        <p:spPr>
          <a:xfrm>
            <a:off x="304800" y="1550736"/>
            <a:ext cx="18160161" cy="6463308"/>
          </a:xfrm>
          <a:prstGeom prst="rect">
            <a:avLst/>
          </a:prstGeom>
          <a:noFill/>
        </p:spPr>
        <p:txBody>
          <a:bodyPr wrap="square" rtlCol="0">
            <a:spAutoFit/>
          </a:bodyPr>
          <a:lstStyle/>
          <a:p>
            <a:r>
              <a:rPr lang="en-US" sz="4400" dirty="0"/>
              <a:t>QMIX Trainer</a:t>
            </a:r>
          </a:p>
          <a:p>
            <a:r>
              <a:rPr lang="en-US" sz="2800" dirty="0"/>
              <a:t>• Core reinforcement learning module• Handles experience replay, TD-loss, and network updates</a:t>
            </a:r>
          </a:p>
          <a:p>
            <a:r>
              <a:rPr lang="en-US" sz="2800" dirty="0"/>
              <a:t>• Outputs trained policy checkpoints (.pt) and </a:t>
            </a:r>
            <a:r>
              <a:rPr lang="en-US" sz="2800" dirty="0" err="1"/>
              <a:t>TensorBoard</a:t>
            </a:r>
            <a:r>
              <a:rPr lang="en-US" sz="2800" dirty="0"/>
              <a:t> logs4.3.4 Agent-Controller</a:t>
            </a:r>
          </a:p>
          <a:p>
            <a:r>
              <a:rPr lang="en-US" sz="2800" dirty="0"/>
              <a:t>• Runs inside Kubernetes as a lightweight control pod• Fetches metrics → infers actions → validates → scales pods</a:t>
            </a:r>
          </a:p>
          <a:p>
            <a:r>
              <a:rPr lang="en-US" sz="2800" dirty="0"/>
              <a:t>• Uses </a:t>
            </a:r>
            <a:r>
              <a:rPr lang="en-US" sz="2800" dirty="0" err="1"/>
              <a:t>PromQL</a:t>
            </a:r>
            <a:r>
              <a:rPr lang="en-US" sz="2800" dirty="0"/>
              <a:t> for querying Prometheus• Interfaces with Kubernetes API to adjust deployments4.3.5 Safety Module</a:t>
            </a:r>
          </a:p>
          <a:p>
            <a:r>
              <a:rPr lang="en-US" sz="2800" dirty="0"/>
              <a:t>• Checks what the system does before it scales• Makes sure nothing breaks the predefined rules</a:t>
            </a:r>
          </a:p>
          <a:p>
            <a:r>
              <a:rPr lang="en-US" sz="2800" dirty="0"/>
              <a:t>• Provides fallback to Kubernetes HPA if unsafe4.3.6 Traffic Generator (Locust-based)</a:t>
            </a:r>
          </a:p>
          <a:p>
            <a:r>
              <a:rPr lang="en-US" sz="2800" dirty="0"/>
              <a:t>• Generates realistic traffic for testing and training</a:t>
            </a:r>
          </a:p>
          <a:p>
            <a:r>
              <a:rPr lang="en-US" sz="2800" dirty="0"/>
              <a:t>• Shows steady, burst, and diurnal (day/night) traffic patterns</a:t>
            </a:r>
          </a:p>
          <a:p>
            <a:r>
              <a:rPr lang="en-US" sz="2800" dirty="0"/>
              <a:t>• Produces trace files (/experiments/traces/.csv—.</a:t>
            </a:r>
            <a:r>
              <a:rPr lang="en-US" sz="2800" dirty="0" err="1"/>
              <a:t>json</a:t>
            </a:r>
            <a:r>
              <a:rPr lang="en-US" sz="2800" dirty="0"/>
              <a:t>) </a:t>
            </a:r>
          </a:p>
          <a:p>
            <a:endParaRPr lang="en-US" dirty="0"/>
          </a:p>
          <a:p>
            <a:r>
              <a:rPr lang="en-US" sz="4400" dirty="0"/>
              <a:t>Monitoring Stack (Prometheus + Grafana)</a:t>
            </a:r>
          </a:p>
          <a:p>
            <a:r>
              <a:rPr lang="en-US" sz="2800" dirty="0"/>
              <a:t>• Collects performance and resource metrics</a:t>
            </a:r>
          </a:p>
          <a:p>
            <a:r>
              <a:rPr lang="en-US" sz="2800" dirty="0"/>
              <a:t>• Displays data about choices made and successes achieved</a:t>
            </a:r>
            <a:endParaRPr lang="en-IN" sz="2800" dirty="0"/>
          </a:p>
        </p:txBody>
      </p:sp>
      <p:sp>
        <p:nvSpPr>
          <p:cNvPr id="12" name="Footer Placeholder 12">
            <a:extLst>
              <a:ext uri="{FF2B5EF4-FFF2-40B4-BE49-F238E27FC236}">
                <a16:creationId xmlns:a16="http://schemas.microsoft.com/office/drawing/2014/main" id="{CDD3013F-8E79-85AF-4D4E-8CA118D9971A}"/>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Tree>
    <p:extLst>
      <p:ext uri="{BB962C8B-B14F-4D97-AF65-F5344CB8AC3E}">
        <p14:creationId xmlns:p14="http://schemas.microsoft.com/office/powerpoint/2010/main" val="1007872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15901683" y="547688"/>
            <a:ext cx="1975961" cy="1045845"/>
            <a:chOff x="0" y="0"/>
            <a:chExt cx="2634615" cy="1394460"/>
          </a:xfrm>
        </p:grpSpPr>
        <p:sp>
          <p:nvSpPr>
            <p:cNvPr id="5" name="Freeform 5"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grpSp>
        <p:nvGrpSpPr>
          <p:cNvPr id="6" name="Group 6"/>
          <p:cNvGrpSpPr/>
          <p:nvPr/>
        </p:nvGrpSpPr>
        <p:grpSpPr>
          <a:xfrm>
            <a:off x="0" y="365284"/>
            <a:ext cx="18288000" cy="1327052"/>
            <a:chOff x="0" y="0"/>
            <a:chExt cx="24384000" cy="1769402"/>
          </a:xfrm>
        </p:grpSpPr>
        <p:sp>
          <p:nvSpPr>
            <p:cNvPr id="7" name="Freeform 7"/>
            <p:cNvSpPr/>
            <p:nvPr/>
          </p:nvSpPr>
          <p:spPr>
            <a:xfrm>
              <a:off x="0" y="0"/>
              <a:ext cx="24384000" cy="1769400"/>
            </a:xfrm>
            <a:custGeom>
              <a:avLst/>
              <a:gdLst/>
              <a:ahLst/>
              <a:cxnLst/>
              <a:rect l="l" t="t" r="r" b="b"/>
              <a:pathLst>
                <a:path w="24384000" h="1769400">
                  <a:moveTo>
                    <a:pt x="0" y="0"/>
                  </a:moveTo>
                  <a:lnTo>
                    <a:pt x="24384000" y="0"/>
                  </a:lnTo>
                  <a:lnTo>
                    <a:pt x="24384000" y="1769400"/>
                  </a:lnTo>
                  <a:lnTo>
                    <a:pt x="0" y="1769400"/>
                  </a:lnTo>
                  <a:close/>
                </a:path>
              </a:pathLst>
            </a:custGeom>
            <a:blipFill>
              <a:blip r:embed="rId4">
                <a:alphaModFix amt="0"/>
              </a:blip>
              <a:stretch>
                <a:fillRect t="-218522" b="-218522"/>
              </a:stretch>
            </a:blipFill>
          </p:spPr>
        </p:sp>
        <p:sp>
          <p:nvSpPr>
            <p:cNvPr id="8" name="TextBox 8"/>
            <p:cNvSpPr txBox="1"/>
            <p:nvPr/>
          </p:nvSpPr>
          <p:spPr>
            <a:xfrm>
              <a:off x="0" y="47625"/>
              <a:ext cx="24384000" cy="1721777"/>
            </a:xfrm>
            <a:prstGeom prst="rect">
              <a:avLst/>
            </a:prstGeom>
          </p:spPr>
          <p:txBody>
            <a:bodyPr lIns="0" tIns="0" rIns="0" bIns="0" rtlCol="0" anchor="ctr"/>
            <a:lstStyle/>
            <a:p>
              <a:pPr algn="l">
                <a:lnSpc>
                  <a:spcPts val="7290"/>
                </a:lnSpc>
              </a:pPr>
              <a:r>
                <a:rPr lang="en-US" sz="6750" b="1" dirty="0">
                  <a:solidFill>
                    <a:srgbClr val="000000"/>
                  </a:solidFill>
                  <a:latin typeface="Times New Roman Bold"/>
                  <a:ea typeface="Times New Roman Bold"/>
                  <a:cs typeface="Times New Roman Bold"/>
                  <a:sym typeface="Times New Roman Bold"/>
                </a:rPr>
                <a:t>      NOVELTY OF PROPOSED SYSTEM  </a:t>
              </a:r>
            </a:p>
          </p:txBody>
        </p:sp>
      </p:grpSp>
      <p:sp>
        <p:nvSpPr>
          <p:cNvPr id="10" name="Slide Number Placeholder 9">
            <a:extLst>
              <a:ext uri="{FF2B5EF4-FFF2-40B4-BE49-F238E27FC236}">
                <a16:creationId xmlns:a16="http://schemas.microsoft.com/office/drawing/2014/main" id="{3F37406B-F013-E327-EB8D-08F8DD818970}"/>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9" name="Footer Placeholder 12">
            <a:extLst>
              <a:ext uri="{FF2B5EF4-FFF2-40B4-BE49-F238E27FC236}">
                <a16:creationId xmlns:a16="http://schemas.microsoft.com/office/drawing/2014/main" id="{AC0699A1-30D3-B3D2-1C7C-FA346F69E7D4}"/>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18" name="TextBox 17">
            <a:extLst>
              <a:ext uri="{FF2B5EF4-FFF2-40B4-BE49-F238E27FC236}">
                <a16:creationId xmlns:a16="http://schemas.microsoft.com/office/drawing/2014/main" id="{E8BB97E8-D2F3-E6C5-ACFD-C6058EA61DDD}"/>
              </a:ext>
            </a:extLst>
          </p:cNvPr>
          <p:cNvSpPr txBox="1"/>
          <p:nvPr/>
        </p:nvSpPr>
        <p:spPr>
          <a:xfrm>
            <a:off x="838200" y="1740218"/>
            <a:ext cx="16611600" cy="7294305"/>
          </a:xfrm>
          <a:prstGeom prst="rect">
            <a:avLst/>
          </a:prstGeom>
          <a:noFill/>
        </p:spPr>
        <p:txBody>
          <a:bodyPr wrap="square">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altLang="en-US" sz="2600" b="1" dirty="0">
                <a:latin typeface="Montserrat" panose="00000500000000000000" pitchFamily="2" charset="0"/>
              </a:rPr>
              <a:t>C</a:t>
            </a:r>
            <a:r>
              <a:rPr kumimoji="0" lang="en-US" altLang="en-US" sz="2600" b="1" i="0" u="none" strike="noStrike" cap="none" normalizeH="0" baseline="0" dirty="0">
                <a:ln>
                  <a:noFill/>
                </a:ln>
                <a:solidFill>
                  <a:schemeClr val="tx1"/>
                </a:solidFill>
                <a:effectLst/>
                <a:latin typeface="Montserrat" panose="00000500000000000000" pitchFamily="2" charset="0"/>
              </a:rPr>
              <a:t>ooperative Multi-Agent Autoscaling (Beyond HPA)</a:t>
            </a:r>
            <a:br>
              <a:rPr kumimoji="0" lang="en-US" altLang="en-US" sz="2600" b="0" i="0" u="none" strike="noStrike" cap="none" normalizeH="0" baseline="0" dirty="0">
                <a:ln>
                  <a:noFill/>
                </a:ln>
                <a:solidFill>
                  <a:schemeClr val="tx1"/>
                </a:solidFill>
                <a:effectLst/>
                <a:latin typeface="Montserrat" panose="00000500000000000000" pitchFamily="2" charset="0"/>
              </a:rPr>
            </a:br>
            <a:r>
              <a:rPr kumimoji="0" lang="en-US" altLang="en-US" sz="2600" i="0" u="none" strike="noStrike" cap="none" normalizeH="0" baseline="0" dirty="0">
                <a:ln>
                  <a:noFill/>
                </a:ln>
                <a:solidFill>
                  <a:schemeClr val="tx1"/>
                </a:solidFill>
                <a:effectLst/>
                <a:latin typeface="Montserrat" panose="00000500000000000000" pitchFamily="2" charset="0"/>
              </a:rPr>
              <a:t>Unlike traditional auto-scalers (HPA/VPA) that make isolated decisions, AURA models each microservice as an intelligent agent, enabling coordinated, system-wide scaling and avoiding cascading bottlenecks. </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600" b="1" i="0" u="none" strike="noStrike" cap="none" normalizeH="0" baseline="0" dirty="0">
                <a:ln>
                  <a:noFill/>
                </a:ln>
                <a:solidFill>
                  <a:schemeClr val="tx1"/>
                </a:solidFill>
                <a:effectLst/>
                <a:latin typeface="Montserrat" panose="00000500000000000000" pitchFamily="2" charset="0"/>
              </a:rPr>
              <a:t>Centralized Training with Decentralized Execution (CTDE)</a:t>
            </a:r>
            <a:br>
              <a:rPr kumimoji="0" lang="en-US" altLang="en-US" sz="2600" b="0" i="0" u="none" strike="noStrike" cap="none" normalizeH="0" baseline="0" dirty="0">
                <a:ln>
                  <a:noFill/>
                </a:ln>
                <a:solidFill>
                  <a:schemeClr val="tx1"/>
                </a:solidFill>
                <a:effectLst/>
                <a:latin typeface="Montserrat" panose="00000500000000000000" pitchFamily="2" charset="0"/>
              </a:rPr>
            </a:br>
            <a:r>
              <a:rPr kumimoji="0" lang="en-US" altLang="en-US" sz="2600" i="0" u="none" strike="noStrike" cap="none" normalizeH="0" baseline="0" dirty="0">
                <a:ln>
                  <a:noFill/>
                </a:ln>
                <a:solidFill>
                  <a:schemeClr val="tx1"/>
                </a:solidFill>
                <a:effectLst/>
                <a:latin typeface="Montserrat" panose="00000500000000000000" pitchFamily="2" charset="0"/>
              </a:rPr>
              <a:t>AURA adopts a CTDE paradigm, where agents learn collaboratively using global system knowledge during training, and then operate independently in real-time, ensuring scalability and low communication overhead. </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600" b="1" i="0" u="none" strike="noStrike" cap="none" normalizeH="0" baseline="0" dirty="0">
                <a:ln>
                  <a:noFill/>
                </a:ln>
                <a:solidFill>
                  <a:schemeClr val="tx1"/>
                </a:solidFill>
                <a:effectLst/>
                <a:latin typeface="Montserrat" panose="00000500000000000000" pitchFamily="2" charset="0"/>
              </a:rPr>
              <a:t>Multi-Objective Reward Optimization</a:t>
            </a:r>
            <a:br>
              <a:rPr kumimoji="0" lang="en-US" altLang="en-US" sz="2600" b="0" i="0" u="none" strike="noStrike" cap="none" normalizeH="0" baseline="0" dirty="0">
                <a:ln>
                  <a:noFill/>
                </a:ln>
                <a:solidFill>
                  <a:schemeClr val="tx1"/>
                </a:solidFill>
                <a:effectLst/>
                <a:latin typeface="Montserrat" panose="00000500000000000000" pitchFamily="2" charset="0"/>
              </a:rPr>
            </a:br>
            <a:r>
              <a:rPr kumimoji="0" lang="en-US" altLang="en-US" sz="2600" i="0" u="none" strike="noStrike" cap="none" normalizeH="0" baseline="0" dirty="0">
                <a:ln>
                  <a:noFill/>
                </a:ln>
                <a:solidFill>
                  <a:schemeClr val="tx1"/>
                </a:solidFill>
                <a:effectLst/>
                <a:latin typeface="Montserrat" panose="00000500000000000000" pitchFamily="2" charset="0"/>
              </a:rPr>
              <a:t>Introduces a balanced reward function that simultaneously optimizes:</a:t>
            </a:r>
            <a:br>
              <a:rPr kumimoji="0" lang="en-US" altLang="en-US" sz="2600" i="0" u="none" strike="noStrike" cap="none" normalizeH="0" baseline="0" dirty="0">
                <a:ln>
                  <a:noFill/>
                </a:ln>
                <a:solidFill>
                  <a:schemeClr val="tx1"/>
                </a:solidFill>
                <a:effectLst/>
                <a:latin typeface="Montserrat" panose="00000500000000000000" pitchFamily="2" charset="0"/>
              </a:rPr>
            </a:br>
            <a:r>
              <a:rPr kumimoji="0" lang="en-US" altLang="en-US" sz="2600" i="0" u="none" strike="noStrike" cap="none" normalizeH="0" baseline="0" dirty="0">
                <a:ln>
                  <a:noFill/>
                </a:ln>
                <a:solidFill>
                  <a:schemeClr val="tx1"/>
                </a:solidFill>
                <a:effectLst/>
                <a:latin typeface="Montserrat" panose="00000500000000000000" pitchFamily="2" charset="0"/>
              </a:rPr>
              <a:t>→ Cost efficiency (α)</a:t>
            </a:r>
            <a:br>
              <a:rPr kumimoji="0" lang="en-US" altLang="en-US" sz="2600" i="0" u="none" strike="noStrike" cap="none" normalizeH="0" baseline="0" dirty="0">
                <a:ln>
                  <a:noFill/>
                </a:ln>
                <a:solidFill>
                  <a:schemeClr val="tx1"/>
                </a:solidFill>
                <a:effectLst/>
                <a:latin typeface="Montserrat" panose="00000500000000000000" pitchFamily="2" charset="0"/>
              </a:rPr>
            </a:br>
            <a:r>
              <a:rPr kumimoji="0" lang="en-US" altLang="en-US" sz="2600" i="0" u="none" strike="noStrike" cap="none" normalizeH="0" baseline="0" dirty="0">
                <a:ln>
                  <a:noFill/>
                </a:ln>
                <a:solidFill>
                  <a:schemeClr val="tx1"/>
                </a:solidFill>
                <a:effectLst/>
                <a:latin typeface="Montserrat" panose="00000500000000000000" pitchFamily="2" charset="0"/>
              </a:rPr>
              <a:t>→ SLA compliance (β)</a:t>
            </a:r>
            <a:br>
              <a:rPr kumimoji="0" lang="en-US" altLang="en-US" sz="2600" i="0" u="none" strike="noStrike" cap="none" normalizeH="0" baseline="0" dirty="0">
                <a:ln>
                  <a:noFill/>
                </a:ln>
                <a:solidFill>
                  <a:schemeClr val="tx1"/>
                </a:solidFill>
                <a:effectLst/>
                <a:latin typeface="Montserrat" panose="00000500000000000000" pitchFamily="2" charset="0"/>
              </a:rPr>
            </a:br>
            <a:r>
              <a:rPr kumimoji="0" lang="en-US" altLang="en-US" sz="2600" i="0" u="none" strike="noStrike" cap="none" normalizeH="0" baseline="0" dirty="0">
                <a:ln>
                  <a:noFill/>
                </a:ln>
                <a:solidFill>
                  <a:schemeClr val="tx1"/>
                </a:solidFill>
                <a:effectLst/>
                <a:latin typeface="Montserrat" panose="00000500000000000000" pitchFamily="2" charset="0"/>
              </a:rPr>
              <a:t>→ System stability (γ)</a:t>
            </a:r>
            <a:br>
              <a:rPr kumimoji="0" lang="en-US" altLang="en-US" sz="2600" b="0" i="0" u="none" strike="noStrike" cap="none" normalizeH="0" baseline="0" dirty="0">
                <a:ln>
                  <a:noFill/>
                </a:ln>
                <a:solidFill>
                  <a:schemeClr val="tx1"/>
                </a:solidFill>
                <a:effectLst/>
                <a:latin typeface="Montserrat" panose="00000500000000000000" pitchFamily="2" charset="0"/>
              </a:rPr>
            </a:br>
            <a:r>
              <a:rPr kumimoji="0" lang="en-US" altLang="en-US" sz="2600" b="0" i="0" u="none" strike="noStrike" cap="none" normalizeH="0" baseline="0" dirty="0">
                <a:ln>
                  <a:noFill/>
                </a:ln>
                <a:solidFill>
                  <a:schemeClr val="tx1"/>
                </a:solidFill>
                <a:effectLst/>
                <a:latin typeface="Montserrat" panose="00000500000000000000" pitchFamily="2" charset="0"/>
              </a:rPr>
              <a:t>This ensures no single metric is optimized at the expense of others. </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600" b="1" i="0" u="none" strike="noStrike" cap="none" normalizeH="0" baseline="0" dirty="0">
                <a:ln>
                  <a:noFill/>
                </a:ln>
                <a:solidFill>
                  <a:schemeClr val="tx1"/>
                </a:solidFill>
                <a:effectLst/>
                <a:latin typeface="Montserrat" panose="00000500000000000000" pitchFamily="2" charset="0"/>
              </a:rPr>
              <a:t>Realistic Simulation for Robust Learning</a:t>
            </a:r>
            <a:br>
              <a:rPr kumimoji="0" lang="en-US" altLang="en-US" sz="2600" b="0" i="0" u="none" strike="noStrike" cap="none" normalizeH="0" baseline="0" dirty="0">
                <a:ln>
                  <a:noFill/>
                </a:ln>
                <a:solidFill>
                  <a:schemeClr val="tx1"/>
                </a:solidFill>
                <a:effectLst/>
                <a:latin typeface="Montserrat" panose="00000500000000000000" pitchFamily="2" charset="0"/>
              </a:rPr>
            </a:br>
            <a:r>
              <a:rPr kumimoji="0" lang="en-US" altLang="en-US" sz="2600" u="none" strike="noStrike" cap="none" normalizeH="0" baseline="0" dirty="0">
                <a:ln>
                  <a:noFill/>
                </a:ln>
                <a:solidFill>
                  <a:schemeClr val="tx1"/>
                </a:solidFill>
                <a:effectLst/>
                <a:latin typeface="Montserrat" panose="00000500000000000000" pitchFamily="2" charset="0"/>
              </a:rPr>
              <a:t>Uses a high-fidelity Kubernetes simulator incorporating real-world factors such as pod startup delays, monitoring lag, and bursty traffic, enabling agents to learn practical and deployable policies.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52400" y="442340"/>
            <a:ext cx="17293152" cy="1038746"/>
          </a:xfrm>
          <a:prstGeom prst="rect">
            <a:avLst/>
          </a:prstGeom>
        </p:spPr>
        <p:txBody>
          <a:bodyPr lIns="0" tIns="0" rIns="0" bIns="0" rtlCol="0" anchor="t">
            <a:spAutoFit/>
          </a:bodyPr>
          <a:lstStyle/>
          <a:p>
            <a:pPr algn="ctr">
              <a:lnSpc>
                <a:spcPts val="8100"/>
              </a:lnSpc>
            </a:pPr>
            <a:r>
              <a:rPr lang="en-US" sz="6750" b="1" dirty="0">
                <a:solidFill>
                  <a:srgbClr val="000000"/>
                </a:solidFill>
                <a:latin typeface="Times New Roman Bold"/>
                <a:ea typeface="Times New Roman Bold"/>
                <a:cs typeface="Times New Roman Bold"/>
                <a:sym typeface="Times New Roman Bold"/>
              </a:rPr>
              <a:t>HARDWARE REQUIREMENTS</a:t>
            </a:r>
          </a:p>
        </p:txBody>
      </p:sp>
      <p:sp>
        <p:nvSpPr>
          <p:cNvPr id="10" name="Slide Number Placeholder 9">
            <a:extLst>
              <a:ext uri="{FF2B5EF4-FFF2-40B4-BE49-F238E27FC236}">
                <a16:creationId xmlns:a16="http://schemas.microsoft.com/office/drawing/2014/main" id="{46AB258E-24FA-8CF4-2B3D-466DED541233}"/>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9" name="TextBox 8">
            <a:extLst>
              <a:ext uri="{FF2B5EF4-FFF2-40B4-BE49-F238E27FC236}">
                <a16:creationId xmlns:a16="http://schemas.microsoft.com/office/drawing/2014/main" id="{6B024D66-B654-93B3-4F6F-943B174615DB}"/>
              </a:ext>
            </a:extLst>
          </p:cNvPr>
          <p:cNvSpPr txBox="1"/>
          <p:nvPr/>
        </p:nvSpPr>
        <p:spPr>
          <a:xfrm>
            <a:off x="1402099" y="1709182"/>
            <a:ext cx="16043453" cy="1384995"/>
          </a:xfrm>
          <a:prstGeom prst="rect">
            <a:avLst/>
          </a:prstGeom>
          <a:noFill/>
        </p:spPr>
        <p:txBody>
          <a:bodyPr wrap="square" rtlCol="0">
            <a:spAutoFit/>
          </a:bodyPr>
          <a:lstStyle/>
          <a:p>
            <a:r>
              <a:rPr lang="en-US" sz="2800" dirty="0"/>
              <a:t>The project was developed and tested under the following technical configurations. Two separate setups were considered: a minimal environment suitable for light testing and development, and a recommended environment optimized for training, performance evaluation, and large-scale experiments.</a:t>
            </a:r>
            <a:endParaRPr lang="en-IN" sz="2800" dirty="0"/>
          </a:p>
        </p:txBody>
      </p:sp>
      <p:pic>
        <p:nvPicPr>
          <p:cNvPr id="13" name="Picture 12">
            <a:extLst>
              <a:ext uri="{FF2B5EF4-FFF2-40B4-BE49-F238E27FC236}">
                <a16:creationId xmlns:a16="http://schemas.microsoft.com/office/drawing/2014/main" id="{E61275BF-DFFC-85FA-E09F-50E6E5E73BF8}"/>
              </a:ext>
            </a:extLst>
          </p:cNvPr>
          <p:cNvPicPr>
            <a:picLocks noChangeAspect="1"/>
          </p:cNvPicPr>
          <p:nvPr/>
        </p:nvPicPr>
        <p:blipFill>
          <a:blip r:embed="rId4"/>
          <a:stretch>
            <a:fillRect/>
          </a:stretch>
        </p:blipFill>
        <p:spPr>
          <a:xfrm>
            <a:off x="2895600" y="4076700"/>
            <a:ext cx="11866878" cy="3829191"/>
          </a:xfrm>
          <a:prstGeom prst="rect">
            <a:avLst/>
          </a:prstGeom>
        </p:spPr>
      </p:pic>
      <p:sp>
        <p:nvSpPr>
          <p:cNvPr id="14" name="Footer Placeholder 12">
            <a:extLst>
              <a:ext uri="{FF2B5EF4-FFF2-40B4-BE49-F238E27FC236}">
                <a16:creationId xmlns:a16="http://schemas.microsoft.com/office/drawing/2014/main" id="{C1664912-6583-22B1-7B45-9B83A777EA9B}"/>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A651E-E631-4EF7-1411-673B7E82B9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9F5B800-684F-6274-7552-B9E040D3C783}"/>
              </a:ext>
            </a:extLst>
          </p:cNvPr>
          <p:cNvGrpSpPr/>
          <p:nvPr/>
        </p:nvGrpSpPr>
        <p:grpSpPr>
          <a:xfrm>
            <a:off x="0" y="9499797"/>
            <a:ext cx="18288000" cy="787203"/>
            <a:chOff x="0" y="0"/>
            <a:chExt cx="24384000" cy="1049604"/>
          </a:xfrm>
        </p:grpSpPr>
        <p:sp>
          <p:nvSpPr>
            <p:cNvPr id="3" name="Freeform 3">
              <a:extLst>
                <a:ext uri="{FF2B5EF4-FFF2-40B4-BE49-F238E27FC236}">
                  <a16:creationId xmlns:a16="http://schemas.microsoft.com/office/drawing/2014/main" id="{1A58C39E-E08D-D98A-2AE6-CD62CFF3AF43}"/>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a:extLst>
              <a:ext uri="{FF2B5EF4-FFF2-40B4-BE49-F238E27FC236}">
                <a16:creationId xmlns:a16="http://schemas.microsoft.com/office/drawing/2014/main" id="{75165A86-8662-F0CB-CFA2-5C5D871CD538}"/>
              </a:ext>
            </a:extLst>
          </p:cNvPr>
          <p:cNvGrpSpPr/>
          <p:nvPr/>
        </p:nvGrpSpPr>
        <p:grpSpPr>
          <a:xfrm>
            <a:off x="0" y="9499797"/>
            <a:ext cx="18288000" cy="787203"/>
            <a:chOff x="0" y="0"/>
            <a:chExt cx="24384000" cy="1049604"/>
          </a:xfrm>
        </p:grpSpPr>
        <p:sp>
          <p:nvSpPr>
            <p:cNvPr id="5" name="Freeform 5">
              <a:extLst>
                <a:ext uri="{FF2B5EF4-FFF2-40B4-BE49-F238E27FC236}">
                  <a16:creationId xmlns:a16="http://schemas.microsoft.com/office/drawing/2014/main" id="{CBA0DC79-5C05-7B80-FE54-805944AB7025}"/>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AA297EF6-EC55-4CD3-4CE5-74F0DC9468A7}"/>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3717CACC-CDFC-1B32-2E8B-5532850CAC31}"/>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a:extLst>
              <a:ext uri="{FF2B5EF4-FFF2-40B4-BE49-F238E27FC236}">
                <a16:creationId xmlns:a16="http://schemas.microsoft.com/office/drawing/2014/main" id="{D998F4BD-4013-7212-8FDB-6A6F0DEA96B2}"/>
              </a:ext>
            </a:extLst>
          </p:cNvPr>
          <p:cNvSpPr txBox="1"/>
          <p:nvPr/>
        </p:nvSpPr>
        <p:spPr>
          <a:xfrm>
            <a:off x="152400" y="442340"/>
            <a:ext cx="17293152" cy="1038746"/>
          </a:xfrm>
          <a:prstGeom prst="rect">
            <a:avLst/>
          </a:prstGeom>
        </p:spPr>
        <p:txBody>
          <a:bodyPr lIns="0" tIns="0" rIns="0" bIns="0" rtlCol="0" anchor="t">
            <a:spAutoFit/>
          </a:bodyPr>
          <a:lstStyle/>
          <a:p>
            <a:pPr algn="ctr">
              <a:lnSpc>
                <a:spcPts val="8100"/>
              </a:lnSpc>
            </a:pPr>
            <a:r>
              <a:rPr lang="en-US" sz="6750" b="1" dirty="0">
                <a:solidFill>
                  <a:srgbClr val="000000"/>
                </a:solidFill>
                <a:latin typeface="Times New Roman Bold"/>
                <a:ea typeface="Times New Roman Bold"/>
                <a:cs typeface="Times New Roman Bold"/>
                <a:sym typeface="Times New Roman Bold"/>
              </a:rPr>
              <a:t>SOFTWARE REQUIREMENTS</a:t>
            </a:r>
          </a:p>
        </p:txBody>
      </p:sp>
      <p:sp>
        <p:nvSpPr>
          <p:cNvPr id="10" name="Slide Number Placeholder 9">
            <a:extLst>
              <a:ext uri="{FF2B5EF4-FFF2-40B4-BE49-F238E27FC236}">
                <a16:creationId xmlns:a16="http://schemas.microsoft.com/office/drawing/2014/main" id="{92C386AA-320F-9737-008D-E2C43934912D}"/>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9" name="TextBox 8">
            <a:extLst>
              <a:ext uri="{FF2B5EF4-FFF2-40B4-BE49-F238E27FC236}">
                <a16:creationId xmlns:a16="http://schemas.microsoft.com/office/drawing/2014/main" id="{9C06FA2C-FAE2-0435-7418-9BD7CDC111BB}"/>
              </a:ext>
            </a:extLst>
          </p:cNvPr>
          <p:cNvSpPr txBox="1"/>
          <p:nvPr/>
        </p:nvSpPr>
        <p:spPr>
          <a:xfrm>
            <a:off x="1402099" y="1709182"/>
            <a:ext cx="16043453" cy="7417415"/>
          </a:xfrm>
          <a:prstGeom prst="rect">
            <a:avLst/>
          </a:prstGeom>
          <a:noFill/>
        </p:spPr>
        <p:txBody>
          <a:bodyPr wrap="square" rtlCol="0">
            <a:spAutoFit/>
          </a:bodyPr>
          <a:lstStyle/>
          <a:p>
            <a:r>
              <a:rPr lang="en-US" sz="2800" dirty="0"/>
              <a:t>• Docker: Docker was used to containerize all the microservices, essentially we used 11 microservices and each of them were containerized by writing a docker file. It basically just packs the environment , commands </a:t>
            </a:r>
            <a:r>
              <a:rPr lang="en-US" sz="2800" dirty="0" err="1"/>
              <a:t>etc</a:t>
            </a:r>
            <a:r>
              <a:rPr lang="en-US" sz="2800" dirty="0"/>
              <a:t> which are used by each microservice.</a:t>
            </a:r>
          </a:p>
          <a:p>
            <a:endParaRPr lang="en-US" sz="2800" dirty="0"/>
          </a:p>
          <a:p>
            <a:r>
              <a:rPr lang="en-US" sz="2800" dirty="0"/>
              <a:t>• Kubernetes (k3d/</a:t>
            </a:r>
            <a:r>
              <a:rPr lang="en-US" sz="2800" dirty="0" err="1"/>
              <a:t>kubectl</a:t>
            </a:r>
            <a:r>
              <a:rPr lang="en-US" sz="2800" dirty="0"/>
              <a:t>/Helm): Kubernetes are used to deploy those containers. It also has a load balancer. It runs the containers as pods, and these pods are increased or decreased as required .</a:t>
            </a:r>
          </a:p>
          <a:p>
            <a:endParaRPr lang="en-US" sz="2800" dirty="0"/>
          </a:p>
          <a:p>
            <a:r>
              <a:rPr lang="en-US" sz="2800" dirty="0"/>
              <a:t>• Python (</a:t>
            </a:r>
            <a:r>
              <a:rPr lang="en-US" sz="2800" dirty="0" err="1"/>
              <a:t>PyTorch</a:t>
            </a:r>
            <a:r>
              <a:rPr lang="en-US" sz="2800" dirty="0"/>
              <a:t>): a python library which is used to train the RL models. It trains models using the GPU and on our team, we had 2 RTX 4050s, an RTX 3050 .</a:t>
            </a:r>
          </a:p>
          <a:p>
            <a:endParaRPr lang="en-US" sz="2800" dirty="0"/>
          </a:p>
          <a:p>
            <a:r>
              <a:rPr lang="en-US" sz="2800" dirty="0"/>
              <a:t>• Locust: To check how well things held up, we used Locust – It simulates large numbers of concurrent users and API requests, allowing the system’s behavior under heavy load to be analyzed. The results from Locust testing revealed performance bottlenecks, latency spikes, and scalability limits.</a:t>
            </a:r>
          </a:p>
          <a:p>
            <a:endParaRPr lang="en-US" sz="2800" dirty="0"/>
          </a:p>
          <a:p>
            <a:r>
              <a:rPr lang="en-US" sz="2800" dirty="0"/>
              <a:t>• Prometheus: Prometheus gives the metrics via an endpoint which is in our site. This metrics is then used for visualization by </a:t>
            </a:r>
            <a:r>
              <a:rPr lang="en-US" sz="2800" dirty="0" err="1"/>
              <a:t>grafana</a:t>
            </a:r>
            <a:r>
              <a:rPr lang="en-US" sz="2800" dirty="0"/>
              <a:t>, metrics like the CPU load, memory required and network bytes received or transmitted.</a:t>
            </a:r>
            <a:endParaRPr lang="en-IN" sz="2800" dirty="0"/>
          </a:p>
        </p:txBody>
      </p:sp>
      <p:sp>
        <p:nvSpPr>
          <p:cNvPr id="11" name="Footer Placeholder 12">
            <a:extLst>
              <a:ext uri="{FF2B5EF4-FFF2-40B4-BE49-F238E27FC236}">
                <a16:creationId xmlns:a16="http://schemas.microsoft.com/office/drawing/2014/main" id="{F106ABB6-135D-7D49-51C7-D9F89C56EEA4}"/>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Tree>
    <p:extLst>
      <p:ext uri="{BB962C8B-B14F-4D97-AF65-F5344CB8AC3E}">
        <p14:creationId xmlns:p14="http://schemas.microsoft.com/office/powerpoint/2010/main" val="3370721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15901683" y="547688"/>
            <a:ext cx="1975961" cy="1045845"/>
            <a:chOff x="0" y="0"/>
            <a:chExt cx="2634615" cy="1394460"/>
          </a:xfrm>
        </p:grpSpPr>
        <p:sp>
          <p:nvSpPr>
            <p:cNvPr id="5" name="Freeform 5"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grpSp>
        <p:nvGrpSpPr>
          <p:cNvPr id="6" name="Group 6"/>
          <p:cNvGrpSpPr/>
          <p:nvPr/>
        </p:nvGrpSpPr>
        <p:grpSpPr>
          <a:xfrm>
            <a:off x="0" y="0"/>
            <a:ext cx="18288000" cy="1631252"/>
            <a:chOff x="0" y="0"/>
            <a:chExt cx="24384000" cy="2175002"/>
          </a:xfrm>
        </p:grpSpPr>
        <p:sp>
          <p:nvSpPr>
            <p:cNvPr id="7" name="Freeform 7"/>
            <p:cNvSpPr/>
            <p:nvPr/>
          </p:nvSpPr>
          <p:spPr>
            <a:xfrm>
              <a:off x="0" y="0"/>
              <a:ext cx="24384000" cy="2175000"/>
            </a:xfrm>
            <a:custGeom>
              <a:avLst/>
              <a:gdLst/>
              <a:ahLst/>
              <a:cxnLst/>
              <a:rect l="l" t="t" r="r" b="b"/>
              <a:pathLst>
                <a:path w="24384000" h="2175000">
                  <a:moveTo>
                    <a:pt x="0" y="0"/>
                  </a:moveTo>
                  <a:lnTo>
                    <a:pt x="24384000" y="0"/>
                  </a:lnTo>
                  <a:lnTo>
                    <a:pt x="24384000" y="2175000"/>
                  </a:lnTo>
                  <a:lnTo>
                    <a:pt x="0" y="2175000"/>
                  </a:lnTo>
                  <a:close/>
                </a:path>
              </a:pathLst>
            </a:custGeom>
            <a:blipFill>
              <a:blip r:embed="rId4">
                <a:alphaModFix amt="0"/>
              </a:blip>
              <a:stretch>
                <a:fillRect t="-168447" b="-168447"/>
              </a:stretch>
            </a:blipFill>
          </p:spPr>
        </p:sp>
        <p:sp>
          <p:nvSpPr>
            <p:cNvPr id="8" name="TextBox 8"/>
            <p:cNvSpPr txBox="1"/>
            <p:nvPr/>
          </p:nvSpPr>
          <p:spPr>
            <a:xfrm>
              <a:off x="0" y="47625"/>
              <a:ext cx="24384000" cy="2127377"/>
            </a:xfrm>
            <a:prstGeom prst="rect">
              <a:avLst/>
            </a:prstGeom>
          </p:spPr>
          <p:txBody>
            <a:bodyPr lIns="0" tIns="0" rIns="0" bIns="0" rtlCol="0" anchor="ctr"/>
            <a:lstStyle/>
            <a:p>
              <a:pPr algn="ctr">
                <a:lnSpc>
                  <a:spcPts val="7290"/>
                </a:lnSpc>
              </a:pPr>
              <a:r>
                <a:rPr lang="en-US" sz="6750" b="1">
                  <a:solidFill>
                    <a:srgbClr val="000000"/>
                  </a:solidFill>
                  <a:latin typeface="Times New Roman Bold"/>
                  <a:ea typeface="Times New Roman Bold"/>
                  <a:cs typeface="Times New Roman Bold"/>
                  <a:sym typeface="Times New Roman Bold"/>
                </a:rPr>
                <a:t>RESULTS AND DISCUSSION</a:t>
              </a:r>
            </a:p>
          </p:txBody>
        </p:sp>
      </p:grpSp>
      <p:sp>
        <p:nvSpPr>
          <p:cNvPr id="10" name="Slide Number Placeholder 9">
            <a:extLst>
              <a:ext uri="{FF2B5EF4-FFF2-40B4-BE49-F238E27FC236}">
                <a16:creationId xmlns:a16="http://schemas.microsoft.com/office/drawing/2014/main" id="{FF212FB9-D8A4-3946-23C2-7E525B351A25}"/>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9" name="Footer Placeholder 12">
            <a:extLst>
              <a:ext uri="{FF2B5EF4-FFF2-40B4-BE49-F238E27FC236}">
                <a16:creationId xmlns:a16="http://schemas.microsoft.com/office/drawing/2014/main" id="{E23E9872-CC63-6A6D-A6E1-81FF1112E7AF}"/>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pic>
        <p:nvPicPr>
          <p:cNvPr id="12" name="Picture 11">
            <a:extLst>
              <a:ext uri="{FF2B5EF4-FFF2-40B4-BE49-F238E27FC236}">
                <a16:creationId xmlns:a16="http://schemas.microsoft.com/office/drawing/2014/main" id="{F581C10F-9C30-637A-2FAF-5F771BF77D4C}"/>
              </a:ext>
            </a:extLst>
          </p:cNvPr>
          <p:cNvPicPr>
            <a:picLocks noChangeAspect="1"/>
          </p:cNvPicPr>
          <p:nvPr/>
        </p:nvPicPr>
        <p:blipFill>
          <a:blip r:embed="rId5"/>
          <a:stretch>
            <a:fillRect/>
          </a:stretch>
        </p:blipFill>
        <p:spPr>
          <a:xfrm>
            <a:off x="9906000" y="2105502"/>
            <a:ext cx="8382000" cy="6319278"/>
          </a:xfrm>
          <a:prstGeom prst="rect">
            <a:avLst/>
          </a:prstGeom>
        </p:spPr>
      </p:pic>
      <p:sp>
        <p:nvSpPr>
          <p:cNvPr id="15" name="TextBox 14">
            <a:extLst>
              <a:ext uri="{FF2B5EF4-FFF2-40B4-BE49-F238E27FC236}">
                <a16:creationId xmlns:a16="http://schemas.microsoft.com/office/drawing/2014/main" id="{5726109C-8D75-FEB3-E0DA-E35840CD510B}"/>
              </a:ext>
            </a:extLst>
          </p:cNvPr>
          <p:cNvSpPr txBox="1"/>
          <p:nvPr/>
        </p:nvSpPr>
        <p:spPr>
          <a:xfrm>
            <a:off x="1219200" y="2105502"/>
            <a:ext cx="7543800" cy="5836470"/>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ontserrat" panose="00000500000000000000" pitchFamily="2" charset="0"/>
              </a:rPr>
              <a:t>AURA achieves </a:t>
            </a:r>
            <a:r>
              <a:rPr kumimoji="0" lang="en-US" altLang="en-US" sz="2800" b="1" i="0" u="none" strike="noStrike" cap="none" normalizeH="0" baseline="0" dirty="0">
                <a:ln>
                  <a:noFill/>
                </a:ln>
                <a:solidFill>
                  <a:schemeClr val="tx1"/>
                </a:solidFill>
                <a:effectLst/>
                <a:latin typeface="Montserrat" panose="00000500000000000000" pitchFamily="2" charset="0"/>
              </a:rPr>
              <a:t>46% lower API latency</a:t>
            </a:r>
            <a:r>
              <a:rPr kumimoji="0" lang="en-US" altLang="en-US" sz="2800" b="0" i="0" u="none" strike="noStrike" cap="none" normalizeH="0" baseline="0" dirty="0">
                <a:ln>
                  <a:noFill/>
                </a:ln>
                <a:solidFill>
                  <a:schemeClr val="tx1"/>
                </a:solidFill>
                <a:effectLst/>
                <a:latin typeface="Montserrat" panose="00000500000000000000" pitchFamily="2" charset="0"/>
              </a:rPr>
              <a:t> (from experiments)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ontserrat" panose="00000500000000000000" pitchFamily="2" charset="0"/>
              </a:rPr>
              <a:t>Uses </a:t>
            </a:r>
            <a:r>
              <a:rPr kumimoji="0" lang="en-US" altLang="en-US" sz="2800" b="1" i="0" u="none" strike="noStrike" cap="none" normalizeH="0" baseline="0" dirty="0">
                <a:ln>
                  <a:noFill/>
                </a:ln>
                <a:solidFill>
                  <a:schemeClr val="tx1"/>
                </a:solidFill>
                <a:effectLst/>
                <a:latin typeface="Montserrat" panose="00000500000000000000" pitchFamily="2" charset="0"/>
              </a:rPr>
              <a:t>less CPU than HPA (~55% reduction)</a:t>
            </a:r>
            <a:r>
              <a:rPr kumimoji="0" lang="en-US" altLang="en-US" sz="2800" b="0" i="0" u="none" strike="noStrike" cap="none" normalizeH="0" baseline="0" dirty="0">
                <a:ln>
                  <a:noFill/>
                </a:ln>
                <a:solidFill>
                  <a:schemeClr val="tx1"/>
                </a:solidFill>
                <a:effectLst/>
                <a:latin typeface="Montserrat" panose="00000500000000000000" pitchFamily="2"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ontserrat" panose="00000500000000000000" pitchFamily="2" charset="0"/>
              </a:rPr>
              <a:t>Demonstrates </a:t>
            </a:r>
            <a:r>
              <a:rPr kumimoji="0" lang="en-US" altLang="en-US" sz="2800" b="1" i="0" u="none" strike="noStrike" cap="none" normalizeH="0" baseline="0" dirty="0">
                <a:ln>
                  <a:noFill/>
                </a:ln>
                <a:solidFill>
                  <a:schemeClr val="tx1"/>
                </a:solidFill>
                <a:effectLst/>
                <a:latin typeface="Montserrat" panose="00000500000000000000" pitchFamily="2" charset="0"/>
              </a:rPr>
              <a:t>predictive and coordinated scaling</a:t>
            </a:r>
            <a:r>
              <a:rPr kumimoji="0" lang="en-US" altLang="en-US" sz="2800" b="0" i="0" u="none" strike="noStrike" cap="none" normalizeH="0" baseline="0" dirty="0">
                <a:ln>
                  <a:noFill/>
                </a:ln>
                <a:solidFill>
                  <a:schemeClr val="tx1"/>
                </a:solidFill>
                <a:effectLst/>
                <a:latin typeface="Montserrat" panose="00000500000000000000" pitchFamily="2"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ontserrat" panose="00000500000000000000" pitchFamily="2" charset="0"/>
              </a:rPr>
              <a:t>Improves SLA performance under dynamic load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351139"/>
            <a:ext cx="17293152" cy="1599705"/>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CONCLUSION </a:t>
            </a:r>
          </a:p>
        </p:txBody>
      </p:sp>
      <p:sp>
        <p:nvSpPr>
          <p:cNvPr id="10" name="Slide Number Placeholder 9">
            <a:extLst>
              <a:ext uri="{FF2B5EF4-FFF2-40B4-BE49-F238E27FC236}">
                <a16:creationId xmlns:a16="http://schemas.microsoft.com/office/drawing/2014/main" id="{47E79403-F6BB-C6D9-F008-04F4C55853EE}"/>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9" name="TextBox 8">
            <a:extLst>
              <a:ext uri="{FF2B5EF4-FFF2-40B4-BE49-F238E27FC236}">
                <a16:creationId xmlns:a16="http://schemas.microsoft.com/office/drawing/2014/main" id="{A9933343-59C8-D93C-FFC5-18499019CDDC}"/>
              </a:ext>
            </a:extLst>
          </p:cNvPr>
          <p:cNvSpPr txBox="1"/>
          <p:nvPr/>
        </p:nvSpPr>
        <p:spPr>
          <a:xfrm>
            <a:off x="1600200" y="2171700"/>
            <a:ext cx="15163800" cy="5632311"/>
          </a:xfrm>
          <a:prstGeom prst="rect">
            <a:avLst/>
          </a:prstGeom>
          <a:noFill/>
        </p:spPr>
        <p:txBody>
          <a:bodyPr wrap="square" rtlCol="0">
            <a:spAutoFit/>
          </a:bodyPr>
          <a:lstStyle/>
          <a:p>
            <a:r>
              <a:rPr lang="en-US" sz="2400" dirty="0">
                <a:latin typeface="Montserrat" panose="00000500000000000000" pitchFamily="2" charset="0"/>
              </a:rPr>
              <a:t>This project basically proved that AURA works. It’s a fresh take on autoscaling, fixing a lot of the issues that pop up in how modern apps handle scaling. Instead of the usual single-metric setup like HPA which only reacts to its own stuff our design uses a cooperative multi-agent reinforcement learning (MARL) setup, where every microservice acts as its own agent. Each one makes decisions on its own but still works together using a teamwork-based learning approach. The system actually learns how different services affect each other, which is usually where slowdowns and wasted resources happen. We used QMIX with a Centralized Training and Decentralized Execution (CTDE) setup, and built a realistic simulator that captures real-world stuff like startup delays and data lag. That way, whatever we trained in simulation actually worked well when tested live. Plus, by focusing on stability, performance, and cost-effectiveness with a new reward system, we got strategies that are both solid and reliable. Testing AURA in a Kubernetes environment (built using k3d, with Prometheus and Locust)showed that this collaborative approach performs way better than HPA. Beyond just solving current problems, this project sets a base for what comes next like maybe using GNNs to map out how services connect, or letting the agent handle vertical scaling too.</a:t>
            </a:r>
            <a:endParaRPr lang="en-IN" sz="2400" dirty="0">
              <a:latin typeface="Montserrat" panose="00000500000000000000" pitchFamily="2" charset="0"/>
            </a:endParaRPr>
          </a:p>
        </p:txBody>
      </p:sp>
      <p:sp>
        <p:nvSpPr>
          <p:cNvPr id="11" name="Footer Placeholder 12">
            <a:extLst>
              <a:ext uri="{FF2B5EF4-FFF2-40B4-BE49-F238E27FC236}">
                <a16:creationId xmlns:a16="http://schemas.microsoft.com/office/drawing/2014/main" id="{BC7535A5-198E-FA6B-DEEF-5FE542CEE0F0}"/>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0" y="9499797"/>
            <a:ext cx="18288000" cy="787203"/>
            <a:chOff x="0" y="0"/>
            <a:chExt cx="24384000" cy="1049604"/>
          </a:xfrm>
        </p:grpSpPr>
        <p:sp>
          <p:nvSpPr>
            <p:cNvPr id="5" name="Freeform 5"/>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433151"/>
            <a:ext cx="18044198" cy="1506998"/>
          </a:xfrm>
          <a:prstGeom prst="rect">
            <a:avLst/>
          </a:prstGeom>
        </p:spPr>
        <p:txBody>
          <a:bodyPr lIns="0" tIns="0" rIns="0" bIns="0" rtlCol="0" anchor="t">
            <a:spAutoFit/>
          </a:bodyPr>
          <a:lstStyle/>
          <a:p>
            <a:pPr algn="ctr">
              <a:lnSpc>
                <a:spcPts val="8100"/>
              </a:lnSpc>
            </a:pPr>
            <a:r>
              <a:rPr lang="en-US" sz="6750" b="1" dirty="0">
                <a:solidFill>
                  <a:srgbClr val="000000"/>
                </a:solidFill>
                <a:latin typeface="Times New Roman Bold"/>
                <a:ea typeface="Times New Roman Bold"/>
                <a:cs typeface="Times New Roman Bold"/>
                <a:sym typeface="Times New Roman Bold"/>
              </a:rPr>
              <a:t>FUTURE SCOPE</a:t>
            </a:r>
          </a:p>
        </p:txBody>
      </p:sp>
      <p:sp>
        <p:nvSpPr>
          <p:cNvPr id="10" name="Slide Number Placeholder 9">
            <a:extLst>
              <a:ext uri="{FF2B5EF4-FFF2-40B4-BE49-F238E27FC236}">
                <a16:creationId xmlns:a16="http://schemas.microsoft.com/office/drawing/2014/main" id="{FDFADE80-EBB7-D4AA-2988-6F3B0077FE82}"/>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9" name="Footer Placeholder 12">
            <a:extLst>
              <a:ext uri="{FF2B5EF4-FFF2-40B4-BE49-F238E27FC236}">
                <a16:creationId xmlns:a16="http://schemas.microsoft.com/office/drawing/2014/main" id="{FAE8024C-DEDD-82DF-A1EF-3F61949D8088}"/>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11" name="Rectangle 1">
            <a:extLst>
              <a:ext uri="{FF2B5EF4-FFF2-40B4-BE49-F238E27FC236}">
                <a16:creationId xmlns:a16="http://schemas.microsoft.com/office/drawing/2014/main" id="{67AC80B8-085D-725D-EF79-007AAB4D69FF}"/>
              </a:ext>
            </a:extLst>
          </p:cNvPr>
          <p:cNvSpPr>
            <a:spLocks noChangeArrowheads="1"/>
          </p:cNvSpPr>
          <p:nvPr/>
        </p:nvSpPr>
        <p:spPr bwMode="auto">
          <a:xfrm>
            <a:off x="914400" y="1848241"/>
            <a:ext cx="16459200"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latin typeface="Montserrat" panose="00000500000000000000" pitchFamily="2" charset="0"/>
              </a:rPr>
              <a:t>Integration of Graph Neural Networks (GNNs) for Dependency Awareness</a:t>
            </a:r>
            <a:br>
              <a:rPr lang="en-US" sz="2800" dirty="0">
                <a:latin typeface="Montserrat" panose="00000500000000000000" pitchFamily="2" charset="0"/>
              </a:rPr>
            </a:br>
            <a:r>
              <a:rPr lang="en-US" sz="2800" dirty="0">
                <a:latin typeface="Montserrat" panose="00000500000000000000" pitchFamily="2" charset="0"/>
              </a:rPr>
              <a:t>Future versions can incorporate GNNs to explicitly model inter-service dependencies, enabling agents to make more context-aware and globally optimized scaling decisions instead of implicit learning. </a:t>
            </a:r>
          </a:p>
          <a:p>
            <a:r>
              <a:rPr lang="en-US" sz="2800" b="1" dirty="0">
                <a:latin typeface="Montserrat" panose="00000500000000000000" pitchFamily="2" charset="0"/>
              </a:rPr>
              <a:t>Extension to Multi-Dimensional Scaling (Horizontal + Vertical + Placement)</a:t>
            </a:r>
            <a:br>
              <a:rPr lang="en-US" sz="2800" dirty="0">
                <a:latin typeface="Montserrat" panose="00000500000000000000" pitchFamily="2" charset="0"/>
              </a:rPr>
            </a:br>
            <a:r>
              <a:rPr lang="en-US" sz="2800" dirty="0">
                <a:latin typeface="Montserrat" panose="00000500000000000000" pitchFamily="2" charset="0"/>
              </a:rPr>
              <a:t>Currently focused on horizontal scaling, AURA can be extended to jointly optimize CPU/memory allocation (vertical scaling) and intelligent pod placement, improving overall resource efficiency and reducing fragmentation. </a:t>
            </a:r>
          </a:p>
          <a:p>
            <a:r>
              <a:rPr lang="en-US" sz="2800" b="1" dirty="0">
                <a:latin typeface="Montserrat" panose="00000500000000000000" pitchFamily="2" charset="0"/>
              </a:rPr>
              <a:t>Real-World Production Deployment &amp; Continuous Learning</a:t>
            </a:r>
            <a:br>
              <a:rPr lang="en-US" sz="2800" dirty="0">
                <a:latin typeface="Montserrat" panose="00000500000000000000" pitchFamily="2" charset="0"/>
              </a:rPr>
            </a:br>
            <a:r>
              <a:rPr lang="en-US" sz="2800" dirty="0">
                <a:latin typeface="Montserrat" panose="00000500000000000000" pitchFamily="2" charset="0"/>
              </a:rPr>
              <a:t>Deploying AURA in real cloud environments with continuous online learning can help bridge the sim-to-real gap, allowing agents to adapt dynamically to unpredictable real-world workloads and traffic patterns. </a:t>
            </a:r>
          </a:p>
          <a:p>
            <a:r>
              <a:rPr lang="en-US" sz="2800" b="1" dirty="0">
                <a:latin typeface="Montserrat" panose="00000500000000000000" pitchFamily="2" charset="0"/>
              </a:rPr>
              <a:t>Incorporation of Predictive &amp; Meta-Learning Techniques</a:t>
            </a:r>
            <a:br>
              <a:rPr lang="en-US" sz="2800" dirty="0">
                <a:latin typeface="Montserrat" panose="00000500000000000000" pitchFamily="2" charset="0"/>
              </a:rPr>
            </a:br>
            <a:r>
              <a:rPr lang="en-US" sz="2800" dirty="0">
                <a:latin typeface="Montserrat" panose="00000500000000000000" pitchFamily="2" charset="0"/>
              </a:rPr>
              <a:t>Integrating workload prediction models and meta-learning can enable faster adaptation to new applications and traffic behaviors, reducing training time and improving generalization across different microservice architectures. </a:t>
            </a:r>
          </a:p>
          <a:p>
            <a:endParaRPr kumimoji="0" lang="en-US" altLang="en-US" sz="2800" b="0" i="0" u="none" strike="noStrike" cap="none" normalizeH="0" baseline="0" dirty="0">
              <a:ln>
                <a:noFill/>
              </a:ln>
              <a:solidFill>
                <a:schemeClr val="tx1"/>
              </a:solidFill>
              <a:effectLst/>
              <a:latin typeface="Montserrat" panose="00000500000000000000" pitchFamily="2"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3372"/>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p:cNvGrpSpPr/>
          <p:nvPr/>
        </p:nvGrpSpPr>
        <p:grpSpPr>
          <a:xfrm>
            <a:off x="15901683" y="416909"/>
            <a:ext cx="1975961" cy="1045845"/>
            <a:chOff x="0" y="0"/>
            <a:chExt cx="2634615" cy="1394460"/>
          </a:xfrm>
        </p:grpSpPr>
        <p:sp>
          <p:nvSpPr>
            <p:cNvPr id="7" name="Freeform 7"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p:cNvSpPr txBox="1"/>
          <p:nvPr/>
        </p:nvSpPr>
        <p:spPr>
          <a:xfrm>
            <a:off x="121901" y="360026"/>
            <a:ext cx="18044198" cy="1108748"/>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REFERENCES</a:t>
            </a:r>
          </a:p>
        </p:txBody>
      </p:sp>
      <p:sp>
        <p:nvSpPr>
          <p:cNvPr id="10" name="Slide Number Placeholder 9">
            <a:extLst>
              <a:ext uri="{FF2B5EF4-FFF2-40B4-BE49-F238E27FC236}">
                <a16:creationId xmlns:a16="http://schemas.microsoft.com/office/drawing/2014/main" id="{6A445985-60FA-3012-3C69-378E1DE9E877}"/>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9" name="TextBox 8">
            <a:extLst>
              <a:ext uri="{FF2B5EF4-FFF2-40B4-BE49-F238E27FC236}">
                <a16:creationId xmlns:a16="http://schemas.microsoft.com/office/drawing/2014/main" id="{C9D48E95-9E57-C11F-D4C4-AC39851B9EBF}"/>
              </a:ext>
            </a:extLst>
          </p:cNvPr>
          <p:cNvSpPr txBox="1"/>
          <p:nvPr/>
        </p:nvSpPr>
        <p:spPr>
          <a:xfrm>
            <a:off x="838200" y="2171700"/>
            <a:ext cx="16687800" cy="6400800"/>
          </a:xfrm>
          <a:prstGeom prst="rect">
            <a:avLst/>
          </a:prstGeom>
          <a:noFill/>
        </p:spPr>
        <p:txBody>
          <a:bodyPr wrap="square" rtlCol="0">
            <a:spAutoFit/>
          </a:bodyPr>
          <a:lstStyle/>
          <a:p>
            <a:endParaRPr lang="en-IN" dirty="0"/>
          </a:p>
        </p:txBody>
      </p:sp>
      <p:sp>
        <p:nvSpPr>
          <p:cNvPr id="11" name="Footer Placeholder 12">
            <a:extLst>
              <a:ext uri="{FF2B5EF4-FFF2-40B4-BE49-F238E27FC236}">
                <a16:creationId xmlns:a16="http://schemas.microsoft.com/office/drawing/2014/main" id="{BBC74F16-62A7-CBF3-F180-79BE6533B382}"/>
              </a:ext>
            </a:extLst>
          </p:cNvPr>
          <p:cNvSpPr txBox="1">
            <a:spLocks/>
          </p:cNvSpPr>
          <p:nvPr/>
        </p:nvSpPr>
        <p:spPr>
          <a:xfrm>
            <a:off x="-104180" y="9373508"/>
            <a:ext cx="7391400" cy="1414234"/>
          </a:xfrm>
          <a:prstGeom prst="rect">
            <a:avLst/>
          </a:prstGeom>
        </p:spPr>
        <p:txBody>
          <a:bodyPr vert="horz" lIns="91440" tIns="45720" rIns="91440" bIns="45720" rtlCol="0" anchor="ctr"/>
          <a:lstStyle>
            <a:defPPr>
              <a:defRPr lang="en-US"/>
            </a:defPPr>
            <a:lvl1pPr marL="0" algn="ctr"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13" name="TextBox 12">
            <a:extLst>
              <a:ext uri="{FF2B5EF4-FFF2-40B4-BE49-F238E27FC236}">
                <a16:creationId xmlns:a16="http://schemas.microsoft.com/office/drawing/2014/main" id="{4F6509BF-2163-9A1E-A6A8-CF80A4C187C2}"/>
              </a:ext>
            </a:extLst>
          </p:cNvPr>
          <p:cNvSpPr txBox="1"/>
          <p:nvPr/>
        </p:nvSpPr>
        <p:spPr>
          <a:xfrm>
            <a:off x="381000" y="1866900"/>
            <a:ext cx="17785099" cy="6124754"/>
          </a:xfrm>
          <a:prstGeom prst="rect">
            <a:avLst/>
          </a:prstGeom>
          <a:noFill/>
        </p:spPr>
        <p:txBody>
          <a:bodyPr wrap="square" rtlCol="0">
            <a:spAutoFit/>
          </a:bodyPr>
          <a:lstStyle/>
          <a:p>
            <a:pPr marL="514350" indent="-514350">
              <a:buAutoNum type="arabicPeriod"/>
            </a:pPr>
            <a:r>
              <a:rPr lang="en-IN" sz="2800" dirty="0"/>
              <a:t>A. Gogineni, “Optimizing Resource Management in Kubernetes: A Study of Auto-</a:t>
            </a:r>
            <a:r>
              <a:rPr lang="en-IN" sz="2800" dirty="0" err="1"/>
              <a:t>Scalingand</a:t>
            </a:r>
            <a:r>
              <a:rPr lang="en-IN" sz="2800" dirty="0"/>
              <a:t> Load Balancing Approaches,” International Journal, vol. 7, no. 11, pp. 241, 2024.ISSN: 2348-9510.</a:t>
            </a:r>
          </a:p>
          <a:p>
            <a:pPr marL="514350" indent="-514350">
              <a:buAutoNum type="arabicPeriod"/>
            </a:pPr>
            <a:endParaRPr lang="en-IN" sz="2800" dirty="0"/>
          </a:p>
          <a:p>
            <a:pPr marL="514350" indent="-514350">
              <a:buAutoNum type="arabicPeriod"/>
            </a:pPr>
            <a:r>
              <a:rPr lang="en-IN" sz="2800" dirty="0"/>
              <a:t>M.-N. Tran, D.-D. Vu, and Y. Kim, “A Survey of Autoscaling in Kubernetes,” Proc. </a:t>
            </a:r>
            <a:r>
              <a:rPr lang="en-IN" sz="2800" dirty="0" err="1"/>
              <a:t>ofthe</a:t>
            </a:r>
            <a:r>
              <a:rPr lang="en-IN" sz="2800" dirty="0"/>
              <a:t> 2022 Thirteenth International Conference on Ubiquitous and Future Networks (ICUFN),2022.</a:t>
            </a:r>
          </a:p>
          <a:p>
            <a:pPr marL="514350" indent="-514350">
              <a:buAutoNum type="arabicPeriod"/>
            </a:pPr>
            <a:endParaRPr lang="en-IN" sz="2800" dirty="0"/>
          </a:p>
          <a:p>
            <a:pPr marL="514350" indent="-514350">
              <a:buAutoNum type="arabicPeriod"/>
            </a:pPr>
            <a:r>
              <a:rPr lang="en-IN" sz="2800" dirty="0"/>
              <a:t>X. Zhao, C. Wu, Z. Zheng, Z. Li, and J. Liu, “A Hierarchical Reinforcement Learning-</a:t>
            </a:r>
            <a:r>
              <a:rPr lang="en-IN" sz="2800" dirty="0" err="1"/>
              <a:t>basedAutoscaler</a:t>
            </a:r>
            <a:r>
              <a:rPr lang="en-IN" sz="2800" dirty="0"/>
              <a:t> for Microservices in Kubernetes,” IEEE Transactions on Network and </a:t>
            </a:r>
            <a:r>
              <a:rPr lang="en-IN" sz="2800" dirty="0" err="1"/>
              <a:t>ServiceManagement</a:t>
            </a:r>
            <a:r>
              <a:rPr lang="en-IN" sz="2800" dirty="0"/>
              <a:t>, vol. 19, no. 4, pp. 4668–4683, Dec. 2022.</a:t>
            </a:r>
          </a:p>
          <a:p>
            <a:pPr marL="514350" indent="-514350">
              <a:buAutoNum type="arabicPeriod"/>
            </a:pPr>
            <a:endParaRPr lang="en-IN" sz="2800" dirty="0"/>
          </a:p>
          <a:p>
            <a:pPr marL="514350" indent="-514350">
              <a:buAutoNum type="arabicPeriod"/>
            </a:pPr>
            <a:r>
              <a:rPr lang="en-IN" sz="2800" dirty="0"/>
              <a:t>Boden, G., et al. (2023). Kube-Knots: A GNN-based Approach for Microservices </a:t>
            </a:r>
            <a:r>
              <a:rPr lang="en-IN" sz="2800" dirty="0" err="1"/>
              <a:t>Autoscal-ing</a:t>
            </a:r>
            <a:r>
              <a:rPr lang="en-IN" sz="2800" dirty="0"/>
              <a:t>.</a:t>
            </a:r>
          </a:p>
          <a:p>
            <a:pPr marL="514350" indent="-514350">
              <a:buAutoNum type="arabicPeriod"/>
            </a:pPr>
            <a:endParaRPr lang="en-IN" sz="2800" dirty="0"/>
          </a:p>
          <a:p>
            <a:pPr marL="514350" indent="-514350">
              <a:buAutoNum type="arabicPeriod"/>
            </a:pPr>
            <a:r>
              <a:rPr lang="en-IN" sz="2800" dirty="0"/>
              <a:t>Tabish Rashid, Mikayel </a:t>
            </a:r>
            <a:r>
              <a:rPr lang="en-IN" sz="2800" dirty="0" err="1"/>
              <a:t>Samvelyan</a:t>
            </a:r>
            <a:r>
              <a:rPr lang="en-IN" sz="2800" dirty="0"/>
              <a:t>, Christian Schroeder de Witt, Gregory Farquhar, </a:t>
            </a:r>
            <a:r>
              <a:rPr lang="en-IN" sz="2800" dirty="0" err="1"/>
              <a:t>JakobFoerster</a:t>
            </a:r>
            <a:r>
              <a:rPr lang="en-IN" sz="2800" dirty="0"/>
              <a:t>, Shimon Whiteson, ”QMIX: Monotonic Value Function Factorisation for Deep Multi-Agent Reinforcement Learning”, Proceedings of the 35th International Conference on </a:t>
            </a:r>
            <a:r>
              <a:rPr lang="en-IN" sz="2800" dirty="0" err="1"/>
              <a:t>MachineLearning</a:t>
            </a:r>
            <a:r>
              <a:rPr lang="en-IN" sz="2800" dirty="0"/>
              <a:t> (PMLR), Vol. 80, pp. 4295–4304, 2018.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25481-DD51-4653-A834-C473AE96CA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3DCCCEA-47C8-6451-8856-995542C6E396}"/>
              </a:ext>
            </a:extLst>
          </p:cNvPr>
          <p:cNvGrpSpPr/>
          <p:nvPr/>
        </p:nvGrpSpPr>
        <p:grpSpPr>
          <a:xfrm>
            <a:off x="0" y="9533372"/>
            <a:ext cx="18288000" cy="787203"/>
            <a:chOff x="0" y="0"/>
            <a:chExt cx="24384000" cy="1049604"/>
          </a:xfrm>
        </p:grpSpPr>
        <p:sp>
          <p:nvSpPr>
            <p:cNvPr id="3" name="Freeform 3">
              <a:extLst>
                <a:ext uri="{FF2B5EF4-FFF2-40B4-BE49-F238E27FC236}">
                  <a16:creationId xmlns:a16="http://schemas.microsoft.com/office/drawing/2014/main" id="{6C6097B4-3D1A-0198-5F9F-91E905AD7ACE}"/>
                </a:ext>
              </a:extLst>
            </p:cNvPr>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6" name="Group 6">
            <a:extLst>
              <a:ext uri="{FF2B5EF4-FFF2-40B4-BE49-F238E27FC236}">
                <a16:creationId xmlns:a16="http://schemas.microsoft.com/office/drawing/2014/main" id="{EF3E4987-A5B8-16C0-343F-59923A6576C4}"/>
              </a:ext>
            </a:extLst>
          </p:cNvPr>
          <p:cNvGrpSpPr/>
          <p:nvPr/>
        </p:nvGrpSpPr>
        <p:grpSpPr>
          <a:xfrm>
            <a:off x="15901683" y="416909"/>
            <a:ext cx="1975961" cy="1045845"/>
            <a:chOff x="0" y="0"/>
            <a:chExt cx="2634615" cy="1394460"/>
          </a:xfrm>
        </p:grpSpPr>
        <p:sp>
          <p:nvSpPr>
            <p:cNvPr id="7" name="Freeform 7" descr="Screenshot 2025-12-08 083519.png">
              <a:extLst>
                <a:ext uri="{FF2B5EF4-FFF2-40B4-BE49-F238E27FC236}">
                  <a16:creationId xmlns:a16="http://schemas.microsoft.com/office/drawing/2014/main" id="{EB7A799F-C3DE-EBDC-CEB7-1ADD088974AA}"/>
                </a:ext>
              </a:extLst>
            </p:cNvPr>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sp>
        <p:nvSpPr>
          <p:cNvPr id="8" name="TextBox 8">
            <a:extLst>
              <a:ext uri="{FF2B5EF4-FFF2-40B4-BE49-F238E27FC236}">
                <a16:creationId xmlns:a16="http://schemas.microsoft.com/office/drawing/2014/main" id="{92544F71-65F4-036B-1CD7-DAC1B373FBBB}"/>
              </a:ext>
            </a:extLst>
          </p:cNvPr>
          <p:cNvSpPr txBox="1"/>
          <p:nvPr/>
        </p:nvSpPr>
        <p:spPr>
          <a:xfrm>
            <a:off x="121901" y="360026"/>
            <a:ext cx="18044198" cy="1108748"/>
          </a:xfrm>
          <a:prstGeom prst="rect">
            <a:avLst/>
          </a:prstGeom>
        </p:spPr>
        <p:txBody>
          <a:bodyPr lIns="0" tIns="0" rIns="0" bIns="0" rtlCol="0" anchor="t">
            <a:spAutoFit/>
          </a:bodyPr>
          <a:lstStyle/>
          <a:p>
            <a:pPr algn="ctr">
              <a:lnSpc>
                <a:spcPts val="8100"/>
              </a:lnSpc>
            </a:pPr>
            <a:r>
              <a:rPr lang="en-US" sz="6750" b="1">
                <a:solidFill>
                  <a:srgbClr val="000000"/>
                </a:solidFill>
                <a:latin typeface="Times New Roman Bold"/>
                <a:ea typeface="Times New Roman Bold"/>
                <a:cs typeface="Times New Roman Bold"/>
                <a:sym typeface="Times New Roman Bold"/>
              </a:rPr>
              <a:t>REFERENCES</a:t>
            </a:r>
          </a:p>
        </p:txBody>
      </p:sp>
      <p:sp>
        <p:nvSpPr>
          <p:cNvPr id="10" name="Slide Number Placeholder 9">
            <a:extLst>
              <a:ext uri="{FF2B5EF4-FFF2-40B4-BE49-F238E27FC236}">
                <a16:creationId xmlns:a16="http://schemas.microsoft.com/office/drawing/2014/main" id="{02646CE0-370C-A30F-7715-0AB42B60004B}"/>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9" name="TextBox 8">
            <a:extLst>
              <a:ext uri="{FF2B5EF4-FFF2-40B4-BE49-F238E27FC236}">
                <a16:creationId xmlns:a16="http://schemas.microsoft.com/office/drawing/2014/main" id="{1CBE83B1-3665-B1A4-45AB-911613E59726}"/>
              </a:ext>
            </a:extLst>
          </p:cNvPr>
          <p:cNvSpPr txBox="1"/>
          <p:nvPr/>
        </p:nvSpPr>
        <p:spPr>
          <a:xfrm>
            <a:off x="838200" y="2171700"/>
            <a:ext cx="16687800" cy="6400800"/>
          </a:xfrm>
          <a:prstGeom prst="rect">
            <a:avLst/>
          </a:prstGeom>
          <a:noFill/>
        </p:spPr>
        <p:txBody>
          <a:bodyPr wrap="square" rtlCol="0">
            <a:spAutoFit/>
          </a:bodyPr>
          <a:lstStyle/>
          <a:p>
            <a:endParaRPr lang="en-IN" dirty="0"/>
          </a:p>
        </p:txBody>
      </p:sp>
      <p:sp>
        <p:nvSpPr>
          <p:cNvPr id="11" name="Footer Placeholder 12">
            <a:extLst>
              <a:ext uri="{FF2B5EF4-FFF2-40B4-BE49-F238E27FC236}">
                <a16:creationId xmlns:a16="http://schemas.microsoft.com/office/drawing/2014/main" id="{6CB1DC59-20FB-4EA3-4FC4-7A866A28020F}"/>
              </a:ext>
            </a:extLst>
          </p:cNvPr>
          <p:cNvSpPr txBox="1">
            <a:spLocks/>
          </p:cNvSpPr>
          <p:nvPr/>
        </p:nvSpPr>
        <p:spPr>
          <a:xfrm>
            <a:off x="-104180" y="9373508"/>
            <a:ext cx="7391400" cy="1414234"/>
          </a:xfrm>
          <a:prstGeom prst="rect">
            <a:avLst/>
          </a:prstGeom>
        </p:spPr>
        <p:txBody>
          <a:bodyPr vert="horz" lIns="91440" tIns="45720" rIns="91440" bIns="45720" rtlCol="0" anchor="ctr"/>
          <a:lstStyle>
            <a:defPPr>
              <a:defRPr lang="en-US"/>
            </a:defPPr>
            <a:lvl1pPr marL="0" algn="ctr"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
        <p:nvSpPr>
          <p:cNvPr id="13" name="TextBox 12">
            <a:extLst>
              <a:ext uri="{FF2B5EF4-FFF2-40B4-BE49-F238E27FC236}">
                <a16:creationId xmlns:a16="http://schemas.microsoft.com/office/drawing/2014/main" id="{8F876344-2D0F-1D52-45DB-637666F1FD32}"/>
              </a:ext>
            </a:extLst>
          </p:cNvPr>
          <p:cNvSpPr txBox="1"/>
          <p:nvPr/>
        </p:nvSpPr>
        <p:spPr>
          <a:xfrm>
            <a:off x="381000" y="1866900"/>
            <a:ext cx="17785099" cy="5262979"/>
          </a:xfrm>
          <a:prstGeom prst="rect">
            <a:avLst/>
          </a:prstGeom>
          <a:noFill/>
        </p:spPr>
        <p:txBody>
          <a:bodyPr wrap="square" rtlCol="0">
            <a:spAutoFit/>
          </a:bodyPr>
          <a:lstStyle/>
          <a:p>
            <a:pPr marL="514350" indent="-514350">
              <a:buFont typeface="+mj-lt"/>
              <a:buAutoNum type="arabicPeriod" startAt="6"/>
            </a:pPr>
            <a:r>
              <a:rPr lang="en-IN" sz="2800" dirty="0"/>
              <a:t>Ryan Lowe, Yi Wu, Aviv Tamar, Jean Harb, Pieter </a:t>
            </a:r>
            <a:r>
              <a:rPr lang="en-IN" sz="2800" dirty="0" err="1"/>
              <a:t>Abbeel</a:t>
            </a:r>
            <a:r>
              <a:rPr lang="en-IN" sz="2800" dirty="0"/>
              <a:t>, Igor </a:t>
            </a:r>
            <a:r>
              <a:rPr lang="en-IN" sz="2800" dirty="0" err="1"/>
              <a:t>Mordatch</a:t>
            </a:r>
            <a:r>
              <a:rPr lang="en-IN" sz="2800" dirty="0"/>
              <a:t>, ”Multi-Agent Actor-Critic for Mixed     Cooperative-Competitive Environments”, Advances in Neural Information Processing Systems (</a:t>
            </a:r>
            <a:r>
              <a:rPr lang="en-IN" sz="2800" dirty="0" err="1"/>
              <a:t>NeurIPS</a:t>
            </a:r>
            <a:r>
              <a:rPr lang="en-IN" sz="2800" dirty="0"/>
              <a:t>), Vol. —, pp. 6382–6393, 2017.</a:t>
            </a:r>
          </a:p>
          <a:p>
            <a:pPr marL="514350" indent="-514350">
              <a:buFont typeface="+mj-lt"/>
              <a:buAutoNum type="arabicPeriod" startAt="6"/>
            </a:pPr>
            <a:endParaRPr lang="en-IN" sz="2800" dirty="0"/>
          </a:p>
          <a:p>
            <a:pPr marL="514350" indent="-514350">
              <a:buFont typeface="+mj-lt"/>
              <a:buAutoNum type="arabicPeriod" startAt="6"/>
            </a:pPr>
            <a:r>
              <a:rPr lang="en-IN" sz="2800" dirty="0"/>
              <a:t>Haoran Qiu, et al., ”AWARE: Automate Workload Autoscaling with Reinforcement </a:t>
            </a:r>
            <a:r>
              <a:rPr lang="en-IN" sz="2800" dirty="0" err="1"/>
              <a:t>Learningin</a:t>
            </a:r>
            <a:r>
              <a:rPr lang="en-IN" sz="2800" dirty="0"/>
              <a:t> Production Cloud Systems”, Proceedings of the 2023 USENIX Annual Technical Conference (USENIX ATC 2023), Vol. —, pp. —, 2023.</a:t>
            </a:r>
          </a:p>
          <a:p>
            <a:pPr marL="514350" indent="-514350">
              <a:buFont typeface="+mj-lt"/>
              <a:buAutoNum type="arabicPeriod" startAt="6"/>
            </a:pPr>
            <a:endParaRPr lang="en-IN" sz="2800" dirty="0"/>
          </a:p>
          <a:p>
            <a:pPr marL="514350" indent="-514350">
              <a:buFont typeface="+mj-lt"/>
              <a:buAutoNum type="arabicPeriod" startAt="6"/>
            </a:pPr>
            <a:r>
              <a:rPr lang="en-IN" sz="2800" dirty="0"/>
              <a:t>M. Xu, et al., ”</a:t>
            </a:r>
            <a:r>
              <a:rPr lang="en-IN" sz="2800" dirty="0" err="1"/>
              <a:t>CoScal</a:t>
            </a:r>
            <a:r>
              <a:rPr lang="en-IN" sz="2800" dirty="0"/>
              <a:t>: Multi-faceted Scaling of Microservices with Reinforcement Learning”, IEEE Transactions on Network and Service Management (or conference proceedings listed </a:t>
            </a:r>
            <a:r>
              <a:rPr lang="en-IN" sz="2800" dirty="0" err="1"/>
              <a:t>inacceptance</a:t>
            </a:r>
            <a:r>
              <a:rPr lang="en-IN" sz="2800" dirty="0"/>
              <a:t>), Vol. 19, pp. 3995–(end), 2022.</a:t>
            </a:r>
          </a:p>
          <a:p>
            <a:pPr marL="514350" indent="-514350">
              <a:buFont typeface="+mj-lt"/>
              <a:buAutoNum type="arabicPeriod" startAt="6"/>
            </a:pPr>
            <a:endParaRPr lang="en-IN" sz="2800" dirty="0"/>
          </a:p>
          <a:p>
            <a:pPr marL="514350" indent="-514350">
              <a:buFont typeface="+mj-lt"/>
              <a:buAutoNum type="arabicPeriod" startAt="6"/>
            </a:pPr>
            <a:r>
              <a:rPr lang="en-IN" sz="2800" dirty="0"/>
              <a:t>Majid Ghasemi, Dariush Ebrahimi, ”Introduction to Reinforcement Learning”, </a:t>
            </a:r>
            <a:r>
              <a:rPr lang="en-IN" sz="2800" dirty="0" err="1"/>
              <a:t>arXiv</a:t>
            </a:r>
            <a:r>
              <a:rPr lang="en-IN" sz="2800" dirty="0"/>
              <a:t> preprintarXiv:2408.07712v3 [cs.AI], Department of Computer Science, Wilfrid Laurier University, Waterloo, Canada, December 2024.</a:t>
            </a:r>
          </a:p>
        </p:txBody>
      </p:sp>
    </p:spTree>
    <p:extLst>
      <p:ext uri="{BB962C8B-B14F-4D97-AF65-F5344CB8AC3E}">
        <p14:creationId xmlns:p14="http://schemas.microsoft.com/office/powerpoint/2010/main" val="344292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9797"/>
            <a:ext cx="18288000" cy="787203"/>
            <a:chOff x="0" y="0"/>
            <a:chExt cx="24384000" cy="1049604"/>
          </a:xfrm>
        </p:grpSpPr>
        <p:sp>
          <p:nvSpPr>
            <p:cNvPr id="3" name="Freeform 3"/>
            <p:cNvSpPr/>
            <p:nvPr/>
          </p:nvSpPr>
          <p:spPr>
            <a:xfrm>
              <a:off x="0" y="0"/>
              <a:ext cx="24384000" cy="1049655"/>
            </a:xfrm>
            <a:custGeom>
              <a:avLst/>
              <a:gdLst/>
              <a:ahLst/>
              <a:cxnLst/>
              <a:rect l="l" t="t" r="r" b="b"/>
              <a:pathLst>
                <a:path w="24384000" h="1049655">
                  <a:moveTo>
                    <a:pt x="0" y="0"/>
                  </a:moveTo>
                  <a:lnTo>
                    <a:pt x="24384000" y="0"/>
                  </a:lnTo>
                  <a:lnTo>
                    <a:pt x="24384000" y="1049655"/>
                  </a:lnTo>
                  <a:lnTo>
                    <a:pt x="0" y="1049655"/>
                  </a:lnTo>
                  <a:close/>
                </a:path>
              </a:pathLst>
            </a:custGeom>
            <a:solidFill>
              <a:srgbClr val="CC0000"/>
            </a:solidFill>
          </p:spPr>
        </p:sp>
      </p:grpSp>
      <p:grpSp>
        <p:nvGrpSpPr>
          <p:cNvPr id="4" name="Group 4"/>
          <p:cNvGrpSpPr/>
          <p:nvPr/>
        </p:nvGrpSpPr>
        <p:grpSpPr>
          <a:xfrm>
            <a:off x="15901683" y="547688"/>
            <a:ext cx="1975961" cy="1045845"/>
            <a:chOff x="0" y="0"/>
            <a:chExt cx="2634615" cy="1394460"/>
          </a:xfrm>
        </p:grpSpPr>
        <p:sp>
          <p:nvSpPr>
            <p:cNvPr id="5" name="Freeform 5" descr="Screenshot 2025-12-08 083519.png"/>
            <p:cNvSpPr/>
            <p:nvPr/>
          </p:nvSpPr>
          <p:spPr>
            <a:xfrm>
              <a:off x="0" y="0"/>
              <a:ext cx="2634615" cy="1394460"/>
            </a:xfrm>
            <a:custGeom>
              <a:avLst/>
              <a:gdLst/>
              <a:ahLst/>
              <a:cxnLst/>
              <a:rect l="l" t="t" r="r" b="b"/>
              <a:pathLst>
                <a:path w="2634615" h="1394460">
                  <a:moveTo>
                    <a:pt x="0" y="0"/>
                  </a:moveTo>
                  <a:lnTo>
                    <a:pt x="2634615" y="0"/>
                  </a:lnTo>
                  <a:lnTo>
                    <a:pt x="2634615" y="1394460"/>
                  </a:lnTo>
                  <a:lnTo>
                    <a:pt x="0" y="1394460"/>
                  </a:lnTo>
                  <a:lnTo>
                    <a:pt x="0" y="0"/>
                  </a:lnTo>
                  <a:close/>
                </a:path>
              </a:pathLst>
            </a:custGeom>
            <a:blipFill>
              <a:blip r:embed="rId3"/>
              <a:stretch>
                <a:fillRect r="-20896"/>
              </a:stretch>
            </a:blipFill>
          </p:spPr>
        </p:sp>
      </p:grpSp>
      <p:grpSp>
        <p:nvGrpSpPr>
          <p:cNvPr id="9" name="Group 9"/>
          <p:cNvGrpSpPr/>
          <p:nvPr/>
        </p:nvGrpSpPr>
        <p:grpSpPr>
          <a:xfrm>
            <a:off x="76" y="0"/>
            <a:ext cx="18288000" cy="9594447"/>
            <a:chOff x="0" y="0"/>
            <a:chExt cx="24384000" cy="12792596"/>
          </a:xfrm>
        </p:grpSpPr>
        <p:sp>
          <p:nvSpPr>
            <p:cNvPr id="10" name="Freeform 10"/>
            <p:cNvSpPr/>
            <p:nvPr/>
          </p:nvSpPr>
          <p:spPr>
            <a:xfrm>
              <a:off x="0" y="0"/>
              <a:ext cx="24384000" cy="12792600"/>
            </a:xfrm>
            <a:custGeom>
              <a:avLst/>
              <a:gdLst/>
              <a:ahLst/>
              <a:cxnLst/>
              <a:rect l="l" t="t" r="r" b="b"/>
              <a:pathLst>
                <a:path w="24384000" h="12792600">
                  <a:moveTo>
                    <a:pt x="0" y="0"/>
                  </a:moveTo>
                  <a:lnTo>
                    <a:pt x="24384000" y="0"/>
                  </a:lnTo>
                  <a:lnTo>
                    <a:pt x="24384000" y="12792600"/>
                  </a:lnTo>
                  <a:lnTo>
                    <a:pt x="0" y="12792600"/>
                  </a:lnTo>
                  <a:close/>
                </a:path>
              </a:pathLst>
            </a:custGeom>
            <a:blipFill>
              <a:blip r:embed="rId4">
                <a:alphaModFix amt="0"/>
              </a:blip>
              <a:stretch>
                <a:fillRect l="-17311" r="-17311"/>
              </a:stretch>
            </a:blipFill>
          </p:spPr>
        </p:sp>
        <p:sp>
          <p:nvSpPr>
            <p:cNvPr id="11" name="TextBox 11"/>
            <p:cNvSpPr txBox="1"/>
            <p:nvPr/>
          </p:nvSpPr>
          <p:spPr>
            <a:xfrm>
              <a:off x="0" y="152400"/>
              <a:ext cx="24384000" cy="12640196"/>
            </a:xfrm>
            <a:prstGeom prst="rect">
              <a:avLst/>
            </a:prstGeom>
          </p:spPr>
          <p:txBody>
            <a:bodyPr lIns="0" tIns="0" rIns="0" bIns="0" rtlCol="0" anchor="ctr"/>
            <a:lstStyle/>
            <a:p>
              <a:pPr algn="ctr">
                <a:lnSpc>
                  <a:spcPts val="24300"/>
                </a:lnSpc>
              </a:pPr>
              <a:r>
                <a:rPr lang="en-US" sz="22500">
                  <a:solidFill>
                    <a:srgbClr val="000000"/>
                  </a:solidFill>
                  <a:latin typeface="Times New Roman"/>
                  <a:ea typeface="Times New Roman"/>
                  <a:cs typeface="Times New Roman"/>
                  <a:sym typeface="Times New Roman"/>
                </a:rPr>
                <a:t>Thank You!</a:t>
              </a:r>
            </a:p>
          </p:txBody>
        </p:sp>
      </p:grpSp>
      <p:sp>
        <p:nvSpPr>
          <p:cNvPr id="13" name="Slide Number Placeholder 12">
            <a:extLst>
              <a:ext uri="{FF2B5EF4-FFF2-40B4-BE49-F238E27FC236}">
                <a16:creationId xmlns:a16="http://schemas.microsoft.com/office/drawing/2014/main" id="{5B2AAA51-215A-062E-1D2F-CDD338771F7F}"/>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Footer Placeholder 12">
            <a:extLst>
              <a:ext uri="{FF2B5EF4-FFF2-40B4-BE49-F238E27FC236}">
                <a16:creationId xmlns:a16="http://schemas.microsoft.com/office/drawing/2014/main" id="{370A91B1-1700-CEFD-C579-F89F77446FB2}"/>
              </a:ext>
            </a:extLst>
          </p:cNvPr>
          <p:cNvSpPr>
            <a:spLocks noGrp="1"/>
          </p:cNvSpPr>
          <p:nvPr>
            <p:ph type="ftr" sz="quarter" idx="11"/>
          </p:nvPr>
        </p:nvSpPr>
        <p:spPr>
          <a:xfrm>
            <a:off x="-104180" y="9373508"/>
            <a:ext cx="7391400" cy="1414234"/>
          </a:xfrm>
        </p:spPr>
        <p:txBody>
          <a:bodyPr/>
          <a:lstStyle/>
          <a:p>
            <a:r>
              <a:rPr lang="en-US" b="1" dirty="0">
                <a:solidFill>
                  <a:schemeClr val="bg1"/>
                </a:solidFill>
                <a:latin typeface="Brygada 1918"/>
                <a:ea typeface="Brygada 1918"/>
                <a:cs typeface="Brygada 1918"/>
                <a:sym typeface="Brygada 1918"/>
              </a:rPr>
              <a:t>Autonomous Upscaling Reinforcement Agents</a:t>
            </a:r>
            <a:endParaRPr lang="en-US" b="1" dirty="0">
              <a:solidFill>
                <a:schemeClr val="bg1"/>
              </a:solidFill>
              <a:latin typeface="Times New Roman Bold"/>
              <a:ea typeface="Times New Roman Bold"/>
              <a:cs typeface="Times New Roman Bold"/>
              <a:sym typeface="Times New Roman Bold"/>
            </a:endParaRP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TotalTime>
  <Words>3501</Words>
  <Application>Microsoft Office PowerPoint</Application>
  <PresentationFormat>Custom</PresentationFormat>
  <Paragraphs>325</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Times New Roman Bold</vt:lpstr>
      <vt:lpstr>Montserrat</vt:lpstr>
      <vt:lpstr>Brygada 1918</vt:lpstr>
      <vt:lpstr>Consolas</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Final Review.pptx</dc:title>
  <dc:creator>Vaishnav</dc:creator>
  <cp:lastModifiedBy>pranav mallia</cp:lastModifiedBy>
  <cp:revision>15</cp:revision>
  <dcterms:created xsi:type="dcterms:W3CDTF">2006-08-16T00:00:00Z</dcterms:created>
  <dcterms:modified xsi:type="dcterms:W3CDTF">2026-03-30T06:36:06Z</dcterms:modified>
  <dc:identifier>DAHELpbV0mY</dc:identifier>
</cp:coreProperties>
</file>